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2" d="100"/>
          <a:sy n="92" d="100"/>
        </p:scale>
        <p:origin x="307" y="-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8235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8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20" dirty="0">
                <a:solidFill>
                  <a:srgbClr val="75899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ITS UMBRIA · PENETRATION TESTING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58368"/>
            <a:ext cx="3200400" cy="3200400"/>
          </a:xfrm>
          <a:prstGeom prst="ellipse">
            <a:avLst/>
          </a:prstGeom>
          <a:solidFill>
            <a:srgbClr val="19C3B1">
              <a:alpha val="8000"/>
            </a:srgbClr>
          </a:solidFill>
          <a:ln w="12700">
            <a:solidFill>
              <a:srgbClr val="19C3B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35440" y="1691640"/>
            <a:ext cx="2286000" cy="2286000"/>
          </a:xfrm>
          <a:prstGeom prst="ellipse">
            <a:avLst/>
          </a:prstGeom>
          <a:solidFill>
            <a:srgbClr val="FFB454">
              <a:alpha val="6000"/>
            </a:srgbClr>
          </a:solidFill>
          <a:ln w="12700">
            <a:solidFill>
              <a:srgbClr val="FFB45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94360" y="621792"/>
            <a:ext cx="1508760" cy="301752"/>
          </a:xfrm>
          <a:prstGeom prst="roundRect">
            <a:avLst>
              <a:gd name="adj" fmla="val 24242"/>
            </a:avLst>
          </a:prstGeom>
          <a:solidFill>
            <a:srgbClr val="FFB454">
              <a:alpha val="16000"/>
            </a:srgbClr>
          </a:solidFill>
          <a:ln w="12700">
            <a:solidFill>
              <a:srgbClr val="FFB45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04088" y="640080"/>
            <a:ext cx="1289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PRESENTAZIONE 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53312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Penetration Testing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94360" y="202996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mappa completa del corso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2788920"/>
            <a:ext cx="6583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Prima di entrare nei singoli strumenti, costruiamo il contesto: cosa cerchiamo, come ragioniamo e come trasformiamo evidenze tecniche in decisioni.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66760" y="100584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6FB6FF">
              <a:alpha val="16000"/>
            </a:srgbClr>
          </a:solidFill>
          <a:ln w="1524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49640" y="11612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SUPERFICIE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738360" y="1673352"/>
            <a:ext cx="0" cy="22860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366760" y="192024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6000"/>
            </a:srgbClr>
          </a:solidFill>
          <a:ln w="1524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549640" y="20756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EVIDENZE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38360" y="2587752"/>
            <a:ext cx="0" cy="22860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66760" y="283464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FFB454">
              <a:alpha val="16000"/>
            </a:srgbClr>
          </a:solidFill>
          <a:ln w="1524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49640" y="29900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IPOTESI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738360" y="3502152"/>
            <a:ext cx="0" cy="22860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366760" y="374904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FF6B6B">
              <a:alpha val="16000"/>
            </a:srgbClr>
          </a:solidFill>
          <a:ln w="1524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549640" y="39044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IMPATTO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4360" y="524865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30 ore · teoria + ragionamento + laboratori simulati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565099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Obiettivo: imparare a pensare come un penetration tester, non a premere pulsanti.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MAPPA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 assessment è un percorso, non una collezione di tool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Ogni argomento del corso occupa un punto preciso in questa catena.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2039112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6FB6FF">
              <a:alpha val="18000"/>
            </a:srgbClr>
          </a:solidFill>
          <a:ln w="1651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2194560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SCOPRIRE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4780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asset e superficie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929384" y="2414016"/>
            <a:ext cx="53949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542032" y="2039112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19C3B1">
              <a:alpha val="18000"/>
            </a:srgbClr>
          </a:solidFill>
          <a:ln w="1651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51760" y="2194560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CAPIRE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33472" y="24780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servizi e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77056" y="2414016"/>
            <a:ext cx="53949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89704" y="2039112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FFB454">
              <a:alpha val="18000"/>
            </a:srgbClr>
          </a:solidFill>
          <a:ln w="1651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99432" y="2194560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IPOTIZZARE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81144" y="24780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debolezze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824728" y="2414016"/>
            <a:ext cx="53949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37376" y="2039112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FFB454">
              <a:alpha val="18000"/>
            </a:srgbClr>
          </a:solidFill>
          <a:ln w="1651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47104" y="2194560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VERIFICARE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28816" y="24780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evidenze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0" y="2414016"/>
            <a:ext cx="53949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85048" y="2039112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FF6B6B">
              <a:alpha val="18000"/>
            </a:srgbClr>
          </a:solidFill>
          <a:ln w="1651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494776" y="2194560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MISURARE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76488" y="24780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impatto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720072" y="2414016"/>
            <a:ext cx="53949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332720" y="2039112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78D39A">
              <a:alpha val="18000"/>
            </a:srgbClr>
          </a:solidFill>
          <a:ln w="1651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442448" y="2194560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8D39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CORREGGERE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424160" y="24780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remediation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58952" y="32004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Durante il corso torneremo sempre indietro nella catena: una nuova evidenza può cambiare ciò che pensavamo di sapere.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77240" y="402336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77240" y="4023360"/>
            <a:ext cx="45720" cy="132588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60120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30 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0120" y="4572000"/>
            <a:ext cx="30175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Circa 8 incontri, con blocchi brevi di teoria e molta interpretazione di scenari.</a:t>
            </a:r>
            <a:endParaRPr lang="en-US" sz="1070" dirty="0"/>
          </a:p>
        </p:txBody>
      </p:sp>
      <p:sp>
        <p:nvSpPr>
          <p:cNvPr id="33" name="Shape 31"/>
          <p:cNvSpPr/>
          <p:nvPr/>
        </p:nvSpPr>
        <p:spPr>
          <a:xfrm>
            <a:off x="4425696" y="402336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425696" y="4023360"/>
            <a:ext cx="45720" cy="132588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08576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Laboratori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608576" y="4572000"/>
            <a:ext cx="30175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Output, log, request, screenshot e finding fittizi da leggere come indizi.</a:t>
            </a:r>
            <a:endParaRPr lang="en-US" sz="1070" dirty="0"/>
          </a:p>
        </p:txBody>
      </p:sp>
      <p:sp>
        <p:nvSpPr>
          <p:cNvPr id="37" name="Shape 35"/>
          <p:cNvSpPr/>
          <p:nvPr/>
        </p:nvSpPr>
        <p:spPr>
          <a:xfrm>
            <a:off x="8074152" y="402336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074152" y="4023360"/>
            <a:ext cx="45720" cy="132588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2570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Risultato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57032" y="4572000"/>
            <a:ext cx="30175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Arrivare a costruire e raccontare un assessment completo, fino al report.</a:t>
            </a:r>
            <a:endParaRPr lang="en-US" sz="107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FONDAMENTA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 cos’è davvero un penetration test?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Un’attività tecnica autorizzata, con obiettivi, confini e prove verificabili.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8952" y="1993392"/>
            <a:ext cx="329184" cy="329184"/>
          </a:xfrm>
          <a:prstGeom prst="ellipse">
            <a:avLst/>
          </a:prstGeom>
          <a:solidFill>
            <a:srgbClr val="6FB6FF">
              <a:alpha val="20000"/>
            </a:srgbClr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58952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97864" y="196596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Scope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5528" y="2450592"/>
            <a:ext cx="307238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è dentro? Cosa è fuori? Quali sistemi, reti, applicazioni e identità possono essere analizzati?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4361688" y="182880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26280" y="1993392"/>
            <a:ext cx="329184" cy="329184"/>
          </a:xfrm>
          <a:prstGeom prst="ellipse">
            <a:avLst/>
          </a:prstGeom>
          <a:solidFill>
            <a:srgbClr val="19C3B1">
              <a:alpha val="20000"/>
            </a:srgbClr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2628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65192" y="196596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Rules of Engagement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62856" y="2450592"/>
            <a:ext cx="307238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Quando si lavora, quali tecniche sono ammesse, quali limiti non si devono superare e chi contattare.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129016" y="182880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93608" y="1993392"/>
            <a:ext cx="329184" cy="329184"/>
          </a:xfrm>
          <a:prstGeom prst="ellipse">
            <a:avLst/>
          </a:prstGeom>
          <a:solidFill>
            <a:srgbClr val="FFB454">
              <a:alpha val="20000"/>
            </a:srgbClr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9360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196596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Evidenze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30184" y="2450592"/>
            <a:ext cx="307238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 pentest non vive di intuizioni: ogni conclusione deve essere sostenuta da osservazioni ripetibili.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804672" y="4882896"/>
            <a:ext cx="3246120" cy="301752"/>
          </a:xfrm>
          <a:prstGeom prst="roundRect">
            <a:avLst>
              <a:gd name="adj" fmla="val 24242"/>
            </a:avLst>
          </a:prstGeom>
          <a:solidFill>
            <a:srgbClr val="FF6B6B">
              <a:alpha val="16000"/>
            </a:srgbClr>
          </a:solidFill>
          <a:ln w="12700">
            <a:solidFill>
              <a:srgbClr val="FF6B6B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4901184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Vulnerability assessment ≠ penetration test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80560" y="4882896"/>
            <a:ext cx="2423160" cy="301752"/>
          </a:xfrm>
          <a:prstGeom prst="roundRect">
            <a:avLst>
              <a:gd name="adj" fmla="val 24242"/>
            </a:avLst>
          </a:prstGeom>
          <a:solidFill>
            <a:srgbClr val="6FB6FF">
              <a:alpha val="16000"/>
            </a:srgbClr>
          </a:solidFill>
          <a:ln w="12700">
            <a:solidFill>
              <a:srgbClr val="6FB6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90288" y="4901184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Red / Blue / Purple Team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52944" y="4882896"/>
            <a:ext cx="2514600" cy="301752"/>
          </a:xfrm>
          <a:prstGeom prst="roundRect">
            <a:avLst>
              <a:gd name="adj" fmla="val 24242"/>
            </a:avLst>
          </a:prstGeom>
          <a:solidFill>
            <a:srgbClr val="78D39A">
              <a:alpha val="16000"/>
            </a:srgbClr>
          </a:solidFill>
          <a:ln w="12700">
            <a:solidFill>
              <a:srgbClr val="78D39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662672" y="4901184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8D39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Etica + autorizzazione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“Cosa posso dimostrare davvero?”</a:t>
            </a:r>
            <a:endParaRPr lang="en-US" sz="10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RECONNAISSANCE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Prima di testare, dobbiamo capire cosa esiste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superficie di attacco è l’insieme di ciò che un’organizzazione rende osservabile o raggiungibile.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45720" cy="141732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Passive reconnaissance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30632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Informazioni disponibili senza interagire direttamente con il target: domini, metadati, documentazione pubblica, esposizioni note.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594360" y="3493008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94360" y="3493008"/>
            <a:ext cx="45720" cy="141732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3931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Active reconnaissance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041648"/>
            <a:ext cx="30632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Interazioni controllate per capire cosa risponde e come: host, porte, servizi, applicazioni.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5074920" y="2423160"/>
            <a:ext cx="2011680" cy="2011680"/>
          </a:xfrm>
          <a:prstGeom prst="ellipse">
            <a:avLst/>
          </a:prstGeom>
          <a:solidFill>
            <a:srgbClr val="19C3B1">
              <a:alpha val="14000"/>
            </a:srgbClr>
          </a:solidFill>
          <a:ln w="1905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94960" y="31363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TARGET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6FB6FF">
              <a:alpha val="16000"/>
            </a:srgbClr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81728" y="17739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3401568"/>
            <a:ext cx="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06640" y="182880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FFB454">
              <a:alpha val="16000"/>
            </a:srgbClr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516368" y="1956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3401568"/>
            <a:ext cx="1947672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726680" y="388620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FF6B6B">
              <a:alpha val="16000"/>
            </a:srgbClr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836408" y="40142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80760" y="3401568"/>
            <a:ext cx="2267712" cy="768096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57200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78D39A">
              <a:alpha val="16000"/>
            </a:srgbClr>
          </a:solidFill>
          <a:ln w="1270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81728" y="47000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8D39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MAIL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80760" y="3401568"/>
            <a:ext cx="0" cy="1453896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189720" y="1874520"/>
            <a:ext cx="2377440" cy="2651760"/>
          </a:xfrm>
          <a:prstGeom prst="roundRect">
            <a:avLst>
              <a:gd name="adj" fmla="val 2308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189720" y="1874520"/>
            <a:ext cx="45720" cy="265176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37260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Obiettivo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72600" y="2423160"/>
            <a:ext cx="205740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Non “trovare vulnerabilità” subito. Prima costruire una mappa affidabile degli asset e delle tecnologie osservate.</a:t>
            </a:r>
            <a:endParaRPr lang="en-US" sz="1070" dirty="0"/>
          </a:p>
        </p:txBody>
      </p:sp>
      <p:sp>
        <p:nvSpPr>
          <p:cNvPr id="31" name="Shape 29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“Qual è il prossimo indizio utile?”</a:t>
            </a:r>
            <a:endParaRPr lang="en-US" sz="105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NETWORK ENUMERATION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Una porta aperta è una domanda, non una vulnerabilità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Rete e protocolli servono a capire quali porte di ingresso esistono e cosa c’è dietro.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577840" cy="3337560"/>
          </a:xfrm>
          <a:prstGeom prst="roundRect">
            <a:avLst>
              <a:gd name="adj" fmla="val 1370"/>
            </a:avLst>
          </a:prstGeom>
          <a:solidFill>
            <a:srgbClr val="06101A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2011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1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SIMULAZIONE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96112" y="2514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22/tcp   open   ssh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0449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80/tcp   open   http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5753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443/tcp  open   https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41056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445/tcp  filtered smb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46177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 cosa sappiamo? cosa manca?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37960" y="1828800"/>
            <a:ext cx="2331720" cy="1298448"/>
          </a:xfrm>
          <a:prstGeom prst="roundRect">
            <a:avLst>
              <a:gd name="adj" fmla="val 4225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45720" cy="1298448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20840" y="19751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IP e subnet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20840" y="2377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Dove siamo nella rete e quali host appartengono allo stesso contesto.</a:t>
            </a:r>
            <a:endParaRPr lang="en-US" sz="1070" dirty="0"/>
          </a:p>
        </p:txBody>
      </p:sp>
      <p:sp>
        <p:nvSpPr>
          <p:cNvPr id="16" name="Shape 14"/>
          <p:cNvSpPr/>
          <p:nvPr/>
        </p:nvSpPr>
        <p:spPr>
          <a:xfrm>
            <a:off x="9125712" y="1828800"/>
            <a:ext cx="2331720" cy="1298448"/>
          </a:xfrm>
          <a:prstGeom prst="roundRect">
            <a:avLst>
              <a:gd name="adj" fmla="val 4225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25712" y="1828800"/>
            <a:ext cx="45720" cy="1298448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08592" y="19751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TCP / UDP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08592" y="2377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Come comunicano i servizi e perché lo stato di una porta è solo un segnale.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6537960" y="3410712"/>
            <a:ext cx="2331720" cy="1298448"/>
          </a:xfrm>
          <a:prstGeom prst="roundRect">
            <a:avLst>
              <a:gd name="adj" fmla="val 4225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37960" y="3410712"/>
            <a:ext cx="45720" cy="1298448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720840" y="35570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Porte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20840" y="39593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Open, closed, filtered: tre risposte con significati diversi.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25712" y="3410712"/>
            <a:ext cx="2331720" cy="1298448"/>
          </a:xfrm>
          <a:prstGeom prst="roundRect">
            <a:avLst>
              <a:gd name="adj" fmla="val 4225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25712" y="3410712"/>
            <a:ext cx="45720" cy="1298448"/>
          </a:xfrm>
          <a:prstGeom prst="rect">
            <a:avLst/>
          </a:prstGeom>
          <a:solidFill>
            <a:srgbClr val="78D39A"/>
          </a:solidFill>
          <a:ln w="1270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308592" y="35570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Servizi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08592" y="39593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porta suggerisce; banner e comportamento aiutano a identificare.</a:t>
            </a:r>
            <a:endParaRPr lang="en-US" sz="1070" dirty="0"/>
          </a:p>
        </p:txBody>
      </p:sp>
      <p:sp>
        <p:nvSpPr>
          <p:cNvPr id="28" name="Shape 26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“Cosa c’è davvero dietro quella porta?”</a:t>
            </a:r>
            <a:endParaRPr lang="en-US" sz="105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SERVICE ENUMERATION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Trovato un servizio: adesso bisogna capirlo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L’enumerazione trasforma una lista di porte in una lista di funzionalità, versioni, identità e configurazioni.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2514600" cy="1965960"/>
          </a:xfrm>
          <a:prstGeom prst="roundRect">
            <a:avLst>
              <a:gd name="adj" fmla="val 3721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22219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OSSERVA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30723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banner, protocollo, comportamento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72968" y="3026664"/>
            <a:ext cx="237744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74720" y="2057400"/>
            <a:ext cx="2514600" cy="1965960"/>
          </a:xfrm>
          <a:prstGeom prst="roundRect">
            <a:avLst>
              <a:gd name="adj" fmla="val 3721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39312" y="22219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39312" y="263347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IDENTIFICA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39312" y="30723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software, versione, funzione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07608" y="3026664"/>
            <a:ext cx="237744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309360" y="2057400"/>
            <a:ext cx="2514600" cy="1965960"/>
          </a:xfrm>
          <a:prstGeom prst="roundRect">
            <a:avLst>
              <a:gd name="adj" fmla="val 3721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73952" y="22219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73952" y="263347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CONTESTUALIZZA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73952" y="30723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esposto a chi? con quali permessi?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842248" y="3026664"/>
            <a:ext cx="237744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44000" y="2057400"/>
            <a:ext cx="2514600" cy="1965960"/>
          </a:xfrm>
          <a:prstGeom prst="roundRect">
            <a:avLst>
              <a:gd name="adj" fmla="val 3721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308592" y="22219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08592" y="263347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PRIORITIZZA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08592" y="30723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vale la pena approfondire?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3232" y="4572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Esempi di domande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" y="4937760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SSH: chi può autenticarsi?   ·   HTTP: che applicazione è?   ·   SMB: quali condivisioni esistono?   ·   Database: è esposto?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“Quale funzione mi sta offrendo?”</a:t>
            </a:r>
            <a:endParaRPr lang="en-US" sz="10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WEB APPLICATION SECURITY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Il web è una conversazione tra componenti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Per testare un’applicazione bisogna prima saper leggere request, response, sessioni e confini di autorizzazione.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6FB6FF">
              <a:alpha val="18000"/>
            </a:srgbClr>
          </a:solidFill>
          <a:ln w="1651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41248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CLIENT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browser / mobile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657600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19C3B1">
              <a:alpha val="18000"/>
            </a:srgbClr>
          </a:solidFill>
          <a:ln w="1651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67328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API /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749040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HTTP / HTTPS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0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B454">
              <a:alpha val="18000"/>
            </a:srgbClr>
          </a:solidFill>
          <a:ln w="1651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93408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LOGICA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business rules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509760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6B6B">
              <a:alpha val="18000"/>
            </a:srgbClr>
          </a:solidFill>
          <a:ln w="1651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19488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DATI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DB / storage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78608" y="2615184"/>
            <a:ext cx="100584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504688" y="2615184"/>
            <a:ext cx="100584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30768" y="2615184"/>
            <a:ext cx="100584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2960" y="3749040"/>
            <a:ext cx="1143000" cy="301752"/>
          </a:xfrm>
          <a:prstGeom prst="roundRect">
            <a:avLst>
              <a:gd name="adj" fmla="val 24242"/>
            </a:avLst>
          </a:prstGeom>
          <a:solidFill>
            <a:srgbClr val="6FB6FF">
              <a:alpha val="16000"/>
            </a:srgbClr>
          </a:solidFill>
          <a:ln w="12700">
            <a:solidFill>
              <a:srgbClr val="6FB6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32688" y="3767328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176272" y="3749040"/>
            <a:ext cx="1143000" cy="301752"/>
          </a:xfrm>
          <a:prstGeom prst="roundRect">
            <a:avLst>
              <a:gd name="adj" fmla="val 24242"/>
            </a:avLst>
          </a:prstGeom>
          <a:solidFill>
            <a:srgbClr val="6FB6FF">
              <a:alpha val="16000"/>
            </a:srgbClr>
          </a:solidFill>
          <a:ln w="12700">
            <a:solidFill>
              <a:srgbClr val="6FB6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286000" y="3767328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header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529584" y="3749040"/>
            <a:ext cx="1143000" cy="301752"/>
          </a:xfrm>
          <a:prstGeom prst="roundRect">
            <a:avLst>
              <a:gd name="adj" fmla="val 24242"/>
            </a:avLst>
          </a:prstGeom>
          <a:solidFill>
            <a:srgbClr val="19C3B1">
              <a:alpha val="16000"/>
            </a:srgbClr>
          </a:solidFill>
          <a:ln w="12700">
            <a:solidFill>
              <a:srgbClr val="19C3B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39312" y="3767328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cookie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82896" y="3749040"/>
            <a:ext cx="1325880" cy="301752"/>
          </a:xfrm>
          <a:prstGeom prst="roundRect">
            <a:avLst>
              <a:gd name="adj" fmla="val 24242"/>
            </a:avLst>
          </a:prstGeom>
          <a:solidFill>
            <a:srgbClr val="19C3B1">
              <a:alpha val="16000"/>
            </a:srgbClr>
          </a:solidFill>
          <a:ln w="12700">
            <a:solidFill>
              <a:srgbClr val="19C3B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92624" y="3767328"/>
            <a:ext cx="1106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sessioni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28232" y="3749040"/>
            <a:ext cx="1417320" cy="301752"/>
          </a:xfrm>
          <a:prstGeom prst="roundRect">
            <a:avLst>
              <a:gd name="adj" fmla="val 24242"/>
            </a:avLst>
          </a:prstGeom>
          <a:solidFill>
            <a:srgbClr val="FFB454">
              <a:alpha val="16000"/>
            </a:srgbClr>
          </a:solidFill>
          <a:ln w="12700">
            <a:solidFill>
              <a:srgbClr val="FFB45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37960" y="3767328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parametri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65008" y="3749040"/>
            <a:ext cx="1143000" cy="301752"/>
          </a:xfrm>
          <a:prstGeom prst="roundRect">
            <a:avLst>
              <a:gd name="adj" fmla="val 24242"/>
            </a:avLst>
          </a:prstGeom>
          <a:solidFill>
            <a:srgbClr val="FFB454">
              <a:alpha val="16000"/>
            </a:srgbClr>
          </a:solidFill>
          <a:ln w="12700">
            <a:solidFill>
              <a:srgbClr val="FFB45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174736" y="3767328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ruoli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418320" y="3749040"/>
            <a:ext cx="1417320" cy="301752"/>
          </a:xfrm>
          <a:prstGeom prst="roundRect">
            <a:avLst>
              <a:gd name="adj" fmla="val 24242"/>
            </a:avLst>
          </a:prstGeom>
          <a:solidFill>
            <a:srgbClr val="FF6B6B">
              <a:alpha val="16000"/>
            </a:srgbClr>
          </a:solidFill>
          <a:ln w="12700">
            <a:solidFill>
              <a:srgbClr val="FF6B6B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528048" y="3767328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endpoint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14400" y="46634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domanda più importante non è “quale payload uso?”, ma “quale regola dovrebbe impedire questa azione?”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“Chi può fare cosa, su quale dato?”</a:t>
            </a:r>
            <a:endParaRPr lang="en-US" sz="10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 · VULNERABILITÀ WEB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 vulnerabilità sono rotture di assunzioni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Useremo OWASP come mappa, ma ragioneremo sempre su causa, evidenza, impatto e correzione.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493008" cy="1344168"/>
          </a:xfrm>
          <a:prstGeom prst="roundRect">
            <a:avLst>
              <a:gd name="adj" fmla="val 4082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45720" cy="134416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Access control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 utente raggiunge dati o azioni che non dovrebbe.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493008" cy="1344168"/>
          </a:xfrm>
          <a:prstGeom prst="roundRect">
            <a:avLst>
              <a:gd name="adj" fmla="val 4082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16552" y="1828800"/>
            <a:ext cx="45720" cy="1344168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99432" y="197510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2377440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L’identità può essere aggirata, indebolita o riutilizzata.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238744" y="1828800"/>
            <a:ext cx="3493008" cy="1344168"/>
          </a:xfrm>
          <a:prstGeom prst="roundRect">
            <a:avLst>
              <a:gd name="adj" fmla="val 4082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38744" y="1828800"/>
            <a:ext cx="45720" cy="1344168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421624" y="197510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Injection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21624" y="2377440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Input non fidato modifica il significato di un comando o una query.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594360" y="3429000"/>
            <a:ext cx="3493008" cy="1344168"/>
          </a:xfrm>
          <a:prstGeom prst="roundRect">
            <a:avLst>
              <a:gd name="adj" fmla="val 4082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4360" y="3429000"/>
            <a:ext cx="45720" cy="1344168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357530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Misconfiguration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configurazione espone più informazioni o funzioni del necessario.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4416552" y="3429000"/>
            <a:ext cx="3493008" cy="1344168"/>
          </a:xfrm>
          <a:prstGeom prst="roundRect">
            <a:avLst>
              <a:gd name="adj" fmla="val 4082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16552" y="3429000"/>
            <a:ext cx="45720" cy="1344168"/>
          </a:xfrm>
          <a:prstGeom prst="rect">
            <a:avLst/>
          </a:prstGeom>
          <a:solidFill>
            <a:srgbClr val="78D39A"/>
          </a:solidFill>
          <a:ln w="1270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99432" y="357530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Input / file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3977640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Path, upload, parsing e contenuti possono attraversare confini inattesi.</a:t>
            </a:r>
            <a:endParaRPr lang="en-US" sz="1070" dirty="0"/>
          </a:p>
        </p:txBody>
      </p:sp>
      <p:sp>
        <p:nvSpPr>
          <p:cNvPr id="25" name="Shape 23"/>
          <p:cNvSpPr/>
          <p:nvPr/>
        </p:nvSpPr>
        <p:spPr>
          <a:xfrm>
            <a:off x="8238744" y="3429000"/>
            <a:ext cx="3493008" cy="1344168"/>
          </a:xfrm>
          <a:prstGeom prst="roundRect">
            <a:avLst>
              <a:gd name="adj" fmla="val 4082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238744" y="3429000"/>
            <a:ext cx="45720" cy="1344168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421624" y="357530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Disclosure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21624" y="3977640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Messaggi, errori e metadati rivelano dettagli utili per altre ipotesi.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749808" y="525780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XSS · SQLi · SSRF · Path Traversal · File Upload → esempi di famiglie, non “mosse da imparare a memoria”.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“Quale assunzione è stata violata?”</a:t>
            </a:r>
            <a:endParaRPr lang="en-US" sz="10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 · ANALISI DELLE VULNERABILITÀ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 alert non è ancora una finding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Scanner, CVE e CVSS aiutano a orientarsi; il lavoro umano serve a verificare contesto e impatto.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45720" cy="137160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Scanner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Produce segnali e ipotesi. Può sbagliare in entrambe le direzioni.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594360" y="347472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94360" y="3474720"/>
            <a:ext cx="45720" cy="137160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2102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CVE / CWE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02336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Danno un linguaggio comune per vulnerabilità e classi di debolezza.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594360" y="512064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4360" y="5120640"/>
            <a:ext cx="45720" cy="77724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5266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CVSS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5669280"/>
            <a:ext cx="3063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Descrive severità tecnica; non sostituisce il contesto aziendale.</a:t>
            </a:r>
            <a:endParaRPr lang="en-US" sz="1070" dirty="0"/>
          </a:p>
        </p:txBody>
      </p:sp>
      <p:sp>
        <p:nvSpPr>
          <p:cNvPr id="17" name="Text 15"/>
          <p:cNvSpPr/>
          <p:nvPr/>
        </p:nvSpPr>
        <p:spPr>
          <a:xfrm>
            <a:off x="4572000" y="20299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VERSIONE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64808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95160" y="202996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CONDIZIONI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070848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601200" y="20299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CONTESTO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44968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5715000" y="3310128"/>
            <a:ext cx="4663440" cy="1051560"/>
          </a:xfrm>
          <a:prstGeom prst="roundRect">
            <a:avLst>
              <a:gd name="adj" fmla="val 6087"/>
            </a:avLst>
          </a:prstGeom>
          <a:solidFill>
            <a:srgbClr val="FF6B6B">
              <a:alpha val="13000"/>
            </a:srgbClr>
          </a:solidFill>
          <a:ln w="1524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0" y="354787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FINDING VERIFICATA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572000" y="47091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Versione vulnerabile ≠ vulnerabilità automaticamente sfruttabile.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“Qual è la prova che vale qui?”</a:t>
            </a:r>
            <a:endParaRPr lang="en-US" sz="10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 · EXPLOITATION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Verificare significa dimostrare una capacità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L’exploitation, in ambiente controllato, serve a provare che una debolezza produce un effetto reale e misurabile.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2523744" cy="1481328"/>
          </a:xfrm>
          <a:prstGeom prst="roundRect">
            <a:avLst>
              <a:gd name="adj" fmla="val 370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965960"/>
            <a:ext cx="45720" cy="1481328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41248" y="2112264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Precondizione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51460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deve essere vero prima?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200400" y="2706624"/>
            <a:ext cx="21945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11296" y="1965960"/>
            <a:ext cx="2523744" cy="1481328"/>
          </a:xfrm>
          <a:prstGeom prst="roundRect">
            <a:avLst>
              <a:gd name="adj" fmla="val 370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11296" y="1965960"/>
            <a:ext cx="45720" cy="1481328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94176" y="2112264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Azione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94176" y="251460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Quale comportamento stiamo verificando?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6053328" y="2706624"/>
            <a:ext cx="21945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364224" y="1965960"/>
            <a:ext cx="2523744" cy="1481328"/>
          </a:xfrm>
          <a:prstGeom prst="roundRect">
            <a:avLst>
              <a:gd name="adj" fmla="val 370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64224" y="1965960"/>
            <a:ext cx="45720" cy="1481328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47104" y="2112264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Primitiva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47104" y="251460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otteniamo realmente?</a:t>
            </a:r>
            <a:endParaRPr lang="en-US" sz="1070" dirty="0"/>
          </a:p>
        </p:txBody>
      </p:sp>
      <p:sp>
        <p:nvSpPr>
          <p:cNvPr id="19" name="Shape 17"/>
          <p:cNvSpPr/>
          <p:nvPr/>
        </p:nvSpPr>
        <p:spPr>
          <a:xfrm>
            <a:off x="8906256" y="2706624"/>
            <a:ext cx="219456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17152" y="1965960"/>
            <a:ext cx="2523744" cy="1481328"/>
          </a:xfrm>
          <a:prstGeom prst="roundRect">
            <a:avLst>
              <a:gd name="adj" fmla="val 370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217152" y="1965960"/>
            <a:ext cx="45720" cy="148132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400032" y="2112264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Impatto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400032" y="251460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 cosa diventa possibile?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1005840" y="4069080"/>
            <a:ext cx="10149840" cy="1051560"/>
          </a:xfrm>
          <a:prstGeom prst="roundRect">
            <a:avLst>
              <a:gd name="adj" fmla="val 6957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80160" y="427939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Exploit pubblico ≠ “premi play”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297680" y="4224528"/>
            <a:ext cx="6492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Prima si comprendono versione, condizioni, effetti attesi e rischi. Poi si decide se e come verificare.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“Che capacità ho dimostrato?”</a:t>
            </a:r>
            <a:endParaRPr lang="en-US" sz="105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 · POST-EXPLOITATION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Il primo accesso raramente è la fine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Dopo un accesso iniziale si misura il “raggio d’azione”: privilegi, segreti, configurazioni e relazioni con altri sistemi.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93792" y="2276856"/>
            <a:ext cx="1810512" cy="1810512"/>
          </a:xfrm>
          <a:prstGeom prst="ellipse">
            <a:avLst/>
          </a:prstGeom>
          <a:solidFill>
            <a:srgbClr val="FF6B6B">
              <a:alpha val="16000"/>
            </a:srgbClr>
          </a:solidFill>
          <a:ln w="1651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94960" y="274320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ACCESSO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INIZIALE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0120" y="1874520"/>
            <a:ext cx="2331720" cy="1143000"/>
          </a:xfrm>
          <a:prstGeom prst="roundRect">
            <a:avLst>
              <a:gd name="adj" fmla="val 48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1874520"/>
            <a:ext cx="45720" cy="114300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20208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IDENTITÀ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2423160"/>
            <a:ext cx="2011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chi sono?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3310128" y="2450592"/>
            <a:ext cx="1764792" cy="73152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60120" y="4069080"/>
            <a:ext cx="2331720" cy="1143000"/>
          </a:xfrm>
          <a:prstGeom prst="roundRect">
            <a:avLst>
              <a:gd name="adj" fmla="val 48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60120" y="4069080"/>
            <a:ext cx="45720" cy="114300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43000" y="421538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PRIVILEGI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617720"/>
            <a:ext cx="2011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posso fare?</a:t>
            </a:r>
            <a:endParaRPr lang="en-US" sz="1070" dirty="0"/>
          </a:p>
        </p:txBody>
      </p:sp>
      <p:sp>
        <p:nvSpPr>
          <p:cNvPr id="16" name="Shape 14"/>
          <p:cNvSpPr/>
          <p:nvPr/>
        </p:nvSpPr>
        <p:spPr>
          <a:xfrm>
            <a:off x="3310128" y="4645152"/>
            <a:ext cx="1764792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869680" y="1874520"/>
            <a:ext cx="2331720" cy="1143000"/>
          </a:xfrm>
          <a:prstGeom prst="roundRect">
            <a:avLst>
              <a:gd name="adj" fmla="val 48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869680" y="1874520"/>
            <a:ext cx="45720" cy="114300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052560" y="20208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SEGRETI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52560" y="2423160"/>
            <a:ext cx="2011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trovo?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8796528" y="2450592"/>
            <a:ext cx="0" cy="73152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869680" y="4069080"/>
            <a:ext cx="2331720" cy="1143000"/>
          </a:xfrm>
          <a:prstGeom prst="roundRect">
            <a:avLst>
              <a:gd name="adj" fmla="val 48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869680" y="4069080"/>
            <a:ext cx="45720" cy="1143000"/>
          </a:xfrm>
          <a:prstGeom prst="rect">
            <a:avLst/>
          </a:prstGeom>
          <a:solidFill>
            <a:srgbClr val="78D39A"/>
          </a:solidFill>
          <a:ln w="1270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052560" y="421538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RELAZIONI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52560" y="4617720"/>
            <a:ext cx="2011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dove posso arrivare?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8796528" y="4645152"/>
            <a:ext cx="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926080" y="521208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Privilege escalation · secret exposure · misconfiguration · lateral movement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“Quanto lontano porta questo accesso?”</a:t>
            </a:r>
            <a:endParaRPr lang="en-US" sz="105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· ACTIVE DIRECTORY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Negli ambienti enterprise contano le relazioni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Utenti, gruppi, macchine, servizi e trust formano una rete di autorizzazioni che va letta come un grafo.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08760" y="3035808"/>
            <a:ext cx="219456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08760" y="3035808"/>
            <a:ext cx="2286000" cy="109728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703320" y="2029968"/>
            <a:ext cx="2560320" cy="91440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794760" y="4133088"/>
            <a:ext cx="246888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2944368"/>
            <a:ext cx="246888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63640" y="2944368"/>
            <a:ext cx="3840480" cy="105156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732520" y="2029968"/>
            <a:ext cx="1371600" cy="196596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4400" y="2743200"/>
            <a:ext cx="1188720" cy="585216"/>
          </a:xfrm>
          <a:prstGeom prst="roundRect">
            <a:avLst>
              <a:gd name="adj" fmla="val 9375"/>
            </a:avLst>
          </a:prstGeom>
          <a:solidFill>
            <a:srgbClr val="6FB6FF">
              <a:alpha val="16000"/>
            </a:srgbClr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28895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08960" y="1737360"/>
            <a:ext cx="1188720" cy="585216"/>
          </a:xfrm>
          <a:prstGeom prst="roundRect">
            <a:avLst>
              <a:gd name="adj" fmla="val 9375"/>
            </a:avLst>
          </a:prstGeom>
          <a:solidFill>
            <a:srgbClr val="19C3B1">
              <a:alpha val="16000"/>
            </a:srgbClr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0" y="18836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GROUP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3840480"/>
            <a:ext cx="1188720" cy="585216"/>
          </a:xfrm>
          <a:prstGeom prst="roundRect">
            <a:avLst>
              <a:gd name="adj" fmla="val 9375"/>
            </a:avLst>
          </a:prstGeom>
          <a:solidFill>
            <a:srgbClr val="FFB454">
              <a:alpha val="16000"/>
            </a:srgbClr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39867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2651760"/>
            <a:ext cx="1188720" cy="585216"/>
          </a:xfrm>
          <a:prstGeom prst="roundRect">
            <a:avLst>
              <a:gd name="adj" fmla="val 9375"/>
            </a:avLst>
          </a:prstGeom>
          <a:solidFill>
            <a:srgbClr val="FF6B6B">
              <a:alpha val="16000"/>
            </a:srgbClr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60720" y="27980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38160" y="1737360"/>
            <a:ext cx="1188720" cy="585216"/>
          </a:xfrm>
          <a:prstGeom prst="roundRect">
            <a:avLst>
              <a:gd name="adj" fmla="val 9375"/>
            </a:avLst>
          </a:prstGeom>
          <a:solidFill>
            <a:srgbClr val="19C3B1">
              <a:alpha val="16000"/>
            </a:srgbClr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0" y="18836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509760" y="3703320"/>
            <a:ext cx="1188720" cy="585216"/>
          </a:xfrm>
          <a:prstGeom prst="roundRect">
            <a:avLst>
              <a:gd name="adj" fmla="val 9375"/>
            </a:avLst>
          </a:prstGeom>
          <a:solidFill>
            <a:srgbClr val="FF6B6B">
              <a:alpha val="16000"/>
            </a:srgbClr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01200" y="38496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5074920"/>
            <a:ext cx="1691640" cy="301752"/>
          </a:xfrm>
          <a:prstGeom prst="roundRect">
            <a:avLst>
              <a:gd name="adj" fmla="val 24242"/>
            </a:avLst>
          </a:prstGeom>
          <a:solidFill>
            <a:srgbClr val="FF6B6B">
              <a:alpha val="16000"/>
            </a:srgbClr>
          </a:solidFill>
          <a:ln w="12700">
            <a:solidFill>
              <a:srgbClr val="FF6B6B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41248" y="5093208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Domain Controller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0" y="5074920"/>
            <a:ext cx="1691640" cy="301752"/>
          </a:xfrm>
          <a:prstGeom prst="roundRect">
            <a:avLst>
              <a:gd name="adj" fmla="val 24242"/>
            </a:avLst>
          </a:prstGeom>
          <a:solidFill>
            <a:srgbClr val="FFB454">
              <a:alpha val="16000"/>
            </a:srgbClr>
          </a:solidFill>
          <a:ln w="12700">
            <a:solidFill>
              <a:srgbClr val="FFB45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852928" y="5093208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Kerberos / NTLM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5074920"/>
            <a:ext cx="1691640" cy="301752"/>
          </a:xfrm>
          <a:prstGeom prst="roundRect">
            <a:avLst>
              <a:gd name="adj" fmla="val 24242"/>
            </a:avLst>
          </a:prstGeom>
          <a:solidFill>
            <a:srgbClr val="6FB6FF">
              <a:alpha val="16000"/>
            </a:srgbClr>
          </a:solidFill>
          <a:ln w="12700">
            <a:solidFill>
              <a:srgbClr val="6FB6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64608" y="5093208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Utenti e gruppi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766560" y="5074920"/>
            <a:ext cx="1554480" cy="301752"/>
          </a:xfrm>
          <a:prstGeom prst="roundRect">
            <a:avLst>
              <a:gd name="adj" fmla="val 24242"/>
            </a:avLst>
          </a:prstGeom>
          <a:solidFill>
            <a:srgbClr val="19C3B1">
              <a:alpha val="16000"/>
            </a:srgbClr>
          </a:solidFill>
          <a:ln w="12700">
            <a:solidFill>
              <a:srgbClr val="19C3B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876288" y="5093208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Condivisioni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641080" y="5074920"/>
            <a:ext cx="1051560" cy="301752"/>
          </a:xfrm>
          <a:prstGeom prst="roundRect">
            <a:avLst>
              <a:gd name="adj" fmla="val 24242"/>
            </a:avLst>
          </a:prstGeom>
          <a:solidFill>
            <a:srgbClr val="78D39A">
              <a:alpha val="16000"/>
            </a:srgbClr>
          </a:solidFill>
          <a:ln w="12700">
            <a:solidFill>
              <a:srgbClr val="78D39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750808" y="5093208"/>
            <a:ext cx="832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8D39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Trust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“Quale relazione crea un percorso?”</a:t>
            </a:r>
            <a:endParaRPr lang="en-US" sz="10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· CREDENZIALI E AUTENTICAZIONE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 identità collegano quasi tutti i livelli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Password, token, chiavi e secret spesso diventano il filo conduttore tra web, host, cloud e ambienti enterprise.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8952" y="1993392"/>
            <a:ext cx="329184" cy="329184"/>
          </a:xfrm>
          <a:prstGeom prst="ellipse">
            <a:avLst/>
          </a:prstGeom>
          <a:solidFill>
            <a:srgbClr val="6FB6FF">
              <a:alpha val="20000"/>
            </a:srgbClr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58952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97864" y="196596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Password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5528" y="2450592"/>
            <a:ext cx="307238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Hash, salt, policy, riuso e fattori di autenticazione: capire come viene protetto il segreto.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4361688" y="182880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26280" y="1993392"/>
            <a:ext cx="329184" cy="329184"/>
          </a:xfrm>
          <a:prstGeom prst="ellipse">
            <a:avLst/>
          </a:prstGeom>
          <a:solidFill>
            <a:srgbClr val="19C3B1">
              <a:alpha val="20000"/>
            </a:srgbClr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2628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65192" y="196596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 &amp; sessioni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62856" y="2450592"/>
            <a:ext cx="307238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Il sistema può sapere chi sei anche senza chiederti una password a ogni richiesta.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129016" y="182880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93608" y="1993392"/>
            <a:ext cx="329184" cy="329184"/>
          </a:xfrm>
          <a:prstGeom prst="ellipse">
            <a:avLst/>
          </a:prstGeom>
          <a:solidFill>
            <a:srgbClr val="FFB454">
              <a:alpha val="20000"/>
            </a:srgbClr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9360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196596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Secret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30184" y="2450592"/>
            <a:ext cx="307238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API key, credenziali applicative e configurazioni possono diventare ponti verso altri servizi.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914400" y="4892040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MFA riduce molti rischi, ma non corregge automaticamente autorizzazioni errate o secret esposti.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“Quale identità sto usando adesso?”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· CLOUD, CONTAINER E CI/CD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superficie moderna non finisce sul server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Identità, pipeline, immagini, storage e configurazioni sono parte dell’attack surface tanto quanto porte e applicazioni.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828800"/>
            <a:ext cx="45720" cy="137160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41248" y="197510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chi può fare cosa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80560" y="1828800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80560" y="1828800"/>
            <a:ext cx="45720" cy="137160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197510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STORAGE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237744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dati e permessi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302752" y="1828800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302752" y="1828800"/>
            <a:ext cx="45720" cy="137160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485632" y="197510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CONTAINER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85632" y="237744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immagini e runtime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58368" y="3474720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58368" y="3474720"/>
            <a:ext cx="45720" cy="13716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" y="362102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K8s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" y="402336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orchestrazione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4480560" y="3474720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80560" y="3474720"/>
            <a:ext cx="45720" cy="1371600"/>
          </a:xfrm>
          <a:prstGeom prst="rect">
            <a:avLst/>
          </a:prstGeom>
          <a:solidFill>
            <a:srgbClr val="78D39A"/>
          </a:solidFill>
          <a:ln w="1270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362102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CI/CD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402336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e secret</a:t>
            </a:r>
            <a:endParaRPr lang="en-US" sz="1070" dirty="0"/>
          </a:p>
        </p:txBody>
      </p:sp>
      <p:sp>
        <p:nvSpPr>
          <p:cNvPr id="25" name="Shape 23"/>
          <p:cNvSpPr/>
          <p:nvPr/>
        </p:nvSpPr>
        <p:spPr>
          <a:xfrm>
            <a:off x="8302752" y="3474720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302752" y="3474720"/>
            <a:ext cx="45720" cy="137160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485632" y="362102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SUPPLY CHAIN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85632" y="402336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dipendenze e build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914400" y="530352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Principio trasversale: configurazione + identità + segreti + fiducia tra componenti.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“Dove passa la fiducia?”</a:t>
            </a:r>
            <a:endParaRPr lang="en-US" sz="10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· ATTACK CHAIN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Il rischio emerge spesso dalla concatenazione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Una finding “media” può diventare critica quando apre il passo successivo della catena.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6FB6FF">
              <a:alpha val="18000"/>
            </a:srgbClr>
          </a:solidFill>
          <a:ln w="1651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8096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Info disclosure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finding 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05456" y="2615184"/>
            <a:ext cx="36576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944368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19C3B1">
              <a:alpha val="18000"/>
            </a:srgbClr>
          </a:solidFill>
          <a:ln w="1651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54096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Credenziale riusata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35808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finding B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91456" y="2615184"/>
            <a:ext cx="36576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230368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B454">
              <a:alpha val="18000"/>
            </a:srgbClr>
          </a:solidFill>
          <a:ln w="1651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40096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Accesso applicativo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21808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finding C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077456" y="2615184"/>
            <a:ext cx="36576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516368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B454">
              <a:alpha val="18000"/>
            </a:srgbClr>
          </a:solidFill>
          <a:ln w="1651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626096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Secret interno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07808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finding 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363456" y="2615184"/>
            <a:ext cx="365760" cy="0"/>
          </a:xfrm>
          <a:prstGeom prst="line">
            <a:avLst/>
          </a:prstGeom>
          <a:noFill/>
          <a:ln w="22860">
            <a:solidFill>
              <a:srgbClr val="29415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802368" y="224028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6B6B">
              <a:alpha val="18000"/>
            </a:srgbClr>
          </a:solidFill>
          <a:ln w="1651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912096" y="23957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Dato sensibile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893808" y="26791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finding 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" y="3886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Non basta classificare le singole vulnerabilità.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2960" y="43159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Dobbiamo capire cosa diventa possibile mettendole insieme.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818120" y="3840480"/>
            <a:ext cx="3429000" cy="1325880"/>
          </a:xfrm>
          <a:prstGeom prst="roundRect">
            <a:avLst>
              <a:gd name="adj" fmla="val 4828"/>
            </a:avLst>
          </a:prstGeom>
          <a:solidFill>
            <a:srgbClr val="FF6B6B">
              <a:alpha val="11000"/>
            </a:srgbClr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65008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kern="0" spc="130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IMPACT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92440" y="4443984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“Cosa può fare adesso un attaccante?”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“Qual è il percorso completo?”</a:t>
            </a:r>
            <a:endParaRPr lang="en-US" sz="10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· REPORTING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Il test vale quanto la capacità di comunicarlo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Una finding utile deve essere comprensibile, dimostrabile e correggibile.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901952"/>
            <a:ext cx="45720" cy="155448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TITOLO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è successo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11296" y="1901952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11296" y="1901952"/>
            <a:ext cx="45720" cy="155448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94176" y="20482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EVIDENZA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94176" y="2450592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come lo sappiamo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6364224" y="1901952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64224" y="1901952"/>
            <a:ext cx="45720" cy="155448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47104" y="20482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IMPATTO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47104" y="2450592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perché conta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9217152" y="1901952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217152" y="1901952"/>
            <a:ext cx="45720" cy="1554480"/>
          </a:xfrm>
          <a:prstGeom prst="rect">
            <a:avLst/>
          </a:prstGeom>
          <a:solidFill>
            <a:srgbClr val="78D39A"/>
          </a:solidFill>
          <a:ln w="1270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400032" y="20482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REMEDIATION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400032" y="2450592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come ridurre il rischio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914400" y="4005072"/>
            <a:ext cx="10332720" cy="1097280"/>
          </a:xfrm>
          <a:prstGeom prst="roundRect">
            <a:avLst>
              <a:gd name="adj" fmla="val 5000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143000" y="4251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4251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linguaggio per chi deve decidere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7840" y="42519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Technical finding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60920" y="42519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dettagli per chi deve riprodurre e correggere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“Chi deve capire questa evidenza?”</a:t>
            </a:r>
            <a:endParaRPr lang="en-US" sz="10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· LABORATORIO FINALE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Mettere insieme tutto in un assessment simulato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Un’azienda inventata, molte evidenze sparse, una sola domanda: che storia raccontano insieme?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3008" cy="1234440"/>
          </a:xfrm>
          <a:prstGeom prst="roundRect">
            <a:avLst>
              <a:gd name="adj" fmla="val 444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45720" cy="123444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02082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ASSET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31729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host, domini, servizi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493008" cy="1234440"/>
          </a:xfrm>
          <a:prstGeom prst="roundRect">
            <a:avLst>
              <a:gd name="adj" fmla="val 444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80560" y="1874520"/>
            <a:ext cx="45720" cy="123444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202082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OUTPUT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2423160"/>
            <a:ext cx="31729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scan e log fittizi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321040" y="1874520"/>
            <a:ext cx="3493008" cy="1234440"/>
          </a:xfrm>
          <a:prstGeom prst="roundRect">
            <a:avLst>
              <a:gd name="adj" fmla="val 444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321040" y="1874520"/>
            <a:ext cx="45720" cy="123444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0" y="202082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2423160"/>
            <a:ext cx="31729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request / response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40080" y="3383280"/>
            <a:ext cx="3493008" cy="1234440"/>
          </a:xfrm>
          <a:prstGeom prst="roundRect">
            <a:avLst>
              <a:gd name="adj" fmla="val 444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45720" cy="123444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352958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CONFIG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3931920"/>
            <a:ext cx="31729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file e secret simulati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4480560" y="3383280"/>
            <a:ext cx="3493008" cy="1234440"/>
          </a:xfrm>
          <a:prstGeom prst="roundRect">
            <a:avLst>
              <a:gd name="adj" fmla="val 444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80560" y="3383280"/>
            <a:ext cx="45720" cy="123444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352958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FINDING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3931920"/>
            <a:ext cx="31729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indizi da validare</a:t>
            </a:r>
            <a:endParaRPr lang="en-US" sz="1070" dirty="0"/>
          </a:p>
        </p:txBody>
      </p:sp>
      <p:sp>
        <p:nvSpPr>
          <p:cNvPr id="25" name="Shape 23"/>
          <p:cNvSpPr/>
          <p:nvPr/>
        </p:nvSpPr>
        <p:spPr>
          <a:xfrm>
            <a:off x="8321040" y="3383280"/>
            <a:ext cx="3493008" cy="1234440"/>
          </a:xfrm>
          <a:prstGeom prst="roundRect">
            <a:avLst>
              <a:gd name="adj" fmla="val 4444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321040" y="3383280"/>
            <a:ext cx="45720" cy="1234440"/>
          </a:xfrm>
          <a:prstGeom prst="rect">
            <a:avLst/>
          </a:prstGeom>
          <a:solidFill>
            <a:srgbClr val="78D39A"/>
          </a:solidFill>
          <a:ln w="12700">
            <a:solidFill>
              <a:srgbClr val="78D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503920" y="3529584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REPORT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3931920"/>
            <a:ext cx="31729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evidenze + remediation</a:t>
            </a:r>
            <a:endParaRPr lang="en-US" sz="1070" dirty="0"/>
          </a:p>
        </p:txBody>
      </p:sp>
      <p:sp>
        <p:nvSpPr>
          <p:cNvPr id="29" name="Shape 27"/>
          <p:cNvSpPr/>
          <p:nvPr/>
        </p:nvSpPr>
        <p:spPr>
          <a:xfrm>
            <a:off x="1965960" y="5084064"/>
            <a:ext cx="8275320" cy="566928"/>
          </a:xfrm>
          <a:prstGeom prst="roundRect">
            <a:avLst>
              <a:gd name="adj" fmla="val 12903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194560" y="5230368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OUTPUT FINALE → attack chain + finding + impatto + remediation + report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01000" y="53218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19C3B1">
              <a:alpha val="12000"/>
            </a:srgbClr>
          </a:solidFill>
          <a:ln w="12700">
            <a:solidFill>
              <a:srgbClr val="19C3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83880" y="54315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kern="0" spc="10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DOMANDA GUIDA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8183880" y="561441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“Riesci a raccontare l’intero assessment?”</a:t>
            </a:r>
            <a:endParaRPr lang="en-US" sz="105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IL METODO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 sei domande che useremo sempre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Questa è la vera “checklist” del corso.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456432" cy="1298448"/>
          </a:xfrm>
          <a:prstGeom prst="roundRect">
            <a:avLst>
              <a:gd name="adj" fmla="val 4930"/>
            </a:avLst>
          </a:prstGeom>
          <a:solidFill>
            <a:srgbClr val="0E2030"/>
          </a:solidFill>
          <a:ln w="15240">
            <a:solidFill>
              <a:srgbClr val="6FB6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77824" y="20391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F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77824" y="243230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vedo?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26280" y="1874520"/>
            <a:ext cx="3456432" cy="1298448"/>
          </a:xfrm>
          <a:prstGeom prst="roundRect">
            <a:avLst>
              <a:gd name="adj" fmla="val 4930"/>
            </a:avLst>
          </a:prstGeom>
          <a:solidFill>
            <a:srgbClr val="0E2030"/>
          </a:solidFill>
          <a:ln w="15240">
            <a:solidFill>
              <a:srgbClr val="19C3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90872" y="20391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90872" y="243230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Cosa significa?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339328" y="1874520"/>
            <a:ext cx="3456432" cy="1298448"/>
          </a:xfrm>
          <a:prstGeom prst="roundRect">
            <a:avLst>
              <a:gd name="adj" fmla="val 4930"/>
            </a:avLst>
          </a:prstGeom>
          <a:solidFill>
            <a:srgbClr val="0E2030"/>
          </a:solidFill>
          <a:ln w="15240">
            <a:solidFill>
              <a:srgbClr val="FFB45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03920" y="20391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503920" y="243230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 ipotesi formulo?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3232" y="3474720"/>
            <a:ext cx="3456432" cy="1298448"/>
          </a:xfrm>
          <a:prstGeom prst="roundRect">
            <a:avLst>
              <a:gd name="adj" fmla="val 4930"/>
            </a:avLst>
          </a:prstGeom>
          <a:solidFill>
            <a:srgbClr val="0E2030"/>
          </a:solidFill>
          <a:ln w="15240">
            <a:solidFill>
              <a:srgbClr val="FFB45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77824" y="36393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" y="403250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Come la verifico?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26280" y="3474720"/>
            <a:ext cx="3456432" cy="1298448"/>
          </a:xfrm>
          <a:prstGeom prst="roundRect">
            <a:avLst>
              <a:gd name="adj" fmla="val 4930"/>
            </a:avLst>
          </a:prstGeom>
          <a:solidFill>
            <a:srgbClr val="0E2030"/>
          </a:solidFill>
          <a:ln w="15240">
            <a:solidFill>
              <a:srgbClr val="FF6B6B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690872" y="36393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6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90872" y="403250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 impatto ha?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339328" y="3474720"/>
            <a:ext cx="3456432" cy="1298448"/>
          </a:xfrm>
          <a:prstGeom prst="roundRect">
            <a:avLst>
              <a:gd name="adj" fmla="val 4930"/>
            </a:avLst>
          </a:prstGeom>
          <a:solidFill>
            <a:srgbClr val="0E2030"/>
          </a:solidFill>
          <a:ln w="15240">
            <a:solidFill>
              <a:srgbClr val="78D39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503920" y="36393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8D39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503920" y="403250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Come si corregge?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5230368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Tool ≠ metodo.  Output ≠ evidenza.  Evidenza ≠ impatto.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kern="0" spc="140" dirty="0">
                <a:solidFill>
                  <a:srgbClr val="19C3B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PARTIAMO DA QUI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Tre righe. Nessun tool. Solo ragionamento.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161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Leggete l’output e separate ciò che sappiamo da ciò che stiamo soltanto supponendo.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5303520" cy="3154680"/>
          </a:xfrm>
          <a:prstGeom prst="roundRect">
            <a:avLst>
              <a:gd name="adj" fmla="val 1449"/>
            </a:avLst>
          </a:prstGeom>
          <a:solidFill>
            <a:srgbClr val="06101A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2176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192.0.2.25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7552" y="26974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22/tcp   open   ssh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32369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80/tcp   open   http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37764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443/tcp  open   https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87552" y="4370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45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Nient’altro. Per ora.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46520" y="1828800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46520" y="1828800"/>
            <a:ext cx="45720" cy="868680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29400" y="197510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· COSA SAPPIAMO?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2377440"/>
            <a:ext cx="4480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Solo fatti direttamente osservabili.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446520" y="2880360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46520" y="2880360"/>
            <a:ext cx="45720" cy="86868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29400" y="30266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· COSA PENSIAMO?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3429000"/>
            <a:ext cx="4480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Ipotesi plausibili, ma ancora da verificare.</a:t>
            </a:r>
            <a:endParaRPr lang="en-US" sz="1070" dirty="0"/>
          </a:p>
        </p:txBody>
      </p:sp>
      <p:sp>
        <p:nvSpPr>
          <p:cNvPr id="19" name="Shape 17"/>
          <p:cNvSpPr/>
          <p:nvPr/>
        </p:nvSpPr>
        <p:spPr>
          <a:xfrm>
            <a:off x="6446520" y="3931920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0E2030"/>
          </a:solidFill>
          <a:ln w="12700">
            <a:solidFill>
              <a:srgbClr val="2941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46520" y="3931920"/>
            <a:ext cx="45720" cy="868680"/>
          </a:xfrm>
          <a:prstGeom prst="rect">
            <a:avLst/>
          </a:prstGeom>
          <a:solidFill>
            <a:srgbClr val="19C3B1"/>
          </a:solidFill>
          <a:ln w="12700">
            <a:solidFill>
              <a:srgbClr val="19C3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29400" y="407822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· COSA CONTROLLIAMO DOPO?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29400" y="4480560"/>
            <a:ext cx="4480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A7BAC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 prossima azione con il miglior valore informativo.</a:t>
            </a:r>
            <a:endParaRPr lang="en-US" sz="1070" dirty="0"/>
          </a:p>
        </p:txBody>
      </p:sp>
      <p:sp>
        <p:nvSpPr>
          <p:cNvPr id="23" name="Text 21"/>
          <p:cNvSpPr/>
          <p:nvPr/>
        </p:nvSpPr>
        <p:spPr>
          <a:xfrm>
            <a:off x="6446520" y="524865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F7F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Benvenuti nel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5899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1849</Words>
  <Application>Microsoft Office PowerPoint</Application>
  <PresentationFormat>Widescreen</PresentationFormat>
  <Paragraphs>383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Noto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ITS Umbria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— Panorama del corso di Penetration Testing</dc:title>
  <dc:subject>Presentazione 0 - Panorama del corso di Penetration Testing</dc:subject>
  <dc:creator>ITS Umbria</dc:creator>
  <cp:lastModifiedBy>Alessandro Rapiti</cp:lastModifiedBy>
  <cp:revision>2</cp:revision>
  <dcterms:created xsi:type="dcterms:W3CDTF">2026-09-17T07:20:33Z</dcterms:created>
  <dcterms:modified xsi:type="dcterms:W3CDTF">2026-09-17T07:50:09Z</dcterms:modified>
</cp:coreProperties>
</file>