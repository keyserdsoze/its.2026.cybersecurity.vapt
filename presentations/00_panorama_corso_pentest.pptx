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75899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ITS UMBRIA · PENETRATION TESTING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658368"/>
            <a:ext cx="3200400" cy="3200400"/>
          </a:xfrm>
          <a:prstGeom prst="ellipse">
            <a:avLst/>
          </a:prstGeom>
          <a:solidFill>
            <a:srgbClr val="19C3B1">
              <a:alpha val="8000"/>
            </a:srgbClr>
          </a:solidFill>
          <a:ln w="12700">
            <a:solidFill>
              <a:srgbClr val="19C3B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691640"/>
            <a:ext cx="2286000" cy="2286000"/>
          </a:xfrm>
          <a:prstGeom prst="ellipse">
            <a:avLst/>
          </a:prstGeom>
          <a:solidFill>
            <a:srgbClr val="FFB454">
              <a:alpha val="6000"/>
            </a:srgbClr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21792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FFB454">
              <a:alpha val="16000"/>
            </a:srgbClr>
          </a:solidFill>
          <a:ln w="12700">
            <a:solidFill>
              <a:srgbClr val="FFB454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640080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PRESENTAZIONE 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Penetration Testing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mappa completa del corso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 di entrare nei singoli strumenti, costruiamo il contesto: cosa cerchiamo, come ragioniamo e come trasformiamo evidenze tecniche in decisioni.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66760" y="100584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6FB6FF">
              <a:alpha val="16000"/>
            </a:srgbClr>
          </a:solidFill>
          <a:ln w="15240">
            <a:solidFill>
              <a:srgbClr val="6FB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1612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SUPERFICIE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738360" y="1673352"/>
            <a:ext cx="0" cy="22860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66760" y="192024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6000"/>
            </a:srgbClr>
          </a:solidFill>
          <a:ln w="15240">
            <a:solidFill>
              <a:srgbClr val="19C3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20756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EVIDENZE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38360" y="2587752"/>
            <a:ext cx="0" cy="22860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66760" y="283464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B454">
              <a:alpha val="16000"/>
            </a:srgbClr>
          </a:solidFill>
          <a:ln w="15240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990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IPOTESI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38360" y="3502152"/>
            <a:ext cx="0" cy="22860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66760" y="374904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6B6B">
              <a:alpha val="16000"/>
            </a:srgbClr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39044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IMPATTO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524865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ore · teoria + ragionamento + laboratori simulati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650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Obiettivo: imparare a pensare come un penetration tester, non a premere pulsanti.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MAPPA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assessment è un percorso, non una collezione di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Ogni argomento del corso occupa un punto preciso in questa catena.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039112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6FB6FF">
              <a:alpha val="18000"/>
            </a:srgbClr>
          </a:solidFill>
          <a:ln w="16510">
            <a:solidFill>
              <a:srgbClr val="6FB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194560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SCOPRIRE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4780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asset e superficie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29384" y="2414016"/>
            <a:ext cx="539496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42032" y="2039112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19C3B1">
              <a:alpha val="18000"/>
            </a:srgbClr>
          </a:solidFill>
          <a:ln w="16510">
            <a:solidFill>
              <a:srgbClr val="19C3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194560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CAPIRE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33472" y="24780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servizi e 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77056" y="2414016"/>
            <a:ext cx="539496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89704" y="2039112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FB454">
              <a:alpha val="18000"/>
            </a:srgbClr>
          </a:solidFill>
          <a:ln w="16510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194560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IPOTIZZARE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81144" y="24780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debolezze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24728" y="2414016"/>
            <a:ext cx="539496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37376" y="2039112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FB454">
              <a:alpha val="18000"/>
            </a:srgbClr>
          </a:solidFill>
          <a:ln w="1651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194560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28816" y="24780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evidenze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72400" y="2414016"/>
            <a:ext cx="539496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85048" y="2039112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F6B6B">
              <a:alpha val="18000"/>
            </a:srgbClr>
          </a:solidFill>
          <a:ln w="1651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94776" y="2194560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MISURARE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76488" y="24780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impatto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720072" y="2414016"/>
            <a:ext cx="539496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32720" y="2039112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78D39A">
              <a:alpha val="18000"/>
            </a:srgbClr>
          </a:solidFill>
          <a:ln w="16510">
            <a:solidFill>
              <a:srgbClr val="78D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42448" y="2194560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D3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CORREGGERE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24160" y="24780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remediation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58952" y="32004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Durante il corso torneremo sempre indietro nella catena: una nuova evidenza può cambiare ciò che pensavamo di sapere.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7240" y="402336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023360"/>
            <a:ext cx="45720" cy="1325880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ore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4572000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Circa 8 incontri, con blocchi brevi di teoria e molta interpretazione di scenari.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4425696" y="402336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25696" y="4023360"/>
            <a:ext cx="45720" cy="1325880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Laboratori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08576" y="4572000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Output, log, request, screenshot e finding fittizi da leggere come indizi.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8074152" y="402336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74152" y="4023360"/>
            <a:ext cx="45720" cy="13258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5703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Risultato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57032" y="4572000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Arrivare a costruire e raccontare un assessment completo, fino al report.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FONDAMENTA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 cos’è davvero un penetration test?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Un’attività tecnica autorizzata, con obiettivi, confini e prove verificabili.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93392"/>
            <a:ext cx="329184" cy="329184"/>
          </a:xfrm>
          <a:prstGeom prst="ellipse">
            <a:avLst/>
          </a:prstGeom>
          <a:solidFill>
            <a:srgbClr val="6FB6FF">
              <a:alpha val="20000"/>
            </a:srgbClr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97864" y="196596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2450592"/>
            <a:ext cx="307238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è dentro? Cosa è fuori? Quali sistemi, reti, applicazioni e identità possono essere analizzati?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361688" y="18288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993392"/>
            <a:ext cx="329184" cy="329184"/>
          </a:xfrm>
          <a:prstGeom prst="ellipse">
            <a:avLst/>
          </a:prstGeom>
          <a:solidFill>
            <a:srgbClr val="19C3B1">
              <a:alpha val="20000"/>
            </a:srgbClr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5192" y="196596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Rules of Engagement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2856" y="2450592"/>
            <a:ext cx="307238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 si lavora, quali tecniche sono ammesse, quali limiti non si devono superare e chi contattare.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129016" y="18288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993392"/>
            <a:ext cx="329184" cy="329184"/>
          </a:xfrm>
          <a:prstGeom prst="ellipse">
            <a:avLst/>
          </a:prstGeom>
          <a:solidFill>
            <a:srgbClr val="FFB454">
              <a:alpha val="20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32520" y="196596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0184" y="2450592"/>
            <a:ext cx="307238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pentest non vive di intuizioni: ogni conclusione deve essere sostenuta da osservazioni ripetibili.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04672" y="4882896"/>
            <a:ext cx="3246120" cy="301752"/>
          </a:xfrm>
          <a:prstGeom prst="roundRect">
            <a:avLst>
              <a:gd name="adj" fmla="val 24242"/>
            </a:avLst>
          </a:prstGeom>
          <a:solidFill>
            <a:srgbClr val="FF6B6B">
              <a:alpha val="16000"/>
            </a:srgbClr>
          </a:solidFill>
          <a:ln w="12700">
            <a:solidFill>
              <a:srgbClr val="FF6B6B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90118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Vulnerability assessment ≠ penetration test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4882896"/>
            <a:ext cx="2423160" cy="301752"/>
          </a:xfrm>
          <a:prstGeom prst="roundRect">
            <a:avLst>
              <a:gd name="adj" fmla="val 24242"/>
            </a:avLst>
          </a:prstGeom>
          <a:solidFill>
            <a:srgbClr val="6FB6FF">
              <a:alpha val="16000"/>
            </a:srgbClr>
          </a:solidFill>
          <a:ln w="12700">
            <a:solidFill>
              <a:srgbClr val="6FB6F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4901184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 / Blue / Purple Team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52944" y="4882896"/>
            <a:ext cx="2514600" cy="301752"/>
          </a:xfrm>
          <a:prstGeom prst="roundRect">
            <a:avLst>
              <a:gd name="adj" fmla="val 24242"/>
            </a:avLst>
          </a:prstGeom>
          <a:solidFill>
            <a:srgbClr val="78D39A">
              <a:alpha val="16000"/>
            </a:srgbClr>
          </a:solidFill>
          <a:ln w="12700">
            <a:solidFill>
              <a:srgbClr val="78D39A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4901184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D3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Etica + autorizzazione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“Cosa posso dimostrare davvero?”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RECONNAISSANCE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 di testare, dobbiamo capire cosa esiste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superficie di attacco è l’insieme di ciò che un’organizzazione rende osservabile o raggiungibile.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45720" cy="1417320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7510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Passive reconnaissance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063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Informazioni disponibili senza interagire direttamente con il target: domini, metadati, documentazione pubblica, esposizioni note.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594360" y="3493008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493008"/>
            <a:ext cx="45720" cy="1417320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3931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reconnaissance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41648"/>
            <a:ext cx="3063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Interazioni controllate per capire cosa risponde e come: host, porte, servizi, applicazioni.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074920" y="2423160"/>
            <a:ext cx="2011680" cy="2011680"/>
          </a:xfrm>
          <a:prstGeom prst="ellipse">
            <a:avLst/>
          </a:prstGeom>
          <a:solidFill>
            <a:srgbClr val="19C3B1">
              <a:alpha val="14000"/>
            </a:srgbClr>
          </a:solidFill>
          <a:ln w="19050">
            <a:solidFill>
              <a:srgbClr val="19C3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6FB6FF">
              <a:alpha val="16000"/>
            </a:srgbClr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773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401568"/>
            <a:ext cx="-886968" cy="-1472184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182880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B454">
              <a:alpha val="16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1956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3401568"/>
            <a:ext cx="1947672" cy="-1289304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26680" y="388620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6B6B">
              <a:alpha val="16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36408" y="4014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3401568"/>
            <a:ext cx="2267712" cy="768096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457200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78D39A">
              <a:alpha val="16000"/>
            </a:srgbClr>
          </a:solidFill>
          <a:ln w="12700">
            <a:solidFill>
              <a:srgbClr val="78D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47000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D3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3401568"/>
            <a:ext cx="-886968" cy="1453896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89720" y="1874520"/>
            <a:ext cx="2377440" cy="2651760"/>
          </a:xfrm>
          <a:prstGeom prst="roundRect">
            <a:avLst>
              <a:gd name="adj" fmla="val 2308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9720" y="1874520"/>
            <a:ext cx="45720" cy="265176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20208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Obiettivo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72600" y="2423160"/>
            <a:ext cx="20574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 “trovare vulnerabilità” subito. Prima costruire una mappa affidabile degli asset e delle tecnologie osservate.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“Qual è il prossimo indizio utile?”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NETWORK ENUMERATION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 porta aperta è una domanda, non una vulnerabilità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Rete e protocolli servono a capire quali porte di ingresso esistono e cosa c’è dietro.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577840" cy="3337560"/>
          </a:xfrm>
          <a:prstGeom prst="roundRect">
            <a:avLst>
              <a:gd name="adj" fmla="val 1370"/>
            </a:avLst>
          </a:prstGeom>
          <a:solidFill>
            <a:srgbClr val="06101A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11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SIMULAZIONE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6112" y="2514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22/tcp   open   ssh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80/tcp   open   http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5753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443/tcp  open   https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41056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445/tcp  filtered smb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 cosa sappiamo? cosa manca?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1828800"/>
            <a:ext cx="2331720" cy="1298448"/>
          </a:xfrm>
          <a:prstGeom prst="roundRect">
            <a:avLst>
              <a:gd name="adj" fmla="val 4225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828800"/>
            <a:ext cx="45720" cy="1298448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9751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IP e subnet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Dove siamo nella rete e quali host appartengono allo stesso contesto.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25712" y="1828800"/>
            <a:ext cx="2331720" cy="1298448"/>
          </a:xfrm>
          <a:prstGeom prst="roundRect">
            <a:avLst>
              <a:gd name="adj" fmla="val 4225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25712" y="1828800"/>
            <a:ext cx="45720" cy="1298448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19751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TCP / UDP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08592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 comunicano i servizi e perché lo stato di una porta è solo un segnale.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537960" y="3410712"/>
            <a:ext cx="2331720" cy="1298448"/>
          </a:xfrm>
          <a:prstGeom prst="roundRect">
            <a:avLst>
              <a:gd name="adj" fmla="val 4225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3410712"/>
            <a:ext cx="45720" cy="129844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5570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39593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Open, closed, filtered: tre risposte con significati diversi.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9125712" y="3410712"/>
            <a:ext cx="2331720" cy="1298448"/>
          </a:xfrm>
          <a:prstGeom prst="roundRect">
            <a:avLst>
              <a:gd name="adj" fmla="val 4225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25712" y="3410712"/>
            <a:ext cx="45720" cy="1298448"/>
          </a:xfrm>
          <a:prstGeom prst="rect">
            <a:avLst/>
          </a:prstGeom>
          <a:solidFill>
            <a:srgbClr val="78D39A"/>
          </a:solidFill>
          <a:ln w="12700">
            <a:solidFill>
              <a:srgbClr val="78D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08592" y="35570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Servizi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08592" y="39593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porta suggerisce; banner e comportamento aiutano a identificare.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“Cosa c’è davvero dietro quella porta?”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SERVICE ENUMERATION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Trovato un servizio: adesso bisogna capirlo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L’enumerazione trasforma una lista di porte in una lista di funzionalità, versioni, identità e configurazioni.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21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OSSERVA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0723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banner, protocollo, comportamento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3026664"/>
            <a:ext cx="237744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20574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221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9312" y="26334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9312" y="30723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software, versione, funzione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07608" y="3026664"/>
            <a:ext cx="237744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9360" y="20574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221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73952" y="26334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CONTESTUALIZZA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30723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esposto a chi? con quali permessi?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42248" y="3026664"/>
            <a:ext cx="237744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0" y="20574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2221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08592" y="26334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PRIORITIZZA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08592" y="30723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vale la pena approfondire?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3232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Esempi di domande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4937760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SSH: chi può autenticarsi?   ·   HTTP: che applicazione è?   ·   SMB: quali condivisioni esistono?   ·   Database: è esposto?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“Quale funzione mi sta offrendo?”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WEB APPLICATION SECURITY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 web è una conversazione tra componenti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testare un’applicazione bisogna prima saper leggere request, response, sessioni e confini di autorizzazione.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6FB6FF">
              <a:alpha val="18000"/>
            </a:srgbClr>
          </a:solidFill>
          <a:ln w="16510">
            <a:solidFill>
              <a:srgbClr val="6FB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browser / mobile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0" y="22402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19C3B1">
              <a:alpha val="18000"/>
            </a:srgbClr>
          </a:solidFill>
          <a:ln w="16510">
            <a:solidFill>
              <a:srgbClr val="19C3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23957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/ WEB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 / HTTPS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B454">
              <a:alpha val="18000"/>
            </a:srgbClr>
          </a:solidFill>
          <a:ln w="1651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3957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rules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509760" y="22402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6B6B">
              <a:alpha val="18000"/>
            </a:srgbClr>
          </a:solidFill>
          <a:ln w="1651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19488" y="23957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0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DB / storage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78608" y="2615184"/>
            <a:ext cx="1005840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04688" y="2615184"/>
            <a:ext cx="1005840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430768" y="2615184"/>
            <a:ext cx="1005840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6FB6FF">
              <a:alpha val="16000"/>
            </a:srgbClr>
          </a:solidFill>
          <a:ln w="12700">
            <a:solidFill>
              <a:srgbClr val="6FB6FF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76732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76272" y="3749040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6FB6FF">
              <a:alpha val="16000"/>
            </a:srgbClr>
          </a:solidFill>
          <a:ln w="12700">
            <a:solidFill>
              <a:srgbClr val="6FB6FF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76732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header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9584" y="3749040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19C3B1">
              <a:alpha val="16000"/>
            </a:srgbClr>
          </a:solidFill>
          <a:ln w="12700">
            <a:solidFill>
              <a:srgbClr val="19C3B1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376732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cookie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82896" y="374904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19C3B1">
              <a:alpha val="16000"/>
            </a:srgbClr>
          </a:solidFill>
          <a:ln w="12700">
            <a:solidFill>
              <a:srgbClr val="19C3B1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376732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sessioni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28232" y="374904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FFB454">
              <a:alpha val="16000"/>
            </a:srgbClr>
          </a:solidFill>
          <a:ln w="12700">
            <a:solidFill>
              <a:srgbClr val="FFB454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76732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parametri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65008" y="3749040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FFB454">
              <a:alpha val="16000"/>
            </a:srgbClr>
          </a:solidFill>
          <a:ln w="12700">
            <a:solidFill>
              <a:srgbClr val="FFB454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74736" y="376732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ruoli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418320" y="374904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FF6B6B">
              <a:alpha val="16000"/>
            </a:srgbClr>
          </a:solidFill>
          <a:ln w="12700">
            <a:solidFill>
              <a:srgbClr val="FF6B6B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28048" y="376732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46634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domanda più importante non è “quale payload uso?”, ma “quale regola dovrebbe impedire questa azione?”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“Chi può fare cosa, su quale dato?”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· VULNERABILITÀ WEB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vulnerabilità sono rotture di assunzioni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Useremo OWASP come mappa, ma ragioneremo sempre su causa, evidenza, impatto e correzione.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93008" cy="1344168"/>
          </a:xfrm>
          <a:prstGeom prst="roundRect">
            <a:avLst>
              <a:gd name="adj" fmla="val 4082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45720" cy="13441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7510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utente raggiunge dati o azioni che non dovrebbe.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16552" y="1828800"/>
            <a:ext cx="3493008" cy="1344168"/>
          </a:xfrm>
          <a:prstGeom prst="roundRect">
            <a:avLst>
              <a:gd name="adj" fmla="val 4082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1828800"/>
            <a:ext cx="45720" cy="134416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97510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9432" y="237744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L’identità può essere aggirata, indebolita o riutilizzata.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238744" y="1828800"/>
            <a:ext cx="3493008" cy="1344168"/>
          </a:xfrm>
          <a:prstGeom prst="roundRect">
            <a:avLst>
              <a:gd name="adj" fmla="val 4082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38744" y="1828800"/>
            <a:ext cx="45720" cy="1344168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97510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21624" y="237744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 non fidato modifica il significato di un comando o una query.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594360" y="3429000"/>
            <a:ext cx="3493008" cy="1344168"/>
          </a:xfrm>
          <a:prstGeom prst="roundRect">
            <a:avLst>
              <a:gd name="adj" fmla="val 4082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429000"/>
            <a:ext cx="45720" cy="1344168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7530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Misconfiguration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configurazione espone più informazioni o funzioni del necessario.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4416552" y="3429000"/>
            <a:ext cx="3493008" cy="1344168"/>
          </a:xfrm>
          <a:prstGeom prst="roundRect">
            <a:avLst>
              <a:gd name="adj" fmla="val 4082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3429000"/>
            <a:ext cx="45720" cy="1344168"/>
          </a:xfrm>
          <a:prstGeom prst="rect">
            <a:avLst/>
          </a:prstGeom>
          <a:solidFill>
            <a:srgbClr val="78D39A"/>
          </a:solidFill>
          <a:ln w="12700">
            <a:solidFill>
              <a:srgbClr val="78D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57530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 / file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9432" y="397764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Path, upload, parsing e contenuti possono attraversare confini inattesi.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8238744" y="3429000"/>
            <a:ext cx="3493008" cy="1344168"/>
          </a:xfrm>
          <a:prstGeom prst="roundRect">
            <a:avLst>
              <a:gd name="adj" fmla="val 4082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8744" y="3429000"/>
            <a:ext cx="45720" cy="134416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357530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Disclosure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21624" y="397764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Messaggi, errori e metadati rivelano dettagli utili per altre ipotesi.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749808" y="52578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XSS · SQLi · SSRF · Path Traversal · File Upload → esempi di famiglie, non “mosse da imparare a memoria”.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“Quale assunzione è stata violata?”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· ANALISI DELLE VULNERABILITÀ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alert non è ancora una finding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Scanner, CVE e CVSS aiutano a orientarsi; il lavoro umano serve a verificare contesto e impatto.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45720" cy="1371600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7510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Produce segnali e ipotesi. Può sbagliare in entrambe le direzioni.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594360" y="347472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474720"/>
            <a:ext cx="45720" cy="1371600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210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CVE / CWE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Danno un linguaggio comune per vulnerabilità e classi di debolezza.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94360" y="5120640"/>
            <a:ext cx="3383280" cy="777240"/>
          </a:xfrm>
          <a:prstGeom prst="roundRect">
            <a:avLst>
              <a:gd name="adj" fmla="val 7059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5120640"/>
            <a:ext cx="45720" cy="7772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2669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CVSS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669280"/>
            <a:ext cx="3063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Descrive severità tecnica; non sostituisce il contesto aziendale.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4572000" y="2029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64808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20299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CONDIZIONI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70848" y="2029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0" y="2029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CONTESTO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44968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715000" y="3310128"/>
            <a:ext cx="4663440" cy="1051560"/>
          </a:xfrm>
          <a:prstGeom prst="roundRect">
            <a:avLst>
              <a:gd name="adj" fmla="val 6087"/>
            </a:avLst>
          </a:prstGeom>
          <a:solidFill>
            <a:srgbClr val="FF6B6B">
              <a:alpha val="13000"/>
            </a:srgbClr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5478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FINDING VERIFICATA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572000" y="47091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Versione vulnerabile ≠ vulnerabilità automaticamente sfruttabile.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“Qual è la prova che vale qui?”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· EXPLOITATION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Verificare significa dimostrare una capacità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L’exploitation, in ambiente controllato, serve a provare che una debolezza produce un effetto reale e misurabile.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523744" cy="1481328"/>
          </a:xfrm>
          <a:prstGeom prst="roundRect">
            <a:avLst>
              <a:gd name="adj" fmla="val 370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45720" cy="1481328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1226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Precondizione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deve essere vero prima?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200400" y="2706624"/>
            <a:ext cx="219456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11296" y="1965960"/>
            <a:ext cx="2523744" cy="1481328"/>
          </a:xfrm>
          <a:prstGeom prst="roundRect">
            <a:avLst>
              <a:gd name="adj" fmla="val 370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965960"/>
            <a:ext cx="45720" cy="1481328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211226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Azione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94176" y="251460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Quale comportamento stiamo verificando?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6053328" y="2706624"/>
            <a:ext cx="219456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64224" y="1965960"/>
            <a:ext cx="2523744" cy="1481328"/>
          </a:xfrm>
          <a:prstGeom prst="roundRect">
            <a:avLst>
              <a:gd name="adj" fmla="val 370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1965960"/>
            <a:ext cx="45720" cy="148132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11226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Primitiva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47104" y="251460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otteniamo realmente?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906256" y="2706624"/>
            <a:ext cx="219456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17152" y="1965960"/>
            <a:ext cx="2523744" cy="1481328"/>
          </a:xfrm>
          <a:prstGeom prst="roundRect">
            <a:avLst>
              <a:gd name="adj" fmla="val 370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7152" y="1965960"/>
            <a:ext cx="45720" cy="14813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2112264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Impatto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00032" y="251460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 cosa diventa possibile?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1005840" y="4069080"/>
            <a:ext cx="10149840" cy="1051560"/>
          </a:xfrm>
          <a:prstGeom prst="roundRect">
            <a:avLst>
              <a:gd name="adj" fmla="val 6957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42793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Exploit pubblico ≠ “premi play”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97680" y="422452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 si comprendono versione, condizioni, effetti attesi e rischi. Poi si decide se e come verificare.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“Che capacità ho dimostrato?”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 · POST-EXPLOITATION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 primo accesso raramente è la fine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Dopo un accesso iniziale si misura il “raggio d’azione”: privilegi, segreti, configurazioni e relazioni con altri sistemi.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93792" y="2276856"/>
            <a:ext cx="1810512" cy="1810512"/>
          </a:xfrm>
          <a:prstGeom prst="ellipse">
            <a:avLst/>
          </a:prstGeom>
          <a:solidFill>
            <a:srgbClr val="FF6B6B">
              <a:alpha val="16000"/>
            </a:srgbClr>
          </a:solidFill>
          <a:ln w="1651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0" y="27432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INIZIALE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187452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74520"/>
            <a:ext cx="45720" cy="1143000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0208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42316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 sono?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3310128" y="2450592"/>
            <a:ext cx="1764792" cy="73152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0120" y="406908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069080"/>
            <a:ext cx="45720" cy="11430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2153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PRIVILEGI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61772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posso fare?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3310128" y="4645152"/>
            <a:ext cx="1764792" cy="-146304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69680" y="187452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1874520"/>
            <a:ext cx="45720" cy="1143000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0208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SEGRETI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242316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trovo?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8796528" y="2450592"/>
            <a:ext cx="-1664208" cy="73152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69680" y="406908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4069080"/>
            <a:ext cx="45720" cy="1143000"/>
          </a:xfrm>
          <a:prstGeom prst="rect">
            <a:avLst/>
          </a:prstGeom>
          <a:solidFill>
            <a:srgbClr val="78D39A"/>
          </a:solidFill>
          <a:ln w="12700">
            <a:solidFill>
              <a:srgbClr val="78D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42153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RELAZIONI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52560" y="461772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dove posso arrivare?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8796528" y="4645152"/>
            <a:ext cx="-1664208" cy="-146304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926080" y="52120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Privilege escalation · secret exposure · misconfiguration · lateral movement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“Quanto lontano porta questo accesso?”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· ACTIVE DIRECTORY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Negli ambienti enterprise contano le relazioni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Utenti, gruppi, macchine, servizi e trust formano una rete di autorizzazioni che va letta come un grafo.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08760" y="3035808"/>
            <a:ext cx="2194560" cy="-100584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508760" y="3035808"/>
            <a:ext cx="2286000" cy="109728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03320" y="2029968"/>
            <a:ext cx="2560320" cy="91440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4133088"/>
            <a:ext cx="2468880" cy="-118872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63640" y="2944368"/>
            <a:ext cx="2468880" cy="-91440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63640" y="2944368"/>
            <a:ext cx="3840480" cy="105156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32520" y="2029968"/>
            <a:ext cx="1371600" cy="196596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2743200"/>
            <a:ext cx="1188720" cy="585216"/>
          </a:xfrm>
          <a:prstGeom prst="roundRect">
            <a:avLst>
              <a:gd name="adj" fmla="val 9375"/>
            </a:avLst>
          </a:prstGeom>
          <a:solidFill>
            <a:srgbClr val="6FB6FF">
              <a:alpha val="16000"/>
            </a:srgbClr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895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737360"/>
            <a:ext cx="1188720" cy="585216"/>
          </a:xfrm>
          <a:prstGeom prst="roundRect">
            <a:avLst>
              <a:gd name="adj" fmla="val 9375"/>
            </a:avLst>
          </a:prstGeom>
          <a:solidFill>
            <a:srgbClr val="19C3B1">
              <a:alpha val="16000"/>
            </a:srgbClr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883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GROUP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840480"/>
            <a:ext cx="1188720" cy="585216"/>
          </a:xfrm>
          <a:prstGeom prst="roundRect">
            <a:avLst>
              <a:gd name="adj" fmla="val 9375"/>
            </a:avLst>
          </a:prstGeom>
          <a:solidFill>
            <a:srgbClr val="FFB454">
              <a:alpha val="16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986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651760"/>
            <a:ext cx="1188720" cy="585216"/>
          </a:xfrm>
          <a:prstGeom prst="roundRect">
            <a:avLst>
              <a:gd name="adj" fmla="val 9375"/>
            </a:avLst>
          </a:prstGeom>
          <a:solidFill>
            <a:srgbClr val="FF6B6B">
              <a:alpha val="16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798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1188720" cy="585216"/>
          </a:xfrm>
          <a:prstGeom prst="roundRect">
            <a:avLst>
              <a:gd name="adj" fmla="val 9375"/>
            </a:avLst>
          </a:prstGeom>
          <a:solidFill>
            <a:srgbClr val="19C3B1">
              <a:alpha val="16000"/>
            </a:srgbClr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883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9760" y="3703320"/>
            <a:ext cx="1188720" cy="585216"/>
          </a:xfrm>
          <a:prstGeom prst="roundRect">
            <a:avLst>
              <a:gd name="adj" fmla="val 9375"/>
            </a:avLst>
          </a:prstGeom>
          <a:solidFill>
            <a:srgbClr val="FF6B6B">
              <a:alpha val="16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3849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5074920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FF6B6B">
              <a:alpha val="16000"/>
            </a:srgbClr>
          </a:solidFill>
          <a:ln w="12700">
            <a:solidFill>
              <a:srgbClr val="FF6B6B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093208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Domain Controller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0" y="5074920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FFB454">
              <a:alpha val="16000"/>
            </a:srgbClr>
          </a:solidFill>
          <a:ln w="12700">
            <a:solidFill>
              <a:srgbClr val="FFB454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5093208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Kerberos / NTLM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5074920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6FB6FF">
              <a:alpha val="16000"/>
            </a:srgbClr>
          </a:solidFill>
          <a:ln w="12700">
            <a:solidFill>
              <a:srgbClr val="6FB6FF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5093208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Utenti e gruppi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66560" y="5074920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19C3B1">
              <a:alpha val="16000"/>
            </a:srgbClr>
          </a:solidFill>
          <a:ln w="12700">
            <a:solidFill>
              <a:srgbClr val="19C3B1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509320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Condivisioni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641080" y="5074920"/>
            <a:ext cx="1051560" cy="301752"/>
          </a:xfrm>
          <a:prstGeom prst="roundRect">
            <a:avLst>
              <a:gd name="adj" fmla="val 24242"/>
            </a:avLst>
          </a:prstGeom>
          <a:solidFill>
            <a:srgbClr val="78D39A">
              <a:alpha val="16000"/>
            </a:srgbClr>
          </a:solidFill>
          <a:ln w="12700">
            <a:solidFill>
              <a:srgbClr val="78D39A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0808" y="5093208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D3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“Quale relazione crea un percorso?”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· CREDENZIALI E AUTENTICAZIONE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identità collegano quasi tutti i livelli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Password, token, chiavi e secret spesso diventano il filo conduttore tra web, host, cloud e ambienti enterprise.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93392"/>
            <a:ext cx="329184" cy="329184"/>
          </a:xfrm>
          <a:prstGeom prst="ellipse">
            <a:avLst/>
          </a:prstGeom>
          <a:solidFill>
            <a:srgbClr val="6FB6FF">
              <a:alpha val="20000"/>
            </a:srgbClr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97864" y="196596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Password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2450592"/>
            <a:ext cx="307238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Hash, salt, policy, riuso e fattori di autenticazione: capire come viene protetto il segreto.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361688" y="18288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993392"/>
            <a:ext cx="329184" cy="329184"/>
          </a:xfrm>
          <a:prstGeom prst="ellipse">
            <a:avLst/>
          </a:prstGeom>
          <a:solidFill>
            <a:srgbClr val="19C3B1">
              <a:alpha val="20000"/>
            </a:srgbClr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5192" y="196596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Token &amp; sessioni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2856" y="2450592"/>
            <a:ext cx="307238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 sistema può sapere chi sei anche senza chiederti una password a ogni richiesta.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129016" y="18288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993392"/>
            <a:ext cx="329184" cy="329184"/>
          </a:xfrm>
          <a:prstGeom prst="ellipse">
            <a:avLst/>
          </a:prstGeom>
          <a:solidFill>
            <a:srgbClr val="FFB454">
              <a:alpha val="20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32520" y="196596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Secret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0184" y="2450592"/>
            <a:ext cx="307238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key, credenziali applicative e configurazioni possono diventare ponti verso altri servizi.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MFA riduce molti rischi, ma non corregge automaticamente autorizzazioni errate o secret esposti.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“Quale identità sto usando adesso?”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· CLOUD, CONTAINER E CI/CD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superficie moderna non finisce sul server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Identità, pipeline, immagini, storage e configurazioni sono parte dell’attack surface tanto quanto porte e applicazioni.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45720" cy="1371600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751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37744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 può fare cosa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45720" cy="1371600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751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dati e permessi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302752" y="182880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1828800"/>
            <a:ext cx="45720" cy="13716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197510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CONTAINER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85632" y="237744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immagini e runtime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58368" y="3474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474720"/>
            <a:ext cx="45720" cy="1371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210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K8s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402336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orchestrazione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4480560" y="3474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474720"/>
            <a:ext cx="45720" cy="1371600"/>
          </a:xfrm>
          <a:prstGeom prst="rect">
            <a:avLst/>
          </a:prstGeom>
          <a:solidFill>
            <a:srgbClr val="78D39A"/>
          </a:solidFill>
          <a:ln w="12700">
            <a:solidFill>
              <a:srgbClr val="78D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6210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CI/CD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02336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e secret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8302752" y="3474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02752" y="3474720"/>
            <a:ext cx="45720" cy="13716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6210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SUPPLY CHAIN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85632" y="402336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dipendenze e build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914400" y="53035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Principio trasversale: configurazione + identità + segreti + fiducia tra componenti.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“Dove passa la fiducia?”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· ATTACK CHAIN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 rischio emerge spesso dalla concatenazione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 finding “media” può diventare critica quando apre il passo successivo della catena.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6FB6FF">
              <a:alpha val="18000"/>
            </a:srgbClr>
          </a:solidFill>
          <a:ln w="16510">
            <a:solidFill>
              <a:srgbClr val="6FB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3957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 disclosure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finding 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05456" y="2615184"/>
            <a:ext cx="365760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44368" y="22402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19C3B1">
              <a:alpha val="18000"/>
            </a:srgbClr>
          </a:solidFill>
          <a:ln w="16510">
            <a:solidFill>
              <a:srgbClr val="19C3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54096" y="23957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Credenziale riusata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35808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finding 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91456" y="2615184"/>
            <a:ext cx="365760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30368" y="22402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B454">
              <a:alpha val="18000"/>
            </a:srgbClr>
          </a:solidFill>
          <a:ln w="16510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23957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Accesso applicativo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21808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finding 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77456" y="2615184"/>
            <a:ext cx="365760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16368" y="22402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B454">
              <a:alpha val="18000"/>
            </a:srgbClr>
          </a:solidFill>
          <a:ln w="1651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6096" y="23957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Secret interno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07808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finding 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63456" y="2615184"/>
            <a:ext cx="365760" cy="0"/>
          </a:xfrm>
          <a:prstGeom prst="line">
            <a:avLst/>
          </a:prstGeom>
          <a:noFill/>
          <a:ln w="22860">
            <a:solidFill>
              <a:srgbClr val="29415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02368" y="224028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6B6B">
              <a:alpha val="18000"/>
            </a:srgbClr>
          </a:solidFill>
          <a:ln w="1651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12096" y="23957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Dato sensibile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93808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finding 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3886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 basta classificare le singole vulnerabilità.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3159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Dobbiamo capire cosa diventa possibile mettendole insieme.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818120" y="3840480"/>
            <a:ext cx="3429000" cy="1325880"/>
          </a:xfrm>
          <a:prstGeom prst="roundRect">
            <a:avLst>
              <a:gd name="adj" fmla="val 4828"/>
            </a:avLst>
          </a:prstGeom>
          <a:solidFill>
            <a:srgbClr val="FF6B6B">
              <a:alpha val="11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5008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92440" y="44439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“Cosa può fare adesso un attaccante?”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“Qual è il percorso completo?”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·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 test vale quanto la capacità di comunicarlo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 finding utile deve essere comprensibile, dimostrabile e correggibile.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01952"/>
            <a:ext cx="45720" cy="1554480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482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TITOLO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45059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è successo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511296" y="1901952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901952"/>
            <a:ext cx="45720" cy="1554480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20482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EVIDENZA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94176" y="245059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 lo sappiamo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364224" y="1901952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901952"/>
            <a:ext cx="45720" cy="1554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0482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IMPATTO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47104" y="245059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perché conta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9217152" y="1901952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17152" y="1901952"/>
            <a:ext cx="45720" cy="1554480"/>
          </a:xfrm>
          <a:prstGeom prst="rect">
            <a:avLst/>
          </a:prstGeom>
          <a:solidFill>
            <a:srgbClr val="78D39A"/>
          </a:solidFill>
          <a:ln w="12700">
            <a:solidFill>
              <a:srgbClr val="78D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20482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REMEDIATION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00032" y="245059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 ridurre il rischio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914400" y="4005072"/>
            <a:ext cx="10332720" cy="1097280"/>
          </a:xfrm>
          <a:prstGeom prst="roundRect">
            <a:avLst>
              <a:gd name="adj" fmla="val 5000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251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251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linguaggio per chi deve decidere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4251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finding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4251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dettagli per chi deve riprodurre e correggere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“Chi deve capire questa evidenza?”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· LABORATORIO FINALE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Mettere insieme tutto in un assessment simulato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Un’azienda inventata, molte evidenze sparse, una sola domanda: che storia raccontano insieme?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93008" cy="1234440"/>
          </a:xfrm>
          <a:prstGeom prst="roundRect">
            <a:avLst>
              <a:gd name="adj" fmla="val 444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45720" cy="1234440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082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host, domini, servizi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493008" cy="1234440"/>
          </a:xfrm>
          <a:prstGeom prst="roundRect">
            <a:avLst>
              <a:gd name="adj" fmla="val 444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45720" cy="1234440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2082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423160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scan e log fittizi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321040" y="1874520"/>
            <a:ext cx="3493008" cy="1234440"/>
          </a:xfrm>
          <a:prstGeom prst="roundRect">
            <a:avLst>
              <a:gd name="adj" fmla="val 444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74520"/>
            <a:ext cx="45720" cy="12344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02082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2423160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 / response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3493008" cy="1234440"/>
          </a:xfrm>
          <a:prstGeom prst="roundRect">
            <a:avLst>
              <a:gd name="adj" fmla="val 444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383280"/>
            <a:ext cx="45720" cy="12344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2958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e secret simulati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4480560" y="3383280"/>
            <a:ext cx="3493008" cy="1234440"/>
          </a:xfrm>
          <a:prstGeom prst="roundRect">
            <a:avLst>
              <a:gd name="adj" fmla="val 444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383280"/>
            <a:ext cx="45720" cy="1234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52958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3931920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indizi da validare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8321040" y="3383280"/>
            <a:ext cx="3493008" cy="1234440"/>
          </a:xfrm>
          <a:prstGeom prst="roundRect">
            <a:avLst>
              <a:gd name="adj" fmla="val 4444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3383280"/>
            <a:ext cx="45720" cy="1234440"/>
          </a:xfrm>
          <a:prstGeom prst="rect">
            <a:avLst/>
          </a:prstGeom>
          <a:solidFill>
            <a:srgbClr val="78D39A"/>
          </a:solidFill>
          <a:ln w="12700">
            <a:solidFill>
              <a:srgbClr val="78D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529584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3931920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evidenze + remediation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1965960" y="5084064"/>
            <a:ext cx="8275320" cy="566928"/>
          </a:xfrm>
          <a:prstGeom prst="roundRect">
            <a:avLst>
              <a:gd name="adj" fmla="val 12903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523036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 FINALE → attack chain + finding + impatto + remediation + report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01000" y="532180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9C3B1">
              <a:alpha val="12000"/>
            </a:srgbClr>
          </a:solidFill>
          <a:ln w="12700">
            <a:solidFill>
              <a:srgbClr val="19C3B1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54315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10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DOMANDA GUIDA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8183880" y="5614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“Riesci a raccontare l’intero assessment?”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 METODO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sei domande che useremo sempre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Questa è la vera “checklist” del corso.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3456432" cy="1298448"/>
          </a:xfrm>
          <a:prstGeom prst="roundRect">
            <a:avLst>
              <a:gd name="adj" fmla="val 4930"/>
            </a:avLst>
          </a:prstGeom>
          <a:solidFill>
            <a:srgbClr val="0E2030"/>
          </a:solidFill>
          <a:ln w="15240">
            <a:solidFill>
              <a:srgbClr val="6FB6FF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03911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B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" y="24323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vedo?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1874520"/>
            <a:ext cx="3456432" cy="1298448"/>
          </a:xfrm>
          <a:prstGeom prst="roundRect">
            <a:avLst>
              <a:gd name="adj" fmla="val 4930"/>
            </a:avLst>
          </a:prstGeom>
          <a:solidFill>
            <a:srgbClr val="0E2030"/>
          </a:solidFill>
          <a:ln w="15240">
            <a:solidFill>
              <a:srgbClr val="19C3B1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03911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0872" y="24323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significa?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39328" y="1874520"/>
            <a:ext cx="3456432" cy="1298448"/>
          </a:xfrm>
          <a:prstGeom prst="roundRect">
            <a:avLst>
              <a:gd name="adj" fmla="val 4930"/>
            </a:avLst>
          </a:prstGeom>
          <a:solidFill>
            <a:srgbClr val="0E2030"/>
          </a:solidFill>
          <a:ln w="15240">
            <a:solidFill>
              <a:srgbClr val="FFB454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203911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0" y="24323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 ipotesi formulo?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3232" y="3474720"/>
            <a:ext cx="3456432" cy="1298448"/>
          </a:xfrm>
          <a:prstGeom prst="roundRect">
            <a:avLst>
              <a:gd name="adj" fmla="val 4930"/>
            </a:avLst>
          </a:prstGeom>
          <a:solidFill>
            <a:srgbClr val="0E2030"/>
          </a:solidFill>
          <a:ln w="15240">
            <a:solidFill>
              <a:srgbClr val="FFB454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3931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40325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 la verifico?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26280" y="3474720"/>
            <a:ext cx="3456432" cy="1298448"/>
          </a:xfrm>
          <a:prstGeom prst="roundRect">
            <a:avLst>
              <a:gd name="adj" fmla="val 4930"/>
            </a:avLst>
          </a:prstGeom>
          <a:solidFill>
            <a:srgbClr val="0E2030"/>
          </a:solidFill>
          <a:ln w="15240">
            <a:solidFill>
              <a:srgbClr val="FF6B6B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363931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0872" y="40325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 impatto ha?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339328" y="3474720"/>
            <a:ext cx="3456432" cy="1298448"/>
          </a:xfrm>
          <a:prstGeom prst="roundRect">
            <a:avLst>
              <a:gd name="adj" fmla="val 4930"/>
            </a:avLst>
          </a:prstGeom>
          <a:solidFill>
            <a:srgbClr val="0E2030"/>
          </a:solidFill>
          <a:ln w="15240">
            <a:solidFill>
              <a:srgbClr val="78D39A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63931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8D3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03250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 si corregge?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523036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 ≠ metodo.  Output ≠ evidenza.  Evidenza ≠ impatto.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19C3B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PARTIAMO DA QUI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 righe. Nessun tool. Solo ragionamento.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161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Leggete l’output e separate ciò che sappiamo da ciò che stiamo soltanto supponendo.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5303520" cy="3154680"/>
          </a:xfrm>
          <a:prstGeom prst="roundRect">
            <a:avLst>
              <a:gd name="adj" fmla="val 1449"/>
            </a:avLst>
          </a:prstGeom>
          <a:solidFill>
            <a:srgbClr val="06101A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192.0.2.25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2697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22/tcp   open   ssh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32369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80/tcp   open   http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3776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443/tcp  open   https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4370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Nient’altro. Per ora.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182880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828800"/>
            <a:ext cx="45720" cy="868680"/>
          </a:xfrm>
          <a:prstGeom prst="rect">
            <a:avLst/>
          </a:prstGeom>
          <a:solidFill>
            <a:srgbClr val="6FB6FF"/>
          </a:solidFill>
          <a:ln w="12700">
            <a:solidFill>
              <a:srgbClr val="6FB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9751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· COSA SAPPIAMO?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237744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Solo fatti direttamente osservabili.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446520" y="288036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880360"/>
            <a:ext cx="45720" cy="8686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0266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· COSA PENSIAMO?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42900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Ipotesi plausibili, ma ancora da verificare.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446520" y="393192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0E2030"/>
          </a:solidFill>
          <a:ln w="12700">
            <a:solidFill>
              <a:srgbClr val="2941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931920"/>
            <a:ext cx="45720" cy="868680"/>
          </a:xfrm>
          <a:prstGeom prst="rect">
            <a:avLst/>
          </a:prstGeom>
          <a:solidFill>
            <a:srgbClr val="19C3B1"/>
          </a:solidFill>
          <a:ln w="12700">
            <a:solidFill>
              <a:srgbClr val="19C3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0782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· COSA CONTROLLIAMO DOPO?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48056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A7BA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prossima azione con il miglior valore informativo.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6446520" y="524865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Benvenuti nel corso.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99B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ITS Umbria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 — Panorama del corso di Penetration Testing</dc:title>
  <dc:subject>Presentazione 0 - Panorama del corso di Penetration Testing</dc:subject>
  <dc:creator>ITS Umbria</dc:creator>
  <cp:lastModifiedBy>ITS Umbria</cp:lastModifiedBy>
  <cp:revision>1</cp:revision>
  <dcterms:created xsi:type="dcterms:W3CDTF">2026-09-17T07:20:33Z</dcterms:created>
  <dcterms:modified xsi:type="dcterms:W3CDTF">2026-09-17T07:20:33Z</dcterms:modified>
</cp:coreProperties>
</file>