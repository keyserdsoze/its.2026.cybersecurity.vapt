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749808"/>
            <a:ext cx="1170432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822959"/>
            <a:ext cx="9509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768096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11827"/>
                </a:solidFill>
              </a:defRPr>
            </a:pPr>
            <a:r>
              <a:t>Giornata 8 — Chiusura, report e client presentation</a:t>
            </a:r>
          </a:p>
          <a:p>
            <a:pPr>
              <a:defRPr sz="1700">
                <a:solidFill>
                  <a:srgbClr val="374151"/>
                </a:solidFill>
              </a:defRPr>
            </a:pPr>
            <a:r>
              <a:t>Peer review, executive summary e debrief finale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999232"/>
            <a:ext cx="22860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072384"/>
            <a:ext cx="206654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MODULI • 12 + WRAP-UP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t>Slide premium da proiezione: pochi testi, gerarchia chiara, alternanza naturale con il sito del corso.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283464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100584" cy="822960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08483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5E7E"/>
                </a:solidFill>
              </a:defRPr>
            </a:pPr>
            <a:r>
              <a:t>lezione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880360"/>
            <a:ext cx="283464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880360"/>
            <a:ext cx="100584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136391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laboratorio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931920"/>
            <a:ext cx="2834640" cy="82296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3931920"/>
            <a:ext cx="100584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187952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debrief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Roadmap della giornata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Struttura del tempo e deliverable principali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2670048" cy="102412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45920"/>
            <a:ext cx="2670048" cy="73152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1051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chiusura finding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pulire e completare evidenze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645920"/>
            <a:ext cx="2670048" cy="102412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670048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810512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peer review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controllo incrociato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99232"/>
            <a:ext cx="2670048" cy="102412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999232"/>
            <a:ext cx="2670048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63824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client presentation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rischio e priorità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999232"/>
            <a:ext cx="2670048" cy="102412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1880" y="2999232"/>
            <a:ext cx="2670048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3163824"/>
            <a:ext cx="2194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827"/>
                </a:solidFill>
              </a:defRPr>
            </a:pPr>
            <a:r>
              <a:t>debrief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cosa resta alla classe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600200"/>
            <a:ext cx="2971800" cy="356616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1828800"/>
            <a:ext cx="2468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5E7E"/>
                </a:solidFill>
              </a:defRPr>
            </a:pPr>
            <a:r>
              <a:t>Output della giornata</a:t>
            </a:r>
          </a:p>
          <a:p>
            <a:pPr>
              <a:defRPr sz="1300">
                <a:solidFill>
                  <a:srgbClr val="111827"/>
                </a:solidFill>
              </a:defRPr>
            </a:pPr>
            <a:r>
              <a:t>• Mini report finale</a:t>
            </a:r>
          </a:p>
          <a:p>
            <a:pPr>
              <a:defRPr sz="1300">
                <a:solidFill>
                  <a:srgbClr val="111827"/>
                </a:solidFill>
              </a:defRPr>
            </a:pPr>
            <a:r>
              <a:t>• Executive summary</a:t>
            </a:r>
          </a:p>
          <a:p>
            <a:pPr>
              <a:defRPr sz="1300">
                <a:solidFill>
                  <a:srgbClr val="111827"/>
                </a:solidFill>
              </a:defRPr>
            </a:pPr>
            <a:r>
              <a:t>• Presentazione breve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Executive summary vs technical finding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Due pubblici, stesso rigore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3480816" cy="73152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0B5E7E"/>
                </a:solidFill>
              </a:defRPr>
            </a:pPr>
            <a:r>
              <a:t>executive summary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cosa testato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rischi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priorità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6072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6072" y="1737360"/>
            <a:ext cx="3480816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0664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2563EB"/>
                </a:solidFill>
              </a:defRPr>
            </a:pPr>
            <a:r>
              <a:t>finding tecnico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causa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evidenza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remediation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6344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6344" y="1737360"/>
            <a:ext cx="3480816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0936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59E0B"/>
                </a:solidFill>
              </a:defRPr>
            </a:pPr>
            <a:r>
              <a:t>punto chiave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pubblici diversi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stessa verità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Da note grezze a report utile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Ordinare il lavoro è professionalità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71903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1631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notes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89807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4399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4127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facts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72303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36895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6623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finding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4799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19391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9119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summary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37295" y="2880360"/>
            <a:ext cx="164592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01887" y="2423160"/>
            <a:ext cx="1517904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1615" y="2734056"/>
            <a:ext cx="12984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t>presentation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Peer review checklist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Controllo incrociato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10561320" cy="406908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57400"/>
            <a:ext cx="9875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111827"/>
                </a:solidFill>
              </a:defRPr>
            </a:pPr>
            <a:r>
              <a:t>☐ titolo descrive il problema</a:t>
            </a:r>
          </a:p>
          <a:p>
            <a:pPr>
              <a:defRPr sz="1550">
                <a:solidFill>
                  <a:srgbClr val="111827"/>
                </a:solidFill>
              </a:defRPr>
            </a:pPr>
            <a:r>
              <a:t>☐ descrizione spiega la causa</a:t>
            </a:r>
          </a:p>
          <a:p>
            <a:pPr>
              <a:defRPr sz="1550">
                <a:solidFill>
                  <a:srgbClr val="111827"/>
                </a:solidFill>
              </a:defRPr>
            </a:pPr>
            <a:r>
              <a:t>☐ evidenza sufficiente</a:t>
            </a:r>
          </a:p>
          <a:p>
            <a:pPr>
              <a:defRPr sz="1550">
                <a:solidFill>
                  <a:srgbClr val="111827"/>
                </a:solidFill>
              </a:defRPr>
            </a:pPr>
            <a:r>
              <a:t>☐ riproduzione chiara</a:t>
            </a:r>
          </a:p>
          <a:p>
            <a:pPr>
              <a:defRPr sz="1550">
                <a:solidFill>
                  <a:srgbClr val="111827"/>
                </a:solidFill>
              </a:defRPr>
            </a:pPr>
            <a:r>
              <a:t>☐ impatto supportato</a:t>
            </a:r>
          </a:p>
          <a:p>
            <a:pPr>
              <a:defRPr sz="1550">
                <a:solidFill>
                  <a:srgbClr val="111827"/>
                </a:solidFill>
              </a:defRPr>
            </a:pPr>
            <a:r>
              <a:t>☐ remediation causale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Mini presentazione al cliente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Farsi capire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4572000" cy="406908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4133087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5E7E"/>
                </a:solidFill>
              </a:defRPr>
            </a:pPr>
            <a:r>
              <a:t>in 2 minuti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perimetro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rischio principale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evidenza high-level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priorità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limiti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16752" y="1783080"/>
            <a:ext cx="4572000" cy="406908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93392"/>
            <a:ext cx="4133087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evitare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leggere slide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dettagli inutili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tool protagonista</a:t>
            </a:r>
          </a:p>
          <a:p>
            <a:pPr>
              <a:defRPr sz="1280">
                <a:solidFill>
                  <a:srgbClr val="111827"/>
                </a:solidFill>
              </a:defRPr>
            </a:pPr>
            <a:r>
              <a:t>• sovrastimare il rischio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Cosa saper fare a fine corso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Competenze visibili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3480816" cy="73152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0B5E7E"/>
                </a:solidFill>
              </a:defRPr>
            </a:pPr>
            <a:r>
              <a:t>partire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scope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regole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6072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6072" y="1737360"/>
            <a:ext cx="3480816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0664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2563EB"/>
                </a:solidFill>
              </a:defRPr>
            </a:pPr>
            <a:r>
              <a:t>testare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ipotesi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evidence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stop condition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6344" y="1737360"/>
            <a:ext cx="3480816" cy="1755648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6344" y="1737360"/>
            <a:ext cx="3480816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0936" y="1883664"/>
            <a:ext cx="320649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59E0B"/>
                </a:solidFill>
              </a:defRPr>
            </a:pPr>
            <a:r>
              <a:t>comunicare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finding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summary</a:t>
            </a:r>
          </a:p>
          <a:p>
            <a:pPr>
              <a:defRPr sz="1230">
                <a:solidFill>
                  <a:srgbClr val="111827"/>
                </a:solidFill>
              </a:defRPr>
            </a:pPr>
            <a:r>
              <a:t>• priorità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5836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731519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" y="1755648"/>
            <a:ext cx="164592" cy="2194560"/>
          </a:xfrm>
          <a:prstGeom prst="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19072"/>
            <a:ext cx="89611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t>Mi danno un target autorizzato che non conosco. So come partire, cosa osservare, formulare ipotesi, verificarle e spiegare il rischio.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La frase finale del percorso.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37160"/>
            <a:ext cx="274320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11480" y="5394960"/>
            <a:ext cx="2468880" cy="1645920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66928"/>
            <a:ext cx="105156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640080"/>
            <a:ext cx="832103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5E7E"/>
                </a:solidFill>
              </a:defRPr>
            </a:pPr>
            <a:r>
              <a:t>DAY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30352"/>
            <a:ext cx="146304" cy="749808"/>
          </a:xfrm>
          <a:prstGeom prst="roundRect">
            <a:avLst/>
          </a:prstGeom>
          <a:solidFill>
            <a:srgbClr val="0B5E7E"/>
          </a:solidFill>
          <a:ln>
            <a:solidFill>
              <a:srgbClr val="0B5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Quando passare al sito del corso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Le slide danno ritmo. Il sito contiene i dettagli operativi.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154680" cy="352044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2743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5E7E"/>
                </a:solidFill>
              </a:defRPr>
            </a:pPr>
            <a:r>
              <a:t>QUI IN SLIDE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ritmo della giornata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concetti chiave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mappe e diagrammi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output attesi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828800"/>
            <a:ext cx="3154680" cy="352044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057400"/>
            <a:ext cx="2743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SUL SITO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lezione completa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dossier di laboratorio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artefatti e request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quiz e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828800"/>
            <a:ext cx="3154680" cy="3520440"/>
          </a:xfrm>
          <a:prstGeom prst="roundRect">
            <a:avLst/>
          </a:prstGeom>
          <a:solidFill>
            <a:srgbClr val="F7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2057400"/>
            <a:ext cx="2743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DURANTE IL LAB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consultare il sito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annotare nel taccuino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chiedere evidenze, non solo risposte</a:t>
            </a:r>
          </a:p>
          <a:p>
            <a:pPr>
              <a:defRPr sz="1260">
                <a:solidFill>
                  <a:srgbClr val="111827"/>
                </a:solidFill>
              </a:defRPr>
            </a:pPr>
            <a:r>
              <a:t>• usare i deliverable come guida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245352"/>
            <a:ext cx="1106424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093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ITS Umbria • VAPT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0" y="6254496"/>
            <a:ext cx="502920" cy="292608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45952" y="6300216"/>
            <a:ext cx="365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B5E7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