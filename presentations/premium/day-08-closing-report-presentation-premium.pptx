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23960" y="457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7200" b="1">
                <a:solidFill>
                  <a:srgbClr val="F1F5F9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713232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7818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3080" y="713232"/>
            <a:ext cx="166420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781812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7772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300" b="1">
                <a:solidFill>
                  <a:srgbClr val="111827"/>
                </a:solidFill>
                <a:latin typeface="Aptos"/>
              </a:defRPr>
            </a:pPr>
            <a:r>
              <a:t>Dal finding alla conversazione col cliente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67004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0">
                <a:solidFill>
                  <a:srgbClr val="374151"/>
                </a:solidFill>
                <a:latin typeface="Aptos"/>
              </a:defRPr>
            </a:pPr>
            <a:r>
              <a:t>Chiudiamo il capstone: puliamo il report, facciamo peer review e impariamo a raccontare priorità e limiti.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IL NOSTRO PERCORSO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4315968"/>
            <a:ext cx="158191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471416"/>
            <a:ext cx="1435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086F78"/>
                </a:solidFill>
                <a:latin typeface="Aptos"/>
              </a:defRPr>
            </a:pPr>
            <a:r>
              <a:t>ripuliamo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04872" y="4315968"/>
            <a:ext cx="18288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4471416"/>
            <a:ext cx="16824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2563EB"/>
                </a:solidFill>
                <a:latin typeface="Aptos"/>
              </a:defRPr>
            </a:pPr>
            <a:r>
              <a:t>revisioniamo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4315968"/>
            <a:ext cx="180136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3128" y="4471416"/>
            <a:ext cx="16550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D97706"/>
                </a:solidFill>
                <a:latin typeface="Aptos"/>
              </a:defRPr>
            </a:pPr>
            <a:r>
              <a:t>presentiamo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6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7648" y="4315968"/>
            <a:ext cx="18288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471416"/>
            <a:ext cx="16824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6D28D9"/>
                </a:solidFill>
                <a:latin typeface="Aptos"/>
              </a:defRPr>
            </a:pPr>
            <a:r>
              <a:t>chiudiamo il percorso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230368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64748B"/>
                </a:solidFill>
                <a:latin typeface="Aptos"/>
              </a:defRPr>
            </a:pPr>
            <a:r>
              <a:t>Le slide ci tengono sul filo. Il sito e i dossier ci danno i dettagli quando ci servono.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Oggi facciamo questo percorso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Alterniamo ragionamento, esempi, sito e laboratorio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cleanup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evidence e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1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48456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9896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8456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peer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un altro gruppo legge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19088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client talk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2 minuti chiari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9096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25128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19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59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debrief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sappiamo fare adesso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1605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ALLA FINE CI PORTIAMO VIA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572000"/>
            <a:ext cx="1746504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640580"/>
            <a:ext cx="1563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MINI REPORT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42615" y="4572000"/>
            <a:ext cx="2350008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34056" y="4640580"/>
            <a:ext cx="2167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EXECUTIVE SUMMARY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57216" y="4572000"/>
            <a:ext cx="2551176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48656" y="4640580"/>
            <a:ext cx="23682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CLIENT PRESENTATION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Un report è buono se chi lo riceve sa cosa fare domani mattina.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Non basta essere tecnicamente corretti: dobbiamo essere leggibili, prioritizzati e azionabili.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Rileggiamo tutto dalla prospettiva del cliente.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Dalle note al messaggio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Ogni passaggio elimina rumore senza perdere precisione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80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94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09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raw notes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56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125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40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08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facts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87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42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956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70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39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finding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183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01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70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priority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49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03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618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32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800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executive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979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534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448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63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631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presentation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Executive summary e finding tecnico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Due lettori diversi, nessuna contraddizione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EXECUTIVE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abbiamo testato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rischi principali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priorità e limiti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TECHNICAL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causa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evidenza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riproduzione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remediation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COERENZA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stessa realtà tecnica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livello di dettaglio diverso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517904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PEER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Peer review: leggiamo il finding di un altro 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Se una risposta è “no”, sappiamo dove migliorare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5417820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04288"/>
            <a:ext cx="52349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Domanda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03620" y="2148840"/>
            <a:ext cx="5417820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5059" y="2304288"/>
            <a:ext cx="52349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Sì / 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97480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34640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Il titolo descrive il problema, non il tool?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03620" y="2697480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5059" y="2834640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85800" y="3319272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56432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La causa è chiara?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3620" y="3319272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5059" y="3456432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85800" y="3941064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78224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L’evidenza sostiene esattamente la conclusione?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03620" y="3941064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5059" y="4078224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685800" y="4562856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700016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L’impatto è dimostrato o marcato come ipotesi?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3620" y="4562856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5059" y="4700016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685800" y="5184648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321808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La remediation agisce sulla causa?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3620" y="5184648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5059" y="5321808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23225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2139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CLIENT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Due minuti davanti al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chiarezza non rende il messaggio meno tecnico.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DICIAMO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perimetro testato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rischio principale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perché conta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priorità di correzione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limiti dell’assessment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EVITIAMO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leggere il report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citare 12 tool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spiegare dettagli irrilevanti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sovrastimare l’impatto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nascondere le incertezze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23225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2139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CLIENT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Quando il cliente ci fa domande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Non improvvisiamo: torniamo sempre alle evidenze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“È sfruttabile?”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rispondiamo con la prova che abbiamo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 non sappiamo, lo diciamo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“Quanto è urgente?”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colleghiamo tecnica e contesto business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spieghiamo le assunzioni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“Come lo correggiamo?”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remediation concreta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verifica dopo la fix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23225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2139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CLIENT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08760"/>
            <a:ext cx="146304" cy="246888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1426464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111827"/>
                </a:solidFill>
                <a:latin typeface="Aptos"/>
              </a:defRPr>
            </a:pPr>
            <a:r>
              <a:t>Essere professionali significa anche dire “non l’abbiamo dimostrato”.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82112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374151"/>
                </a:solidFill>
                <a:latin typeface="Aptos"/>
              </a:defRPr>
            </a:pPr>
            <a:r>
              <a:t>L’incertezza dichiarata bene vale più di una conclusione sicura ma inventata.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517904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LABORATORIO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Ultimo giro — peer review e presentazione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Adesso usiamo il metodo sul dossier.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365760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395728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643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SCENARIO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852928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111827"/>
                </a:solidFill>
                <a:latin typeface="Aptos"/>
              </a:defRPr>
            </a:pPr>
            <a:r>
              <a:t>Ogni gruppo scambia il finding, riceve feedback e prepara un pitch di due minuti come se UmbraMarket fosse davanti a noi.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2148840"/>
            <a:ext cx="379476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81728" y="214884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313432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FACCIAMO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15768"/>
            <a:ext cx="3410712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revisioniamo il testo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tagliamo gli overclaim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prioritizziamo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presentiamo e rispondiamo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2148840"/>
            <a:ext cx="2697480" cy="3108960"/>
          </a:xfrm>
          <a:prstGeom prst="roundRect">
            <a:avLst/>
          </a:prstGeom>
          <a:solidFill>
            <a:srgbClr val="FFFB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06840" y="2395728"/>
            <a:ext cx="1572768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46430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COSA CONSEGNIAMO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880360"/>
            <a:ext cx="217627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Mini report finale + 2 minuti di client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466344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D97706"/>
                </a:solidFill>
                <a:latin typeface="Aptos"/>
              </a:defRPr>
            </a:pPr>
            <a:r>
              <a:t>→ apriamo il sito / dossier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CHIUDIAMO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Alla fine del percorso dobbiamo riuscire a…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Ci interessa il perché delle decisioni, non il numero di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148840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276856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086F7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67712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trasformare evidenze tecniche in un finding leggibile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62072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990088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2563E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980944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scrivere una executive summary coerente con il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575304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703320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D9770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69417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presentare rischio e priorità senza perdersi nei tool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88536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416552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6D28D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4074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dichiarare chiaramente limiti, assunzioni e ciò che non abbiamo dimostrato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CHIUSURA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08760"/>
            <a:ext cx="146304" cy="246888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1426464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111827"/>
                </a:solidFill>
                <a:latin typeface="Aptos"/>
              </a:defRPr>
            </a:pPr>
            <a:r>
              <a:t>Ci danno un target autorizzato che non conosciamo. Sappiamo come partire, cosa osservare, come formulare ipotesi, come verificarle e come spiegare il rischio.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82112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374151"/>
                </a:solidFill>
                <a:latin typeface="Aptos"/>
              </a:defRPr>
            </a:pPr>
            <a:r>
              <a:t>Questo era l’obiettivo del corso. Ora abbiamo un metodo da riutilizzare fuori da UmbraMarket.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Frasi che rendono un report più preciso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Il linguaggio può mostrare il livello di certezza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OSSERVATO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“Abbiamo osservato…”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“La risposta restituisce…”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INFERITO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“Il comportamento è coerente con…”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“Questo suggerisce…”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NON DIMOSTRATO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“Non è stato verificato…”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“Non abbiamo testato…”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5910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4081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 · WRAP-UP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Stessa realtà, due modi di scriverla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precisione aumenta la credibilità del report.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TROPPO FORTE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“L’attaccante può compromettere l’intero server.”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conclusione più ampia delle evidenze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PRECISO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“Un utente autenticato può leggere un ordine appartenente a un altro utente.”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la frase coincide con ciò che abbiamo dimostrato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