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823960" y="457200"/>
            <a:ext cx="2560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7200" b="1">
                <a:solidFill>
                  <a:srgbClr val="F1F5F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713232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78181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713232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74519" y="78181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7772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300" b="1">
                <a:solidFill>
                  <a:srgbClr val="111827"/>
                </a:solidFill>
                <a:latin typeface="Aptos"/>
              </a:defRPr>
            </a:pPr>
            <a:r>
              <a:t>Input Handling &amp;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670048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700" b="0">
                <a:solidFill>
                  <a:srgbClr val="374151"/>
                </a:solidFill>
                <a:latin typeface="Aptos"/>
              </a:defRPr>
            </a:pPr>
            <a:r>
              <a:t>Partiamo dal comportamento dell’applicazione, non dai payload. Cerchiamo segnali, conferme e una prova minima.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886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4748B"/>
                </a:solidFill>
                <a:latin typeface="Aptos"/>
              </a:defRPr>
            </a:pPr>
            <a:r>
              <a:t>IL NOSTRO PERCORSO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" y="4315968"/>
            <a:ext cx="1817978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471416"/>
            <a:ext cx="16716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086F78"/>
                </a:solidFill>
                <a:latin typeface="Aptos"/>
              </a:defRPr>
            </a:pPr>
            <a:r>
              <a:t>seguiamo l’input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2066" y="4471416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40938" y="4315968"/>
            <a:ext cx="1817978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4090" y="4471416"/>
            <a:ext cx="16716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2563EB"/>
                </a:solidFill>
                <a:latin typeface="Aptos"/>
              </a:defRPr>
            </a:pPr>
            <a:r>
              <a:t>capire il contesto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6349" y="4471416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05221" y="4315968"/>
            <a:ext cx="1817978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8373" y="4471416"/>
            <a:ext cx="167167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D97706"/>
                </a:solidFill>
                <a:latin typeface="Aptos"/>
              </a:defRPr>
            </a:pPr>
            <a:r>
              <a:t>testiamo una variabile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0632" y="4471416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9504" y="4315968"/>
            <a:ext cx="1790709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2656" y="4471416"/>
            <a:ext cx="164440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20" b="1">
                <a:solidFill>
                  <a:srgbClr val="6D28D9"/>
                </a:solidFill>
                <a:latin typeface="Aptos"/>
              </a:defRPr>
            </a:pPr>
            <a:r>
              <a:t>confermiamo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5230368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00" b="0">
                <a:solidFill>
                  <a:srgbClr val="64748B"/>
                </a:solidFill>
                <a:latin typeface="Aptos"/>
              </a:defRPr>
            </a:pPr>
            <a:r>
              <a:t>Le slide ci tengono sul filo. Il sito e i dossier ci danno i dettagli quando ci servono.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Oggi facciamo questo percorso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Alterniamo ragionamento, esempi, sito e laboratorio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da dove entra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1" y="2505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3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48456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6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chi lo interpreta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505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19088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7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cosa succede normalmente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9096" y="250545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4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25128" y="2176272"/>
            <a:ext cx="242316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89719" y="2322576"/>
            <a:ext cx="4114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59" y="2391156"/>
            <a:ext cx="228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2697479"/>
            <a:ext cx="20939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111827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2980944"/>
            <a:ext cx="20939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0">
                <a:solidFill>
                  <a:srgbClr val="64748B"/>
                </a:solidFill>
                <a:latin typeface="Aptos"/>
              </a:defRPr>
            </a:pPr>
            <a:r>
              <a:t>cosa cambia davvero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1605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4748B"/>
                </a:solidFill>
                <a:latin typeface="Aptos"/>
              </a:defRPr>
            </a:pPr>
            <a:r>
              <a:t>ALLA FINE CI PORTIAMO VIA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572000"/>
            <a:ext cx="1746504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640580"/>
            <a:ext cx="1563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INPUT SHEET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42615" y="4572000"/>
            <a:ext cx="2048256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34056" y="4640580"/>
            <a:ext cx="18653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EVIDENCE CHAIN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55464" y="4572000"/>
            <a:ext cx="2953511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46904" y="4640580"/>
            <a:ext cx="277063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FINDING CON REMEDIATION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4173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RAGIONIAMO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43000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111827"/>
                </a:solidFill>
                <a:latin typeface="Aptos"/>
              </a:defRPr>
            </a:pPr>
            <a:r>
              <a:t>Quando un parametro arriva al server, dove finisce?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374151"/>
                </a:solidFill>
                <a:latin typeface="Aptos"/>
              </a:defRPr>
            </a:pPr>
            <a:r>
              <a:t>La stessa stringa può essere innocua in un contesto e pericolosa in un altro.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105156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6168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Prima capiamo il contesto. Poi scegliamo il test.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Un input può entrare da molti punti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Ogni punto di ingresso attraversa una trust boundary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389888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query string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path parameter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2148840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2148840"/>
            <a:ext cx="73152" cy="13898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BODY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form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JSON / XML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76472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76472"/>
            <a:ext cx="73152" cy="138988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941063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HEADER / COOKIE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70832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metadata controllabile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session-related input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776472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776472"/>
            <a:ext cx="73152" cy="1389888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41063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6D28D9"/>
                </a:solidFill>
                <a:latin typeface="Aptos"/>
              </a:defRPr>
            </a:pPr>
            <a:r>
              <a:t>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70832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nome, tipo, contenuto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pipeline di parsing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508760"/>
            <a:ext cx="146304" cy="2468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1426464"/>
            <a:ext cx="9326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000" b="1">
                <a:solidFill>
                  <a:srgbClr val="111827"/>
                </a:solidFill>
                <a:latin typeface="Aptos"/>
              </a:defRPr>
            </a:pPr>
            <a:r>
              <a:t>La domanda non è «quale payload provo?».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82112"/>
            <a:ext cx="8961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0">
                <a:solidFill>
                  <a:srgbClr val="374151"/>
                </a:solidFill>
                <a:latin typeface="Aptos"/>
              </a:defRPr>
            </a:pPr>
            <a:r>
              <a:t>La domanda è: quale componente interpreterà questo dato — SQL, HTML/JS, shell, filesystem, template, parser?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Famiglie di injection: stesso principio, contesti diversi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Capire il sink vale più che memorizzare stringhe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389888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input entra nella costruzione della query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effetto: logica dati alterata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2148840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2148840"/>
            <a:ext cx="73152" cy="13898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HTML / 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input viene reso nel browser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effetto: interpretazione lato client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76472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76472"/>
            <a:ext cx="73152" cy="138988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941063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COMMAND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70832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input entra in un comando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effetto: comportamento del sistema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776472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776472"/>
            <a:ext cx="73152" cy="1389888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41063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6D28D9"/>
                </a:solidFill>
                <a:latin typeface="Aptos"/>
              </a:defRPr>
            </a:pPr>
            <a:r>
              <a:t>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70832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input influenza un percorso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effetto: risorsa inattesa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METODO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Il nostro metodo operativo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Una variabile per volta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804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948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092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777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scegli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567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2112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1256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0400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085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875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420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9564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708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393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test minimo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183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8728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7872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016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701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osserva differenza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491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7036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6180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324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009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ripeti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9799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5344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84488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632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6317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concludi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EVIDENZA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Baseline: comportamento normale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Prima di cercare anomalie dobbiamo conoscere il comportamento normale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6629400" cy="3337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359152"/>
            <a:ext cx="91440" cy="91440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2359152"/>
            <a:ext cx="91440" cy="9144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62456" y="2359152"/>
            <a:ext cx="91440" cy="91440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633472"/>
            <a:ext cx="626364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10" b="0">
                <a:solidFill>
                  <a:srgbClr val="E2E8F0"/>
                </a:solidFill>
                <a:latin typeface="Cascadia Mono"/>
              </a:defRPr>
            </a:pPr>
            <a:r>
              <a:t>GET /api/products/search?q=desk HTTP/1.1</a:t>
            </a:r>
            <a:br/>
            <a:r>
              <a:t>Host: shop.umbramarket.lab</a:t>
            </a:r>
            <a:br/>
            <a:br/>
            <a:r>
              <a:t>HTTP/1.1 200 OK</a:t>
            </a:r>
            <a:br/>
            <a:r>
              <a:t>Content-Type: application/json</a:t>
            </a:r>
            <a:br/>
            <a:br/>
            <a:r>
              <a:t>{"count":2,"items":[...]}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21284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35915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86F78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65176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200 + 2 risultati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31012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345643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2563EB"/>
                </a:solidFill>
                <a:latin typeface="Aptos"/>
              </a:defRPr>
            </a:pPr>
            <a:r>
              <a:t>COSA CAMBIAMO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3749039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solo q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40740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455371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D97706"/>
                </a:solidFill>
                <a:latin typeface="Aptos"/>
              </a:defRPr>
            </a:pPr>
            <a:r>
              <a:t>COSA OSSERVIAMO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484632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status, body, count, timing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EVIDENZA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Un input anomalo cambia il comportamento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Il segnale serve a scegliere il prossimo test, non a scrivere già il finding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6629400" cy="33375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359152"/>
            <a:ext cx="91440" cy="91440"/>
          </a:xfrm>
          <a:prstGeom prst="ellipse">
            <a:avLst/>
          </a:prstGeom>
          <a:solidFill>
            <a:srgbClr val="F87171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2359152"/>
            <a:ext cx="91440" cy="9144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62456" y="2359152"/>
            <a:ext cx="91440" cy="91440"/>
          </a:xfrm>
          <a:prstGeom prst="ellipse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633472"/>
            <a:ext cx="626364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210" b="0">
                <a:solidFill>
                  <a:srgbClr val="E2E8F0"/>
                </a:solidFill>
                <a:latin typeface="Cascadia Mono"/>
              </a:defRPr>
            </a:pPr>
            <a:r>
              <a:t>GET /api/products/search?q=desk%27 HTTP/1.1</a:t>
            </a:r>
            <a:br/>
            <a:br/>
            <a:r>
              <a:t>HTTP/1.1 500 Internal Server Error</a:t>
            </a:r>
            <a:br/>
            <a:r>
              <a:t>Content-Type: application/json</a:t>
            </a:r>
            <a:br/>
            <a:br/>
            <a:r>
              <a:t>{"error":"search backend rejected query","reference":"ERR-DB-17"}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221284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35915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086F78"/>
                </a:solidFill>
                <a:latin typeface="Aptos"/>
              </a:defRPr>
            </a:pPr>
            <a:r>
              <a:t>FATTO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265176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un carattere cambia la response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31012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345643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BE185D"/>
                </a:solidFill>
                <a:latin typeface="Aptos"/>
              </a:defRPr>
            </a:pPr>
            <a:r>
              <a:t>NON BASTA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3749039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500 ≠ SQL injection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4407408"/>
            <a:ext cx="3767328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4553712"/>
            <a:ext cx="3337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2563EB"/>
                </a:solidFill>
                <a:latin typeface="Aptos"/>
              </a:defRPr>
            </a:pPr>
            <a:r>
              <a:t>IPOTESI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4846320"/>
            <a:ext cx="3337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374151"/>
                </a:solidFill>
                <a:latin typeface="Aptos"/>
              </a:defRPr>
            </a:pPr>
            <a:r>
              <a:t>input gestito male lato backend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Quali segnali possiamo usare?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Un singolo segnale debole raramente basta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389888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DIFFERENZA LOGICA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numero risultati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contenuto inatteso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2148840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2148840"/>
            <a:ext cx="73152" cy="13898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ERRORE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messaggio diverso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stack / reference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76472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76472"/>
            <a:ext cx="73152" cy="138988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941063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TIMING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70832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latenza coerente e ripetibile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attenzione al rumore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776472"/>
            <a:ext cx="5294376" cy="1389888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776472"/>
            <a:ext cx="73152" cy="1389888"/>
          </a:xfrm>
          <a:prstGeom prst="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941063"/>
            <a:ext cx="49286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6D28D9"/>
                </a:solidFill>
                <a:latin typeface="Aptos"/>
              </a:defRPr>
            </a:pPr>
            <a:r>
              <a:t>CONTESTO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70832"/>
            <a:ext cx="4928616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rendering / DOM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encoding e sink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61848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4356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CONFRONTIAMO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Detection e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La prova deve essere proporzionata al rischio.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507492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73152" cy="34290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59152"/>
            <a:ext cx="4709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61488"/>
            <a:ext cx="46908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cerchiamo un segnale coerente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costruiamo una conferma minima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spesso basta per stabilire la causa probabile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194560"/>
            <a:ext cx="5074920" cy="34290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2194560"/>
            <a:ext cx="73152" cy="3429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2359152"/>
            <a:ext cx="470915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761488"/>
            <a:ext cx="4690872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dimostriamo una conseguenza concreta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non serve sempre arrivare al massimo impatto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lo scope e la stop condition decidono fin dove andare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7024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800" b="1">
                <a:solidFill>
                  <a:srgbClr val="64748B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216152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0332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CONCETTO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Remediation: correggiamo la causa, non il sintomo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Bloccare un singolo carattere è quasi sempre una patch fragile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prepared statements / parameterized queries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separare dati e istruzioni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encoding contestuale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template safe by default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COMMAND /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allowlist e API sicure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evitare concatenazione diretta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09728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METODO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Evidence chain che regge un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Ogni passo deve essere riproducibile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2112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1256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400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085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A ·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4875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420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9564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708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393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B · anomalia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183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7872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016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701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C · conferma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4919" y="3163824"/>
            <a:ext cx="128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300" b="1">
                <a:solidFill>
                  <a:srgbClr val="6474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0367" y="2743200"/>
            <a:ext cx="1600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61807" y="2852928"/>
            <a:ext cx="38404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3247" y="2921508"/>
            <a:ext cx="20116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0095" y="3246120"/>
            <a:ext cx="13807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280" b="1">
                <a:solidFill>
                  <a:srgbClr val="111827"/>
                </a:solidFill>
                <a:latin typeface="Aptos"/>
              </a:defRPr>
            </a:pPr>
            <a:r>
              <a:t>D · impatto / stop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517904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LABORATORIO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Laboratorio — Input Changes Behaviour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Adesso usiamo il metodo sul dossier.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365760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2395728"/>
            <a:ext cx="100584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4643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852928"/>
            <a:ext cx="3154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500" b="1">
                <a:solidFill>
                  <a:srgbClr val="111827"/>
                </a:solidFill>
                <a:latin typeface="Aptos"/>
              </a:defRPr>
            </a:pPr>
            <a:r>
              <a:t>Riceviamo baseline, input anomalo e una conferma controllata in artefatti separati.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1728" y="2148840"/>
            <a:ext cx="3794760" cy="310896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81728" y="214884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2313432"/>
            <a:ext cx="3429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FACCIAMO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2715768"/>
            <a:ext cx="3410712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descriviamo cosa cambia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separiamo osservato e inferito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decidiamo se l’evidenza basta</a:t>
            </a:r>
          </a:p>
          <a:p>
            <a:pPr>
              <a:spcAft>
                <a:spcPts val="400"/>
              </a:spcAft>
              <a:defRPr sz="1300" b="0">
                <a:solidFill>
                  <a:srgbClr val="111827"/>
                </a:solidFill>
                <a:latin typeface="Aptos"/>
              </a:defRPr>
            </a:pPr>
            <a:r>
              <a:t>• scriviamo remediation di causa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9952" y="2148840"/>
            <a:ext cx="2697480" cy="3108960"/>
          </a:xfrm>
          <a:prstGeom prst="roundRect">
            <a:avLst/>
          </a:prstGeom>
          <a:solidFill>
            <a:srgbClr val="FFFB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06840" y="2395728"/>
            <a:ext cx="1572768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464308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COSA CONSEGNIAMO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5984" y="2880360"/>
            <a:ext cx="217627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Finding + evidence A/B/C + stop condition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4663440"/>
            <a:ext cx="2176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50" b="1">
                <a:solidFill>
                  <a:srgbClr val="D97706"/>
                </a:solidFill>
                <a:latin typeface="Aptos"/>
              </a:defRPr>
            </a:pPr>
            <a:r>
              <a:t>→ apriamo il sito / dossier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115568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9326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DEBRIEF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43000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111827"/>
                </a:solidFill>
                <a:latin typeface="Aptos"/>
              </a:defRPr>
            </a:pPr>
            <a:r>
              <a:t>Quanto forte può essere la nostra conclusione?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8595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0">
                <a:solidFill>
                  <a:srgbClr val="374151"/>
                </a:solidFill>
                <a:latin typeface="Aptos"/>
              </a:defRPr>
            </a:pPr>
            <a:r>
              <a:t>“C’è un errore” è più debole di “il comportamento è coerente e riproducibile con un problema di query construction”.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1051560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61688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086F78"/>
                </a:solidFill>
                <a:latin typeface="Aptos"/>
              </a:defRPr>
            </a:pPr>
            <a:r>
              <a:t>Scriviamo solo ciò che possiamo sostenere.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31673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CHIUDIAMO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Prima di andare via, dobbiamo riuscire a…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Ci interessa il perché delle decisioni, non il numero di tool.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48840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276856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086F7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67712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seguire un input fino al suo possibile interprete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862072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990088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980944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costruire una baseline prima del 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575304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703320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D9770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694176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usare differenze riproducibili come evidenza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288536"/>
            <a:ext cx="10058400" cy="5760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416552"/>
            <a:ext cx="320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6D28D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407408"/>
            <a:ext cx="9052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450" b="1">
                <a:solidFill>
                  <a:srgbClr val="111827"/>
                </a:solidFill>
                <a:latin typeface="Aptos"/>
              </a:defRPr>
            </a:pPr>
            <a:r>
              <a:t>distinguere detection, impact e remediation di causa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819656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6367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PROSSIMA TAPPA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4748B"/>
                </a:solidFill>
                <a:latin typeface="Aptos"/>
              </a:defRPr>
            </a:pPr>
            <a:r>
              <a:t>LA DOMANDA CHE CI PORTIAMO DIETRO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149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900" b="1">
                <a:solidFill>
                  <a:srgbClr val="111827"/>
                </a:solidFill>
                <a:latin typeface="Aptos"/>
              </a:defRPr>
            </a:pPr>
            <a:r>
              <a:t>Se Alice è autenticata, il server verifica davvero che l’ordine richiesto appartenga ad Alice?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1046988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4471416"/>
            <a:ext cx="100584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53999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DAY 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4407408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00" b="1">
                <a:solidFill>
                  <a:srgbClr val="2563EB"/>
                </a:solidFill>
                <a:latin typeface="Aptos"/>
              </a:defRPr>
            </a:pPr>
            <a:r>
              <a:t>Giornata 5 — Authentication, Authorization &amp; API 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XSS: il punto è il contesto di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“Sanitizzare” senza sapere il contesto non è una remediation precisa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HTML 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serve encoding HTML contestuale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ATTRIBUTE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regole diverse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attenzione a quote e URL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contesto ancora diverso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evitare inserimenti non sicuri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Perché un 500 può ingannarci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L’errore è un indizio, non la diagnosi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148840"/>
            <a:ext cx="73152" cy="1600200"/>
          </a:xfrm>
          <a:prstGeom prst="rect">
            <a:avLst/>
          </a:prstGeom>
          <a:solidFill>
            <a:srgbClr val="086F78"/>
          </a:solidFill>
          <a:ln>
            <a:solidFill>
              <a:srgbClr val="086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086F78"/>
                </a:solidFill>
                <a:latin typeface="Aptos"/>
              </a:defRPr>
            </a:pPr>
            <a:r>
              <a:t>PARSER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input non valido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errore generico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61688" y="2148840"/>
            <a:ext cx="73152" cy="1600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5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2563EB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5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controllo applicativo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messaggio poco gestito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7575" y="2148840"/>
            <a:ext cx="3456432" cy="1600200"/>
          </a:xfrm>
          <a:prstGeom prst="round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37575" y="2148840"/>
            <a:ext cx="73152" cy="16002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2313432"/>
            <a:ext cx="3090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650" b="1">
                <a:solidFill>
                  <a:srgbClr val="D97706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2743200"/>
            <a:ext cx="3090672" cy="8869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database o altro sink</a:t>
            </a:r>
          </a:p>
          <a:p>
            <a:pPr>
              <a:spcAft>
                <a:spcPts val="400"/>
              </a:spcAft>
              <a:defRPr sz="1250" b="0">
                <a:solidFill>
                  <a:srgbClr val="111827"/>
                </a:solidFill>
                <a:latin typeface="Aptos"/>
              </a:defRPr>
            </a:pPr>
            <a:r>
              <a:t>• ma serve una seconda evidenza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384048"/>
            <a:ext cx="91440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262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086F78"/>
                </a:solidFill>
                <a:latin typeface="Aptos"/>
              </a:defRPr>
            </a:pPr>
            <a:r>
              <a:t>DAY 04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00200" y="384048"/>
            <a:ext cx="96012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91640" y="45262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384048"/>
            <a:ext cx="1920240" cy="329184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40" y="4526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D28D9"/>
                </a:solidFill>
                <a:latin typeface="Aptos"/>
              </a:defRPr>
            </a:pPr>
            <a:r>
              <a:t>APPROFONDIMENTO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384048"/>
            <a:ext cx="1965960" cy="329184"/>
          </a:xfrm>
          <a:prstGeom prst="round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38360" y="452628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D97706"/>
                </a:solidFill>
                <a:latin typeface="Aptos"/>
              </a:defRPr>
            </a:pPr>
            <a:r>
              <a:t>APPROFONDIMENTO · SE 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96012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2800" b="1">
                <a:solidFill>
                  <a:srgbClr val="111827"/>
                </a:solidFill>
                <a:latin typeface="Aptos"/>
              </a:defRPr>
            </a:pPr>
            <a:r>
              <a:t>Source → sink → difesa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572768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350" b="0">
                <a:solidFill>
                  <a:srgbClr val="64748B"/>
                </a:solidFill>
                <a:latin typeface="Aptos"/>
              </a:defRPr>
            </a:pPr>
            <a:r>
              <a:t>Questa mappa ci evita di scegliere test e remediation fuori contesto.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148840"/>
            <a:ext cx="5736515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04288"/>
            <a:ext cx="555363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Passaggio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22315" y="2148840"/>
            <a:ext cx="5099124" cy="5486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3755" y="2304288"/>
            <a:ext cx="49162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defRPr sz="1150" b="1">
                <a:solidFill>
                  <a:srgbClr val="FFFFFF"/>
                </a:solidFill>
                <a:latin typeface="Aptos"/>
              </a:defRPr>
            </a:pPr>
            <a:r>
              <a:t>Domanda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697480"/>
            <a:ext cx="5736515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834640"/>
            <a:ext cx="55536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22315" y="2697480"/>
            <a:ext cx="5099124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3755" y="2834640"/>
            <a:ext cx="49162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da dove entra il dato controllato?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319272"/>
            <a:ext cx="5736515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56432"/>
            <a:ext cx="55536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Transformation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22315" y="3319272"/>
            <a:ext cx="5099124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3755" y="3456432"/>
            <a:ext cx="49162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viene validato, normalizzato o decodificato?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941064"/>
            <a:ext cx="5736515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078224"/>
            <a:ext cx="55536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Sink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22315" y="3941064"/>
            <a:ext cx="5099124" cy="62179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3755" y="4078224"/>
            <a:ext cx="49162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chi interpreta il dato?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4562856"/>
            <a:ext cx="5736515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700016"/>
            <a:ext cx="55536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22315" y="4562856"/>
            <a:ext cx="5099124" cy="6217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3755" y="4700016"/>
            <a:ext cx="491624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1140" b="0">
                <a:solidFill>
                  <a:srgbClr val="111827"/>
                </a:solidFill>
                <a:latin typeface="Aptos"/>
              </a:defRPr>
            </a:pPr>
            <a:r>
              <a:t>qual è la difesa corretta per quel contesto?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6236208"/>
            <a:ext cx="11018520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3093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64748B"/>
                </a:solidFill>
                <a:latin typeface="Aptos"/>
              </a:defRPr>
            </a:pPr>
            <a:r>
              <a:t>ITS Umbria · Vulnerability Assessment &amp; Penetration 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82528" y="62819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defRPr sz="1000" b="1">
                <a:solidFill>
                  <a:srgbClr val="086F78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