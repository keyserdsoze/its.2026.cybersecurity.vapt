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749808"/>
            <a:ext cx="1170432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822959"/>
            <a:ext cx="95097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53312"/>
            <a:ext cx="7680960" cy="1508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111827"/>
                </a:solidFill>
              </a:defRPr>
            </a:pPr>
            <a:r>
              <a:t>Giornata 4 — Input Handling &amp; Injection</a:t>
            </a:r>
          </a:p>
          <a:p>
            <a:pPr>
              <a:defRPr sz="1700">
                <a:solidFill>
                  <a:srgbClr val="374151"/>
                </a:solidFill>
              </a:defRPr>
            </a:pPr>
            <a:r>
              <a:t>Dal parametro alla prova minima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2999232"/>
            <a:ext cx="228600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3072384"/>
            <a:ext cx="206654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MODULI •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49039"/>
            <a:ext cx="5486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>
                <a:solidFill>
                  <a:srgbClr val="64748B"/>
                </a:solidFill>
              </a:defRPr>
            </a:pPr>
            <a:r>
              <a:t>Slide premium da proiezione: pochi testi, gerarchia chiara, alternanza naturale con il sito del corso.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828800"/>
            <a:ext cx="2834640" cy="82296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828800"/>
            <a:ext cx="100584" cy="822960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2084832"/>
            <a:ext cx="2194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5E7E"/>
                </a:solidFill>
              </a:defRPr>
            </a:pPr>
            <a:r>
              <a:t>lezione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2880360"/>
            <a:ext cx="2834640" cy="82296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21040" y="2880360"/>
            <a:ext cx="100584" cy="8229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136391"/>
            <a:ext cx="2194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laboratorio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3931920"/>
            <a:ext cx="2834640" cy="82296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40" y="3931920"/>
            <a:ext cx="100584" cy="8229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1080" y="4187952"/>
            <a:ext cx="2194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59E0B"/>
                </a:solidFill>
              </a:defRPr>
            </a:pPr>
            <a:r>
              <a:t>debrief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Roadmap della giornata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Struttura del tempo e deliverable principali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2670048" cy="102412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45920"/>
            <a:ext cx="2670048" cy="73152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10512"/>
            <a:ext cx="2194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11827"/>
                </a:solidFill>
              </a:defRPr>
            </a:pPr>
            <a:r>
              <a:t>input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dati non fidati e trust boundary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645920"/>
            <a:ext cx="2670048" cy="102412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1645920"/>
            <a:ext cx="2670048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60" y="1810512"/>
            <a:ext cx="2194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11827"/>
                </a:solidFill>
              </a:defRPr>
            </a:pPr>
            <a:r>
              <a:t>contesto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SQL, HTML, shell, path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999232"/>
            <a:ext cx="2670048" cy="102412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2999232"/>
            <a:ext cx="2670048" cy="7315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163824"/>
            <a:ext cx="2194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11827"/>
                </a:solidFill>
              </a:defRPr>
            </a:pPr>
            <a:r>
              <a:t>metodo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baseline → test → differenza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11880" y="2999232"/>
            <a:ext cx="2670048" cy="102412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11880" y="2999232"/>
            <a:ext cx="2670048" cy="731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94760" y="3163824"/>
            <a:ext cx="2194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11827"/>
                </a:solidFill>
              </a:defRPr>
            </a:pPr>
            <a:r>
              <a:t>lab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Input to 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58200" y="1600200"/>
            <a:ext cx="2971800" cy="356616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05088" y="1828800"/>
            <a:ext cx="246888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5E7E"/>
                </a:solidFill>
              </a:defRPr>
            </a:pPr>
            <a:r>
              <a:t>Output della giornata</a:t>
            </a:r>
          </a:p>
          <a:p>
            <a:pPr>
              <a:defRPr sz="1300">
                <a:solidFill>
                  <a:srgbClr val="111827"/>
                </a:solidFill>
              </a:defRPr>
            </a:pPr>
            <a:r>
              <a:t>• Input evidence sheet</a:t>
            </a:r>
          </a:p>
          <a:p>
            <a:pPr>
              <a:defRPr sz="1300">
                <a:solidFill>
                  <a:srgbClr val="111827"/>
                </a:solidFill>
              </a:defRPr>
            </a:pPr>
            <a:r>
              <a:t>• Finding con remediation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5836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731519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04</a:t>
            </a:r>
          </a:p>
        </p:txBody>
      </p:sp>
      <p:sp>
        <p:nvSpPr>
          <p:cNvPr id="6" name="Rectangle 5"/>
          <p:cNvSpPr/>
          <p:nvPr/>
        </p:nvSpPr>
        <p:spPr>
          <a:xfrm>
            <a:off x="987552" y="1755648"/>
            <a:ext cx="164592" cy="2194560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719072"/>
            <a:ext cx="896112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11827"/>
                </a:solidFill>
              </a:defRPr>
            </a:pPr>
            <a:r>
              <a:t>La domanda iniziale non è ‘quale payload provo?’. È: ‘dove finisce questo input e chi lo interpreta?’</a:t>
            </a:r>
          </a:p>
          <a:p>
            <a:pPr>
              <a:defRPr sz="1400">
                <a:solidFill>
                  <a:srgbClr val="64748B"/>
                </a:solidFill>
              </a:defRPr>
            </a:pPr>
            <a:r>
              <a:t>Se il contesto è sbagliato, anche il test lo sarà.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Input non fidato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Capire prima di testare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737360"/>
            <a:ext cx="3480816" cy="73152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0B5E7E"/>
                </a:solidFill>
              </a:defRPr>
            </a:pPr>
            <a:r>
              <a:t>entry point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query string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path parameter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form / JSON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6072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6072" y="1737360"/>
            <a:ext cx="3480816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0664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2563EB"/>
                </a:solidFill>
              </a:defRPr>
            </a:pPr>
            <a:r>
              <a:t>altri canali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header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cookie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nome file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6344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6344" y="1737360"/>
            <a:ext cx="3480816" cy="7315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0936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59E0B"/>
                </a:solidFill>
              </a:defRPr>
            </a:pPr>
            <a:r>
              <a:t>rischio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trust boundary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significato inatteso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Famiglie di problemi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Comprendere il meccanismo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737360"/>
            <a:ext cx="3480816" cy="73152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0B5E7E"/>
                </a:solidFill>
              </a:defRPr>
            </a:pPr>
            <a:r>
              <a:t>SQLi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input entra nella query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serve evidenza coerente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6072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6072" y="1737360"/>
            <a:ext cx="3480816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0664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2563EB"/>
                </a:solidFill>
              </a:defRPr>
            </a:pPr>
            <a:r>
              <a:t>XSS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input finisce in HTML/JS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browser interpreta codice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6344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6344" y="1737360"/>
            <a:ext cx="3480816" cy="7315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0936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59E0B"/>
                </a:solidFill>
              </a:defRPr>
            </a:pPr>
            <a:r>
              <a:t>command / path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input altera comandi o percorsi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PoC minima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Metodo operativo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Una variabile per volta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30655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40383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input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48559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13151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2879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baseline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331055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95647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05375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test minimo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13551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178143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7871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differenza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96047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860639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70367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conferma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378543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543135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52863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impatto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Detection vs impact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Fermarsi quando l’evidenza è sufficiente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737360"/>
            <a:ext cx="3480816" cy="73152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0B5E7E"/>
                </a:solidFill>
              </a:defRPr>
            </a:pPr>
            <a:r>
              <a:t>detection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cerco un segnale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differenza riproducibile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6072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6072" y="1737360"/>
            <a:ext cx="3480816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0664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2563EB"/>
                </a:solidFill>
              </a:defRPr>
            </a:pPr>
            <a:r>
              <a:t>impact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dimostro conseguenza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non sempre necessario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6344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6344" y="1737360"/>
            <a:ext cx="3480816" cy="7315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0936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59E0B"/>
                </a:solidFill>
              </a:defRPr>
            </a:pPr>
            <a:r>
              <a:t>regola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minimo impatto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stop condition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Errori comuni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Il corso premia metodo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4572000" cy="406908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993392"/>
            <a:ext cx="4133087" cy="3611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5E7E"/>
                </a:solidFill>
              </a:defRPr>
            </a:pPr>
            <a:r>
              <a:t>da evitare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liste di payload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500 = prova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cambiare 5 cose insieme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remediation generiche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16752" y="1783080"/>
            <a:ext cx="4572000" cy="406908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993392"/>
            <a:ext cx="4133087" cy="3611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da fare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baseline chiara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differenze coerenti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ripetere per conferma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remediation sulla causa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Deliverable della giornata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Cosa vogliamo vedere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" y="1783080"/>
            <a:ext cx="10561320" cy="406908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057400"/>
            <a:ext cx="987552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50">
                <a:solidFill>
                  <a:srgbClr val="111827"/>
                </a:solidFill>
              </a:defRPr>
            </a:pPr>
            <a:r>
              <a:t>☐ input e contesto</a:t>
            </a:r>
          </a:p>
          <a:p>
            <a:pPr>
              <a:defRPr sz="1550">
                <a:solidFill>
                  <a:srgbClr val="111827"/>
                </a:solidFill>
              </a:defRPr>
            </a:pPr>
            <a:r>
              <a:t>☐ baseline + test minimo</a:t>
            </a:r>
          </a:p>
          <a:p>
            <a:pPr>
              <a:defRPr sz="1550">
                <a:solidFill>
                  <a:srgbClr val="111827"/>
                </a:solidFill>
              </a:defRPr>
            </a:pPr>
            <a:r>
              <a:t>☐ differenza + conferma</a:t>
            </a:r>
          </a:p>
          <a:p>
            <a:pPr>
              <a:defRPr sz="1550">
                <a:solidFill>
                  <a:srgbClr val="111827"/>
                </a:solidFill>
              </a:defRPr>
            </a:pPr>
            <a:r>
              <a:t>☐ impatto supportato</a:t>
            </a:r>
          </a:p>
          <a:p>
            <a:pPr>
              <a:defRPr sz="1550">
                <a:solidFill>
                  <a:srgbClr val="111827"/>
                </a:solidFill>
              </a:defRPr>
            </a:pPr>
            <a:r>
              <a:t>☐ remediation causale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Quando passare al sito del corso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Le slide danno ritmo. Il sito contiene i dettagli operativi.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3154680" cy="352044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057400"/>
            <a:ext cx="2743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5E7E"/>
                </a:solidFill>
              </a:defRPr>
            </a:pPr>
            <a:r>
              <a:t>QUI IN SLIDE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ritmo della giornata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concetti chiave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mappe e diagrammi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output attesi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1828800"/>
            <a:ext cx="3154680" cy="352044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2057400"/>
            <a:ext cx="2743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SUL SITO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lezione completa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dossier di laboratorio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artefatti e request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quiz e PDF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3024" y="1828800"/>
            <a:ext cx="3154680" cy="352044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2057400"/>
            <a:ext cx="2743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DURANTE IL LAB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consultare il sito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annotare nel taccuino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chiedere evidenze, non solo risposte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usare i deliverable come guida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