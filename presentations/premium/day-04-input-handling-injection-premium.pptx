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23960" y="457200"/>
            <a:ext cx="2560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7200" b="1">
                <a:solidFill>
                  <a:srgbClr val="F1F5F9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713232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78181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83080" y="713232"/>
            <a:ext cx="10972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78181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77724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300" b="1">
                <a:solidFill>
                  <a:srgbClr val="111827"/>
                </a:solidFill>
                <a:latin typeface="Aptos"/>
              </a:defRPr>
            </a:pPr>
            <a:r>
              <a:t>Input Handling &amp; Injection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67004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700" b="0">
                <a:solidFill>
                  <a:srgbClr val="374151"/>
                </a:solidFill>
                <a:latin typeface="Aptos"/>
              </a:defRPr>
            </a:pPr>
            <a:r>
              <a:t>Partiamo dal comportamento dell’applicazione, non dai payload. Cerchiamo segnali, conferme e una prova minima.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38862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IL NOSTRO PERCORSO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4315968"/>
            <a:ext cx="1817978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471416"/>
            <a:ext cx="167167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086F78"/>
                </a:solidFill>
                <a:latin typeface="Aptos"/>
              </a:defRPr>
            </a:pPr>
            <a:r>
              <a:t>seguiamo l’input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22066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40938" y="4315968"/>
            <a:ext cx="1817978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4090" y="4471416"/>
            <a:ext cx="167167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2563EB"/>
                </a:solidFill>
                <a:latin typeface="Aptos"/>
              </a:defRPr>
            </a:pPr>
            <a:r>
              <a:t>capire il contesto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6349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05221" y="4315968"/>
            <a:ext cx="1817978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8373" y="4471416"/>
            <a:ext cx="167167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D97706"/>
                </a:solidFill>
                <a:latin typeface="Aptos"/>
              </a:defRPr>
            </a:pPr>
            <a:r>
              <a:t>testiamo una variabile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0632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69504" y="4315968"/>
            <a:ext cx="1790709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2656" y="4471416"/>
            <a:ext cx="164440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6D28D9"/>
                </a:solidFill>
                <a:latin typeface="Aptos"/>
              </a:defRPr>
            </a:pPr>
            <a:r>
              <a:t>confermiamo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5230368"/>
            <a:ext cx="9601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64748B"/>
                </a:solidFill>
                <a:latin typeface="Aptos"/>
              </a:defRPr>
            </a:pPr>
            <a:r>
              <a:t>Le slide ci tengono sul filo. Il sito e i dossier ci danno i dettagli quando ci servono.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Oggi facciamo questo percorso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Alterniamo ragionamento, esempi, sito e laboratorio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da dove entra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7831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3863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48456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9896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8456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8456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chi lo interpreta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4496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19088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7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baseline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cosa succede normalmente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9096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25128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89719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1159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19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19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cosa cambia davvero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1605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ALLA FINE CI PORTIAMO VIA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572000"/>
            <a:ext cx="1746504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640580"/>
            <a:ext cx="15636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INPUT SHEET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42615" y="4572000"/>
            <a:ext cx="2048256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34056" y="4640580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EVIDENCE CHAIN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55464" y="4572000"/>
            <a:ext cx="2953511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46904" y="4640580"/>
            <a:ext cx="27706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FINDING CON REMEDIATION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4173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RAGIONIAMO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143000"/>
            <a:ext cx="9966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400" b="1">
                <a:solidFill>
                  <a:srgbClr val="111827"/>
                </a:solidFill>
                <a:latin typeface="Aptos"/>
              </a:defRPr>
            </a:pPr>
            <a:r>
              <a:t>Quando un parametro arriva al server, dove finisce?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0">
                <a:solidFill>
                  <a:srgbClr val="374151"/>
                </a:solidFill>
                <a:latin typeface="Aptos"/>
              </a:defRPr>
            </a:pPr>
            <a:r>
              <a:t>La stessa stringa può essere innocua in un contesto e pericolosa in un altro.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1051560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6168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Prima capiamo il contesto. Poi scegliamo il test.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CONCETTO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Un input può entrare da molti punti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Ogni punto di ingresso attraversa una trust boundary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389888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query string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path parameter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2148840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2148840"/>
            <a:ext cx="73152" cy="138988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BODY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743200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form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JSON / XML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76472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3776472"/>
            <a:ext cx="73152" cy="138988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941063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HEADER / COOKIE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370832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metadata controllabile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session-related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3776472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3776472"/>
            <a:ext cx="73152" cy="1389888"/>
          </a:xfrm>
          <a:prstGeom prst="rect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41063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6D28D9"/>
                </a:solidFill>
                <a:latin typeface="Aptos"/>
              </a:defRPr>
            </a:pPr>
            <a:r>
              <a:t>FILE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370832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nome, tipo, contenuto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pipeline di parsing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CONCETTO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1508760"/>
            <a:ext cx="146304" cy="246888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25296" y="1426464"/>
            <a:ext cx="9326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111827"/>
                </a:solidFill>
                <a:latin typeface="Aptos"/>
              </a:defRPr>
            </a:pPr>
            <a:r>
              <a:t>La domanda non è «quale payload provo?».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182112"/>
            <a:ext cx="8961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500" b="0">
                <a:solidFill>
                  <a:srgbClr val="374151"/>
                </a:solidFill>
                <a:latin typeface="Aptos"/>
              </a:defRPr>
            </a:pPr>
            <a:r>
              <a:t>La domanda è: quale componente interpreterà questo dato — SQL, HTML/JS, shell, filesystem, template, parser?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CONCETTO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Famiglie di injection: stesso principio, contesti diversi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Capire il sink vale più che memorizzare stringhe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389888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input entra nella costruzione della query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effetto: logica dati alterata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2148840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2148840"/>
            <a:ext cx="73152" cy="138988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HTML / JS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743200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input viene reso nel browser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effetto: interpretazione lato client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76472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3776472"/>
            <a:ext cx="73152" cy="138988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941063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COMMAND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370832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input entra in un comando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effetto: comportamento del sistema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3776472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3776472"/>
            <a:ext cx="73152" cy="1389888"/>
          </a:xfrm>
          <a:prstGeom prst="rect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41063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6D28D9"/>
                </a:solidFill>
                <a:latin typeface="Aptos"/>
              </a:defRPr>
            </a:pPr>
            <a:r>
              <a:t>PATH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370832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input influenza un percorso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effetto: risorsa inattesa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0972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METODO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Il nostro metodo operativo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Una variabile per volta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804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2948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092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777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scegli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567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112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1256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400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085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baseline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875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420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9564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8708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393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test minimo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183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016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701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osserva differenza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491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036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6180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324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8009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ripeti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9799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5344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84488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3632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6317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concludi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EVIDENZA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Baseline: comportamento normale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Prima di cercare anomalie dobbiamo conoscere il comportamento normale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6629400" cy="33375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359152"/>
            <a:ext cx="91440" cy="91440"/>
          </a:xfrm>
          <a:prstGeom prst="ellipse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1288" y="2359152"/>
            <a:ext cx="91440" cy="91440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62456" y="2359152"/>
            <a:ext cx="91440" cy="91440"/>
          </a:xfrm>
          <a:prstGeom prst="ellipse">
            <a:avLst/>
          </a:prstGeom>
          <a:solidFill>
            <a:srgbClr val="4ADE80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633472"/>
            <a:ext cx="6263640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10" b="0">
                <a:solidFill>
                  <a:srgbClr val="E2E8F0"/>
                </a:solidFill>
                <a:latin typeface="Cascadia Mono"/>
              </a:defRPr>
            </a:pPr>
            <a:r>
              <a:t>GET /api/products/search?q=desk HTTP/1.1</a:t>
            </a:r>
            <a:br/>
            <a:r>
              <a:t>Host: shop.umbramarket.lab</a:t>
            </a:r>
            <a:br/>
            <a:br/>
            <a:r>
              <a:t>HTTP/1.1 200 OK</a:t>
            </a:r>
            <a:br/>
            <a:r>
              <a:t>Content-Type: application/json</a:t>
            </a:r>
            <a:br/>
            <a:br/>
            <a:r>
              <a:t>{"count":2,"items":[...]}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221284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35915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86F78"/>
                </a:solidFill>
                <a:latin typeface="Aptos"/>
              </a:defRPr>
            </a:pPr>
            <a:r>
              <a:t>BASELINE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265176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200 + 2 risultati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331012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5552" y="345643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2563EB"/>
                </a:solidFill>
                <a:latin typeface="Aptos"/>
              </a:defRPr>
            </a:pPr>
            <a:r>
              <a:t>COSA CAMBIAMO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552" y="3749039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solo q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440740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5552" y="455371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D97706"/>
                </a:solidFill>
                <a:latin typeface="Aptos"/>
              </a:defRPr>
            </a:pPr>
            <a:r>
              <a:t>COSA OSSERVIAMO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484632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status, body, count, timing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EVIDENZA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Un input anomalo cambia il comportamento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Il segnale serve a scegliere il prossimo test, non a scrivere già il finding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6629400" cy="33375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359152"/>
            <a:ext cx="91440" cy="91440"/>
          </a:xfrm>
          <a:prstGeom prst="ellipse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1288" y="2359152"/>
            <a:ext cx="91440" cy="91440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62456" y="2359152"/>
            <a:ext cx="91440" cy="91440"/>
          </a:xfrm>
          <a:prstGeom prst="ellipse">
            <a:avLst/>
          </a:prstGeom>
          <a:solidFill>
            <a:srgbClr val="4ADE80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633472"/>
            <a:ext cx="6263640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10" b="0">
                <a:solidFill>
                  <a:srgbClr val="E2E8F0"/>
                </a:solidFill>
                <a:latin typeface="Cascadia Mono"/>
              </a:defRPr>
            </a:pPr>
            <a:r>
              <a:t>GET /api/products/search?q=desk%27 HTTP/1.1</a:t>
            </a:r>
            <a:br/>
            <a:br/>
            <a:r>
              <a:t>HTTP/1.1 500 Internal Server Error</a:t>
            </a:r>
            <a:br/>
            <a:r>
              <a:t>Content-Type: application/json</a:t>
            </a:r>
            <a:br/>
            <a:br/>
            <a:r>
              <a:t>{"error":"search backend rejected query","reference":"ERR-DB-17"}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221284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35915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86F78"/>
                </a:solidFill>
                <a:latin typeface="Aptos"/>
              </a:defRPr>
            </a:pPr>
            <a:r>
              <a:t>FATTO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265176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un carattere cambia la response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331012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5552" y="345643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BE185D"/>
                </a:solidFill>
                <a:latin typeface="Aptos"/>
              </a:defRPr>
            </a:pPr>
            <a:r>
              <a:t>NON BASTA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552" y="3749039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500 ≠ SQL injection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440740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5552" y="455371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2563EB"/>
                </a:solidFill>
                <a:latin typeface="Aptos"/>
              </a:defRPr>
            </a:pPr>
            <a:r>
              <a:t>IPOTESI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484632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input gestito male lato backend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CONCETTO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Quali segnali possiamo usare?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Un singolo segnale debole raramente basta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389888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DIFFERENZA LOGICA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numero risultati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contenuto inatteso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2148840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2148840"/>
            <a:ext cx="73152" cy="138988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ERRORE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743200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messaggio diverso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stack / reference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76472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3776472"/>
            <a:ext cx="73152" cy="138988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941063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TIMING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370832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latenza coerente e ripetibile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attenzione al rumore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3776472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3776472"/>
            <a:ext cx="73152" cy="1389888"/>
          </a:xfrm>
          <a:prstGeom prst="rect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41063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6D28D9"/>
                </a:solidFill>
                <a:latin typeface="Aptos"/>
              </a:defRPr>
            </a:pPr>
            <a:r>
              <a:t>CONTESTO CLIENT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370832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rendering / DOM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encoding e sink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61848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CONFRONTIAMO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Detection e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La prova deve essere proporzionata al rischio.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194560"/>
            <a:ext cx="73152" cy="34290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cerchiamo un segnale coerente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costruiamo una conferma minima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spesso basta per stabilire la causa probabile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194560"/>
            <a:ext cx="73152" cy="34290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dimostriamo una conseguenza concreta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non serve sempre arrivare al massimo impatto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lo scope e la stop condition decidono fin dove andare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7024" y="3520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800" b="1">
                <a:solidFill>
                  <a:srgbClr val="64748B"/>
                </a:solidFill>
                <a:latin typeface="Aptos"/>
              </a:defRPr>
            </a:pPr>
            <a:r>
              <a:t>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CONCETTO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Remediation: correggiamo la causa, non il sintomo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Bloccare un singolo carattere è quasi sempre una patch fragile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QUERY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prepared statements / parameterized queries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separare dati e istruzioni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encoding contestuale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template safe by default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COMMAND / PATH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allowlist e API sicure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evitare concatenazione diretta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0972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METODO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Evidence chain che regge un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Ogni passo deve essere riproducibile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2112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1256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400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3085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A · 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4875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0420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9564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708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393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B · anomalia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183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728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7872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701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C · conferma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491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036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6180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5324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8009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D · impatto / stop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517904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LABORATORIO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Laboratorio — Input Changes Behaviour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Adesso usiamo il metodo sul dossier.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3657600" cy="310896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2395728"/>
            <a:ext cx="1005840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46430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SCENARIO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852928"/>
            <a:ext cx="31546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111827"/>
                </a:solidFill>
                <a:latin typeface="Aptos"/>
              </a:defRPr>
            </a:pPr>
            <a:r>
              <a:t>Riceviamo baseline, input anomalo e una conferma controllata in artefatti separati.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81728" y="2148840"/>
            <a:ext cx="3794760" cy="310896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81728" y="2148840"/>
            <a:ext cx="73152" cy="3108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6" y="2313432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FACCIAMO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2896" y="2715768"/>
            <a:ext cx="3410712" cy="2395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descriviamo cosa cambia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separiamo osservato e inferito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decidiamo se l’evidenza basta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scriviamo remediation di causa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59952" y="2148840"/>
            <a:ext cx="2697480" cy="3108960"/>
          </a:xfrm>
          <a:prstGeom prst="roundRect">
            <a:avLst/>
          </a:prstGeom>
          <a:solidFill>
            <a:srgbClr val="FFFB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06840" y="2395728"/>
            <a:ext cx="1572768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2464308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COSA CONSEGNIAMO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880360"/>
            <a:ext cx="217627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Finding + evidence A/B/C + stop condition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15984" y="4663440"/>
            <a:ext cx="2176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1">
                <a:solidFill>
                  <a:srgbClr val="D97706"/>
                </a:solidFill>
                <a:latin typeface="Aptos"/>
              </a:defRPr>
            </a:pPr>
            <a:r>
              <a:t>→ apriamo il sito / dossier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11556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DEBRIEF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143000"/>
            <a:ext cx="9966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400" b="1">
                <a:solidFill>
                  <a:srgbClr val="111827"/>
                </a:solidFill>
                <a:latin typeface="Aptos"/>
              </a:defRPr>
            </a:pPr>
            <a:r>
              <a:t>Quanto forte può essere la nostra conclusione?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0">
                <a:solidFill>
                  <a:srgbClr val="374151"/>
                </a:solidFill>
                <a:latin typeface="Aptos"/>
              </a:defRPr>
            </a:pPr>
            <a:r>
              <a:t>“C’è un errore” è più debole di “il comportamento è coerente e riproducibile con un problema di query construction”.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1051560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6168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Scriviamo solo ciò che possiamo sostenere.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3167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CHIUDIAMO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Prima di andare via, dobbiamo riuscire a…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Ci interessa il perché delle decisioni, non il numero di tool.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148840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276856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086F7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267712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seguire un input fino al suo possibile interprete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862072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2990088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2563EB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980944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costruire una baseline prima del test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575304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703320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D97706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694176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usare differenze riproducibili come evidenza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288536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4416552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6D28D9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407408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distinguere detection, impact e remediation di causa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81965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636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PROSSIMA TAPPA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LA DOMANDA CHE CI PORTIAMO DIETRO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149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900" b="1">
                <a:solidFill>
                  <a:srgbClr val="111827"/>
                </a:solidFill>
                <a:latin typeface="Aptos"/>
              </a:defRPr>
            </a:pPr>
            <a:r>
              <a:t>Se Alice è autenticata, il server verifica davvero che l’ordine richiesto appartenga ad Alice?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1046988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4471416"/>
            <a:ext cx="1005840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3999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DAY 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4407408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Giornata 5 — Authentication, Authorization &amp; API Security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XSS: il punto è il contesto di 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“Sanitizzare” senza sapere il contesto non è una remediation precisa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HTML 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serve encoding HTML contestuale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ATTRIBUTE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regole diverse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attenzione a quote e URL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JAVASCRIPT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contesto ancora diverso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evitare inserimenti non sicuri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Perché un 500 può ingannarci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L’errore è un indizio, non la diagnosi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PARSER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input non valido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errore generico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controllo applicativo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messaggio poco gestito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BACKEND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database o altro sink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ma serve una seconda evidenza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Source → sink → difesa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Questa mappa ci evita di scegliere test e remediation fuori contesto.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148840"/>
            <a:ext cx="5736515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04288"/>
            <a:ext cx="55536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Passaggio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22315" y="2148840"/>
            <a:ext cx="5099124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3755" y="2304288"/>
            <a:ext cx="49162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Domanda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97480"/>
            <a:ext cx="5736515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5536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22315" y="2697480"/>
            <a:ext cx="5099124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3755" y="2834640"/>
            <a:ext cx="49162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da dove entra il dato controllato?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319272"/>
            <a:ext cx="5736515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456432"/>
            <a:ext cx="55536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Transformation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22315" y="3319272"/>
            <a:ext cx="5099124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3755" y="3456432"/>
            <a:ext cx="49162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viene validato, normalizzato o decodificato?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941064"/>
            <a:ext cx="5736515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078224"/>
            <a:ext cx="55536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Sink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22315" y="3941064"/>
            <a:ext cx="5099124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3755" y="4078224"/>
            <a:ext cx="49162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chi interpreta il dato?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562856"/>
            <a:ext cx="5736515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700016"/>
            <a:ext cx="55536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22315" y="4562856"/>
            <a:ext cx="5099124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3755" y="4700016"/>
            <a:ext cx="49162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qual è la difesa corretta per quel contesto?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