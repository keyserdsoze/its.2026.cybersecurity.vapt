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749808"/>
            <a:ext cx="1170432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822959"/>
            <a:ext cx="950976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53312"/>
            <a:ext cx="7680960" cy="1508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111827"/>
                </a:solidFill>
              </a:defRPr>
            </a:pPr>
            <a:r>
              <a:t>Giornata 6 — Exploitation, Post-Exploitation, Reporting e AI</a:t>
            </a:r>
          </a:p>
          <a:p>
            <a:pPr>
              <a:defRPr sz="1700">
                <a:solidFill>
                  <a:srgbClr val="374151"/>
                </a:solidFill>
              </a:defRPr>
            </a:pPr>
            <a:r>
              <a:t>Decisioni, non spettacolo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2999232"/>
            <a:ext cx="228600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3072384"/>
            <a:ext cx="206654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MODULI • 08 + 09 + 10 + 11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49039"/>
            <a:ext cx="5486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>
                <a:solidFill>
                  <a:srgbClr val="64748B"/>
                </a:solidFill>
              </a:defRPr>
            </a:pPr>
            <a:r>
              <a:t>Slide premium da proiezione: pochi testi, gerarchia chiara, alternanza naturale con il sito del corso.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0" y="1828800"/>
            <a:ext cx="2834640" cy="82296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828800"/>
            <a:ext cx="100584" cy="822960"/>
          </a:xfrm>
          <a:prstGeom prst="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41080" y="2084832"/>
            <a:ext cx="2194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B5E7E"/>
                </a:solidFill>
              </a:defRPr>
            </a:pPr>
            <a:r>
              <a:t>lezione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2880360"/>
            <a:ext cx="2834640" cy="82296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21040" y="2880360"/>
            <a:ext cx="100584" cy="82296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1080" y="3136391"/>
            <a:ext cx="2194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563EB"/>
                </a:solidFill>
              </a:defRPr>
            </a:pPr>
            <a:r>
              <a:t>laboratorio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3931920"/>
            <a:ext cx="2834640" cy="82296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21040" y="3931920"/>
            <a:ext cx="100584" cy="82296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1080" y="4187952"/>
            <a:ext cx="2194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59E0B"/>
                </a:solidFill>
              </a:defRPr>
            </a:pPr>
            <a:r>
              <a:t>debrief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Roadmap della giornata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Struttura del tempo e deliverable principali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45920"/>
            <a:ext cx="2670048" cy="102412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45920"/>
            <a:ext cx="2670048" cy="73152"/>
          </a:xfrm>
          <a:prstGeom prst="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10512"/>
            <a:ext cx="2194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11827"/>
                </a:solidFill>
              </a:defRPr>
            </a:pPr>
            <a:r>
              <a:t>08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quando una PoC aggiunge valore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645920"/>
            <a:ext cx="2670048" cy="102412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1880" y="1645920"/>
            <a:ext cx="2670048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94760" y="1810512"/>
            <a:ext cx="2194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11827"/>
                </a:solidFill>
              </a:defRPr>
            </a:pPr>
            <a:r>
              <a:t>09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security context e privilege boundary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2999232"/>
            <a:ext cx="2670048" cy="102412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" y="2999232"/>
            <a:ext cx="2670048" cy="7315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163824"/>
            <a:ext cx="2194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11827"/>
                </a:solidFill>
              </a:defRPr>
            </a:pPr>
            <a:r>
              <a:t>10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da evidence a finding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11880" y="2999232"/>
            <a:ext cx="2670048" cy="102412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11880" y="2999232"/>
            <a:ext cx="2670048" cy="731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94760" y="3163824"/>
            <a:ext cx="2194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11827"/>
                </a:solidFill>
              </a:defRPr>
            </a:pPr>
            <a:r>
              <a:t>11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AI propone, umano verifica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58200" y="1600200"/>
            <a:ext cx="2971800" cy="356616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05088" y="1828800"/>
            <a:ext cx="246888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B5E7E"/>
                </a:solidFill>
              </a:defRPr>
            </a:pPr>
            <a:r>
              <a:t>Output della giornata</a:t>
            </a:r>
          </a:p>
          <a:p>
            <a:pPr>
              <a:defRPr sz="1300">
                <a:solidFill>
                  <a:srgbClr val="111827"/>
                </a:solidFill>
              </a:defRPr>
            </a:pPr>
            <a:r>
              <a:t>• Exploitation decision sheet</a:t>
            </a:r>
          </a:p>
          <a:p>
            <a:pPr>
              <a:defRPr sz="1300">
                <a:solidFill>
                  <a:srgbClr val="111827"/>
                </a:solidFill>
              </a:defRPr>
            </a:pPr>
            <a:r>
              <a:t>• Attack path</a:t>
            </a:r>
          </a:p>
          <a:p>
            <a:pPr>
              <a:defRPr sz="1300">
                <a:solidFill>
                  <a:srgbClr val="111827"/>
                </a:solidFill>
              </a:defRPr>
            </a:pPr>
            <a:r>
              <a:t>• Finding professionale</a:t>
            </a:r>
          </a:p>
          <a:p>
            <a:pPr>
              <a:defRPr sz="1300">
                <a:solidFill>
                  <a:srgbClr val="111827"/>
                </a:solidFill>
              </a:defRPr>
            </a:pPr>
            <a:r>
              <a:t>• AI claim review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Decision gate prima di exploitare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Se manca un punto critico, non si parte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71903" y="2423160"/>
            <a:ext cx="1517904" cy="91440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81631" y="2734056"/>
            <a:ext cx="12984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t>finding confermato?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489807" y="2880360"/>
            <a:ext cx="164592" cy="0"/>
          </a:xfrm>
          <a:prstGeom prst="line">
            <a:avLst/>
          </a:prstGeom>
          <a:ln w="254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654399" y="2423160"/>
            <a:ext cx="1517904" cy="91440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64127" y="2734056"/>
            <a:ext cx="12984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t>vale la pena?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172303" y="2880360"/>
            <a:ext cx="164592" cy="0"/>
          </a:xfrm>
          <a:prstGeom prst="line">
            <a:avLst/>
          </a:prstGeom>
          <a:ln w="254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336895" y="2423160"/>
            <a:ext cx="1517904" cy="91440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46623" y="2734056"/>
            <a:ext cx="12984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t>RoE ok?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4799" y="2880360"/>
            <a:ext cx="164592" cy="0"/>
          </a:xfrm>
          <a:prstGeom prst="line">
            <a:avLst/>
          </a:prstGeom>
          <a:ln w="254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019391" y="2423160"/>
            <a:ext cx="1517904" cy="91440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29119" y="2734056"/>
            <a:ext cx="12984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t>stop condition?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537295" y="2880360"/>
            <a:ext cx="164592" cy="0"/>
          </a:xfrm>
          <a:prstGeom prst="line">
            <a:avLst/>
          </a:prstGeom>
          <a:ln w="254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701887" y="2423160"/>
            <a:ext cx="1517904" cy="91440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11615" y="2734056"/>
            <a:ext cx="12984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t>evidenza sufficiente?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Vulnerability / exploit / payload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Non sono sinonimi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737360"/>
            <a:ext cx="3480816" cy="73152"/>
          </a:xfrm>
          <a:prstGeom prst="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0B5E7E"/>
                </a:solidFill>
              </a:defRPr>
            </a:pPr>
            <a:r>
              <a:t>vulnerability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debolezza nel sistema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6072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6072" y="1737360"/>
            <a:ext cx="3480816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0664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2563EB"/>
                </a:solidFill>
              </a:defRPr>
            </a:pPr>
            <a:r>
              <a:t>exploit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tecnica che la sfrutta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6344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86344" y="1737360"/>
            <a:ext cx="3480816" cy="7315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0936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59E0B"/>
                </a:solidFill>
              </a:defRPr>
            </a:pPr>
            <a:r>
              <a:t>payload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effetto successivo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Post-exploitation: domande giuste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Misurare propagazione e impatto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737360"/>
            <a:ext cx="3480816" cy="73152"/>
          </a:xfrm>
          <a:prstGeom prst="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0B5E7E"/>
                </a:solidFill>
              </a:defRPr>
            </a:pPr>
            <a:r>
              <a:t>chi sono?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utente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host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privilegi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6072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6072" y="1737360"/>
            <a:ext cx="3480816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0664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2563EB"/>
                </a:solidFill>
              </a:defRPr>
            </a:pPr>
            <a:r>
              <a:t>quale confine?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privilege boundary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configurazione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6344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86344" y="1737360"/>
            <a:ext cx="3480816" cy="7315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0936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59E0B"/>
                </a:solidFill>
              </a:defRPr>
            </a:pPr>
            <a:r>
              <a:t>quando fermarmi?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rischio dimostrato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cleanup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Un finding professionale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Il report è il prodotto finale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737360"/>
            <a:ext cx="3480816" cy="73152"/>
          </a:xfrm>
          <a:prstGeom prst="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0B5E7E"/>
                </a:solidFill>
              </a:defRPr>
            </a:pPr>
            <a:r>
              <a:t>causa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non solo sintomo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6072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6072" y="1737360"/>
            <a:ext cx="3480816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0664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2563EB"/>
                </a:solidFill>
              </a:defRPr>
            </a:pPr>
            <a:r>
              <a:t>evidenza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riproducibile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minimizzata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6344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86344" y="1737360"/>
            <a:ext cx="3480816" cy="7315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0936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59E0B"/>
                </a:solidFill>
              </a:defRPr>
            </a:pPr>
            <a:r>
              <a:t>remediation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agisce sulla causa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AI nel corso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AI output ≠ evidence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737360"/>
            <a:ext cx="3480816" cy="73152"/>
          </a:xfrm>
          <a:prstGeom prst="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0B5E7E"/>
                </a:solidFill>
              </a:defRPr>
            </a:pPr>
            <a:r>
              <a:t>utile per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riassumere note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checklist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6072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6072" y="1737360"/>
            <a:ext cx="3480816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0664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2563EB"/>
                </a:solidFill>
              </a:defRPr>
            </a:pPr>
            <a:r>
              <a:t>non sostituisce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evidenza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fonte primaria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6344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86344" y="1737360"/>
            <a:ext cx="3480816" cy="7315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0936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59E0B"/>
                </a:solidFill>
              </a:defRPr>
            </a:pPr>
            <a:r>
              <a:t>regola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verifica umana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scope invariato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Briefing del capstone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Preparare la giornata successiva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4572000" cy="406908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993392"/>
            <a:ext cx="4133087" cy="3611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B5E7E"/>
                </a:solidFill>
              </a:defRPr>
            </a:pPr>
            <a:r>
              <a:t>gli studenti dovranno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scope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attack surface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validare almeno un problema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stop condition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finding + summary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16752" y="1783080"/>
            <a:ext cx="4572000" cy="406908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993392"/>
            <a:ext cx="4133087" cy="3611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563EB"/>
                </a:solidFill>
              </a:defRPr>
            </a:pPr>
            <a:r>
              <a:t>noi osserviamo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metodo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prioritizzazione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note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uso hint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chiarezza report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Quando passare al sito del corso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Le slide danno ritmo. Il sito contiene i dettagli operativi.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3154680" cy="352044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057400"/>
            <a:ext cx="274320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B5E7E"/>
                </a:solidFill>
              </a:defRPr>
            </a:pPr>
            <a:r>
              <a:t>QUI IN SLIDE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ritmo della giornata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concetti chiave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mappe e diagrammi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output attesi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62272" y="1828800"/>
            <a:ext cx="3154680" cy="352044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6864" y="2057400"/>
            <a:ext cx="274320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563EB"/>
                </a:solidFill>
              </a:defRPr>
            </a:pPr>
            <a:r>
              <a:t>SUL SITO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lezione completa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dossier di laboratorio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artefatti e request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quiz e PDF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93024" y="1828800"/>
            <a:ext cx="3154680" cy="352044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7616" y="2057400"/>
            <a:ext cx="274320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DURANTE IL LAB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consultare il sito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annotare nel taccuino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chiedere evidenze, non solo risposte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usare i deliverable come guida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