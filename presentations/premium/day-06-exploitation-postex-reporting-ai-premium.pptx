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23960" y="457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7200" b="1">
                <a:solidFill>
                  <a:srgbClr val="F1F5F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713232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8181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713232"/>
            <a:ext cx="216712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781812"/>
            <a:ext cx="1984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7772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300" b="1">
                <a:solidFill>
                  <a:srgbClr val="111827"/>
                </a:solidFill>
                <a:latin typeface="Aptos"/>
              </a:defRPr>
            </a:pPr>
            <a:r>
              <a:t>Dalla vulnerabilità al rischio raccontabile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7004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0">
                <a:solidFill>
                  <a:srgbClr val="374151"/>
                </a:solidFill>
                <a:latin typeface="Aptos"/>
              </a:defRPr>
            </a:pPr>
            <a:r>
              <a:t>Mettiamo insieme PoC controllata, post-exploitation, reporting e uso disciplinato dell’AI.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886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IL NOSTRO PERCORSO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4315968"/>
            <a:ext cx="181154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471416"/>
            <a:ext cx="16652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086F78"/>
                </a:solidFill>
                <a:latin typeface="Aptos"/>
              </a:defRPr>
            </a:pPr>
            <a:r>
              <a:t>decidiamo se exploitare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5635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4507" y="4315968"/>
            <a:ext cx="181154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7659" y="4471416"/>
            <a:ext cx="16652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2563EB"/>
                </a:solidFill>
                <a:latin typeface="Aptos"/>
              </a:defRPr>
            </a:pPr>
            <a:r>
              <a:t>misuriamo il contesto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3486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92358" y="4315968"/>
            <a:ext cx="181154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5510" y="4471416"/>
            <a:ext cx="16652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D97706"/>
                </a:solidFill>
                <a:latin typeface="Aptos"/>
              </a:defRPr>
            </a:pPr>
            <a:r>
              <a:t>scriviamo il 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1337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0209" y="4315968"/>
            <a:ext cx="181154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3361" y="4471416"/>
            <a:ext cx="16652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6D28D9"/>
                </a:solidFill>
                <a:latin typeface="Aptos"/>
              </a:defRPr>
            </a:pPr>
            <a:r>
              <a:t>verifichiamo l’AI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230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64748B"/>
                </a:solidFill>
                <a:latin typeface="Aptos"/>
              </a:defRPr>
            </a:pPr>
            <a:r>
              <a:t>Le slide ci tengono sul filo. Il sito e i dossier ci danno i dettagli quando ci servono.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Oggi facciamo questo percorso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Alterniamo ragionamento, esempi, sito e laboratorio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PoC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vale la pena?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1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3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48456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post-ex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cosa abbiamo ottenuto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19088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7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cosa può capire il cliente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25128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19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cosa possiamo delegare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605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ALLA FINE CI PORTIAMO VIA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72000"/>
            <a:ext cx="2048256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640580"/>
            <a:ext cx="18653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DECISION SHEET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44368" y="4572000"/>
            <a:ext cx="1746504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35808" y="4640580"/>
            <a:ext cx="1563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ATTACK PATH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55464" y="4572000"/>
            <a:ext cx="15087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46904" y="464058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28816" y="4572000"/>
            <a:ext cx="2148839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0256" y="4640580"/>
            <a:ext cx="1965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AI CLAIM 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6184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435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EXPLOITATION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Una vulnerabilità confermata va sempre sfruttata?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No. Una PoC è utile solo se aggiunge informazione e rimane entro le regole concordate.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Prima di exploitare facciamo un decision gate.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6184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435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EXPLOITATION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Decision gate prima della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Se una risposta critica è “no”, ci fermiamo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95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10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24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93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finding confermato?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72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26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041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55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23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prerequisiti presenti?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029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957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871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86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54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valore aggiunto?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337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88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702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17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85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RoE lo consente?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64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19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533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447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16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stop condition?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6184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435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EXPLOITATION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Vulnerability, exploit, payload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Tre parole diverse, tre decisioni diverse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VULNERABILITY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la debolezza nel sistema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la causa che rende possibile l’attacco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EXPLOIT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tecnica / codice che usa la debolezza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ha prerequisiti precisi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PAYLOAD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effetto successivo quando serve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non è sinonimo di exploit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6184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435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EXPLOITATION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Un primo tentativo che non conferma nulla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Anche un tentativo “negativo” produce informazione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62940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359152"/>
            <a:ext cx="91440" cy="9144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2359152"/>
            <a:ext cx="91440" cy="9144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2456" y="2359152"/>
            <a:ext cx="91440" cy="914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6263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10" b="0">
                <a:solidFill>
                  <a:srgbClr val="E2E8F0"/>
                </a:solidFill>
                <a:latin typeface="Cascadia Mono"/>
              </a:defRPr>
            </a:pPr>
            <a:r>
              <a:t>[SIMULATED CHECK]</a:t>
            </a:r>
            <a:br/>
            <a:r>
              <a:t>Target service: demosync 2.3</a:t>
            </a:r>
            <a:br/>
            <a:r>
              <a:t>Advisory requires: feature=legacy-sync</a:t>
            </a:r>
            <a:br/>
            <a:r>
              <a:t>Observed: feature flag not visible</a:t>
            </a:r>
            <a:br/>
            <a:r>
              <a:t>Result: prerequisite NOT confirmed</a:t>
            </a:r>
            <a:br/>
            <a:br/>
            <a:r>
              <a:t>Decision: do not claim exploitability yet.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21284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5915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86F78"/>
                </a:solidFill>
                <a:latin typeface="Aptos"/>
              </a:defRPr>
            </a:pPr>
            <a:r>
              <a:t>FATTO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6517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manca un prerequisito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1012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45643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BE185D"/>
                </a:solidFill>
                <a:latin typeface="Aptos"/>
              </a:defRPr>
            </a:pPr>
            <a:r>
              <a:t>NON CONCLUDIAMO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749039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“non vulnerabile”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0740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455371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D97706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8463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cercare evidenza sul requisito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6184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435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EXPLOITATION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08760"/>
            <a:ext cx="146304" cy="24688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1426464"/>
            <a:ext cx="9326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111827"/>
                </a:solidFill>
                <a:latin typeface="Aptos"/>
              </a:defRPr>
            </a:pPr>
            <a:r>
              <a:t>La stop condition fa parte della tecnica.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82112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374151"/>
                </a:solidFill>
                <a:latin typeface="Aptos"/>
              </a:defRPr>
            </a:pPr>
            <a:r>
              <a:t>Una PoC professionale dimostra il rischio con il minimo impatto necessario, poi si ferma.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212140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POST-EXPLOITATION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Abbiamo accesso. Adesso cosa vogliamo capire?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Non “quanto lontano possiamo andare?”, ma “quale nuovo rischio possiamo misurare senza uscire dal mandato?”.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Partiamo dal security context.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212140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POST-EXPLOITATION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Post-exploitation: tre domande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L’obiettivo è costruire un attack path credibile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CHI SIAMO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utente / servizio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host / container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privilegi attuali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QUALI CONFINI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gruppi, ACL, service accounts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segmentazione e trust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QUAL È IL RISCHIO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cosa diventerebbe accessibile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quale escalation è plausibile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212140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POST-EXPLOITATION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Dal contesto all’attack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Niente persistence, stealth o raccolta dati non necessaria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95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10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24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93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initial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72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26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041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55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23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current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029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957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871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86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54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privilege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337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88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702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17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85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minimal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64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19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533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447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16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cleanup / stop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3167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08760"/>
            <a:ext cx="146304" cy="246888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1426464"/>
            <a:ext cx="9326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111827"/>
                </a:solidFill>
                <a:latin typeface="Aptos"/>
              </a:defRPr>
            </a:pPr>
            <a:r>
              <a:t>Il report è il vero prodotto del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82112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374151"/>
                </a:solidFill>
                <a:latin typeface="Aptos"/>
              </a:defRPr>
            </a:pPr>
            <a:r>
              <a:t>L’exploit dura pochi secondi. Il finding deve permettere a cliente e team tecnico di capire, riprodurre, prioritizzare e correggere.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3167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Un finding professionale risponde a cinque domande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E infine: come la correggiamo?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389888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COSA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qual è la debolezza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titolo descrittivo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148840"/>
            <a:ext cx="73152" cy="13898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DOVE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asset, endpoint, funzione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scope preciso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76472"/>
            <a:ext cx="73152" cy="13898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PROVA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request / response / output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steps to reproduce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776472"/>
            <a:ext cx="73152" cy="1389888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6D28D9"/>
                </a:solidFill>
                <a:latin typeface="Aptos"/>
              </a:defRPr>
            </a:pPr>
            <a:r>
              <a:t>IMPATTO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cosa può succedere davvero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non quello che “potrebbe forse” accadere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3167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Severity e priorità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CVSS aiuta; il contesto decide.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73152" cy="34290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SEVERITY TECNICA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exploitability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privilegi necessari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impatto su confidenzialità, integrità, disponibilità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194560"/>
            <a:ext cx="73152" cy="3429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PRIORITÀ CLIENTE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dato / processo coinvolto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esposizione reale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compensating controls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urgenza di remediation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64748B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3167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Executive summary e finding tecnico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Due pubblici diversi, una sola realtà tecnica.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73152" cy="34290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cosa abbiamo testato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rischi principali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priorità e prossimi passi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linguaggio comprensibile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194560"/>
            <a:ext cx="73152" cy="3429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TECHNICAL 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causa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evidenza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riproduzione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impatto e remediation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64748B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Dove entra l’AI?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Può accelerare il lavoro, ma non può diventare la fonte della nostra evidenza.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AI propone. Noi verifichiamo.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Usi che ci fanno guadagnare tempo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Mai copiare una conclusione tecnica senza verificarla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RIORGANIZZARE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note grezze → struttura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checklist e tabelle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RIFORMULARE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finding più chiaro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executive 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GENERARE IPOTESI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domande da verificare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possibili prerequisiti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L’AI può essere molto sicura… e sbagliare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Il tono sicuro non aumenta la qualità dell’evidenza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62940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359152"/>
            <a:ext cx="91440" cy="9144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2359152"/>
            <a:ext cx="91440" cy="9144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2456" y="2359152"/>
            <a:ext cx="91440" cy="914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6263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10" b="0">
                <a:solidFill>
                  <a:srgbClr val="E2E8F0"/>
                </a:solidFill>
                <a:latin typeface="Cascadia Mono"/>
              </a:defRPr>
            </a:pPr>
            <a:r>
              <a:t>AI draft:</a:t>
            </a:r>
            <a:br/>
            <a:r>
              <a:t>"The exposed nginx/1.24.0 banner confirms CVE-2026-99999</a:t>
            </a:r>
            <a:br/>
            <a:r>
              <a:t>and allows unauthenticated RCE on the target."</a:t>
            </a:r>
            <a:br/>
            <a:br/>
            <a:r>
              <a:t>Available evidence:</a:t>
            </a:r>
            <a:br/>
            <a:r>
              <a:t>- Server header only</a:t>
            </a:r>
            <a:br/>
            <a:r>
              <a:t>- no build verification</a:t>
            </a:r>
            <a:br/>
            <a:r>
              <a:t>- no advisory checked</a:t>
            </a:r>
            <a:br/>
            <a:r>
              <a:t>- no exploitability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21284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5915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86F78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6517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banner presente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1012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45643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BE185D"/>
                </a:solidFill>
                <a:latin typeface="Aptos"/>
              </a:defRPr>
            </a:pPr>
            <a:r>
              <a:t>WRONG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749039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“confirms CVE”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0740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455371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D97706"/>
                </a:solidFill>
                <a:latin typeface="Aptos"/>
              </a:defRPr>
            </a:pPr>
            <a:r>
              <a:t>MISSING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8463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fonte primaria + prerequisiti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Human checkpoint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AI output ≠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95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10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24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93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claim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72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26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041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55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23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fonte primaria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029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957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871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86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54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confronta prerequisiti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337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88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702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17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85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verifica sul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64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19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533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447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16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riscrivi solo ciò che regge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517904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LABORATORIO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Mini-lab — Dal finding alla comunicazione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Adesso usiamo il metodo sul dossier.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365760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395728"/>
            <a:ext cx="1005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643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852928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11827"/>
                </a:solidFill>
                <a:latin typeface="Aptos"/>
              </a:defRPr>
            </a:pPr>
            <a:r>
              <a:t>Seguiamo una catena completa: prerequisiti → PoC simulata → contesto → finding → AI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2148840"/>
            <a:ext cx="379476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81728" y="214884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2313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FACCIAMO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2715768"/>
            <a:ext cx="3410712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decidiamo se continuare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costruiamo l’attack path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scriviamo il finding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smontiamo gli overclaim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9952" y="2148840"/>
            <a:ext cx="2697480" cy="3108960"/>
          </a:xfrm>
          <a:prstGeom prst="roundRect">
            <a:avLst/>
          </a:prstGeom>
          <a:solidFill>
            <a:srgbClr val="FFF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2395728"/>
            <a:ext cx="1572768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46430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COSA CONSEGNIAMO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880360"/>
            <a:ext cx="217627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Finding finale + 5 righe di executive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466344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D97706"/>
                </a:solidFill>
                <a:latin typeface="Aptos"/>
              </a:defRPr>
            </a:pPr>
            <a:r>
              <a:t>→ apriamo il sito / dossier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212140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CAPSTONE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Nella prossima giornata lavoriamo quasi senza rete di sicurezza.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Il capstone ci chiederà di scegliere da soli dove spendere tempo e quando fermarci.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Il metodo deve diventare nostro.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3167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CHIUDIAMO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Prima di andare via, dobbiamo riuscire 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Ci interessa il perché delle decisioni, non il numero di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48840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76856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67712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decidere se una PoC aggiunge davvero valore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62072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990088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98094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descrivere il security context dopo un accesso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75304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703320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D9770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9417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trasformare evidenze in finding e priorità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88536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416552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6D28D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4074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usare l’AI come acceleratore verificato, non come autorità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81965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PROSSIMA TAPPA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LA DOMANDA CHE CI PORTIAMO DIETRO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149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900" b="1">
                <a:solidFill>
                  <a:srgbClr val="111827"/>
                </a:solidFill>
                <a:latin typeface="Aptos"/>
              </a:defRPr>
            </a:pPr>
            <a:r>
              <a:t>Davanti a un assessment completo, quale sarà la nostra prima decisione?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104698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4471416"/>
            <a:ext cx="1005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3999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DAY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4407408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Giornata 7 — Capstone UmbraMarket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Remediation: quattro livelli di qualità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La remediation deve essere utile a chi deve implementarla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DEBOLE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“aggiornare il software”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troppo generico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MEGLIO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indica componente e controllo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spiega la causa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15803D"/>
                </a:solidFill>
                <a:latin typeface="Aptos"/>
              </a:defRPr>
            </a:pPr>
            <a:r>
              <a:t>BUONA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azione concreta + verifica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considera regressioni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Fonti primarie da preferire quando verifichiamo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Blog e AI possono aiutare a orientarsi, non a chiudere la verifica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VENDOR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security advisory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release notes / patch notes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CVE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identificatore e riferimenti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versioni / condizioni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DOCUMENTAZIONE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configurazione e prerequisiti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comportamento atteso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Finding debole vs finding difendibile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Un report professionale riduce l’overclaim.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194560"/>
            <a:ext cx="73152" cy="34290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DEBOLE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“Il server è vulnerabile a RCE”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nessun prerequisito dimostrato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impatto copiato da un advisory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194560"/>
            <a:ext cx="73152" cy="3429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DIFENDIBILE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descrive esattamente ciò che abbiamo verificato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separa osservato e inferito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collega remediation alla causa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4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64748B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209397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08 + 09 + 10 + 11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Checklist prima di usare una frase dell’AI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Se una risposta è no, l’AI ci ha dato una pista, non una conclusione.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FONTE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possiamo risalire a una fonte primaria?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la frase è supportata dai nostri test?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la proposta resta dentro il mandato?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