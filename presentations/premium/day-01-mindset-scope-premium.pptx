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23960" y="457200"/>
            <a:ext cx="2560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7200" b="1">
                <a:solidFill>
                  <a:srgbClr val="F1F5F9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713232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7818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3080" y="713232"/>
            <a:ext cx="116128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781812"/>
            <a:ext cx="978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7772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300" b="1">
                <a:solidFill>
                  <a:srgbClr val="111827"/>
                </a:solidFill>
                <a:latin typeface="Aptos"/>
              </a:defRPr>
            </a:pPr>
            <a:r>
              <a:t>Entriamo nel mindset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67004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0">
                <a:solidFill>
                  <a:srgbClr val="374151"/>
                </a:solidFill>
                <a:latin typeface="Aptos"/>
              </a:defRPr>
            </a:pPr>
            <a:r>
              <a:t>Prima di toccare un target dobbiamo imparare a separare fatti, ipotesi, evidenze e confini.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8862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IL NOSTRO PERCORSO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4315968"/>
            <a:ext cx="169164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471416"/>
            <a:ext cx="15453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086F78"/>
                </a:solidFill>
                <a:latin typeface="Aptos"/>
              </a:defRPr>
            </a:pPr>
            <a:r>
              <a:t>osserviamo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4315968"/>
            <a:ext cx="18288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4471416"/>
            <a:ext cx="16824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2563EB"/>
                </a:solidFill>
                <a:latin typeface="Aptos"/>
              </a:defRPr>
            </a:pPr>
            <a:r>
              <a:t>facciamo domande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9704" y="4315968"/>
            <a:ext cx="18288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471416"/>
            <a:ext cx="16824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D97706"/>
                </a:solidFill>
                <a:latin typeface="Aptos"/>
              </a:defRPr>
            </a:pPr>
            <a:r>
              <a:t>definiamo i confini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64808" y="4315968"/>
            <a:ext cx="182880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471416"/>
            <a:ext cx="16824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6D28D9"/>
                </a:solidFill>
                <a:latin typeface="Aptos"/>
              </a:defRPr>
            </a:pPr>
            <a:r>
              <a:t>documentiamo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5230368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64748B"/>
                </a:solidFill>
                <a:latin typeface="Aptos"/>
              </a:defRPr>
            </a:pPr>
            <a:r>
              <a:t>Le slide ci tengono sul filo. Il sito e i dossier ci danno i dettagli quando ci servono.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Oggi facciamo questo percorso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Alterniamo ragionamento, esempi, sito e laboratorio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da dove partiamo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1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3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48456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9896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8456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mindset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8456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come ragioniamo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19088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7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engagement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come lavoriamo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9096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25128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89719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59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kickoff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19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come iniziamo davvero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1605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ALLA FINE CI PORTIAMO VIA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572000"/>
            <a:ext cx="2249424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640580"/>
            <a:ext cx="206654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NOTE STRUTTURATE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45536" y="4572000"/>
            <a:ext cx="1746504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36976" y="4640580"/>
            <a:ext cx="1563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SCOPE &amp; ROE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56632" y="4572000"/>
            <a:ext cx="2450591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48072" y="4640580"/>
            <a:ext cx="2267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DOMANDE AL CLIENTE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4173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RAGIONIAMO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Ci danno un target e ci dicono: «diteci se è sicuro». Da dove iniziamo?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La tentazione è aprire subito uno scanner. Noi facciamo un passo prima.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Prima domanda: che cosa sappiamo davvero?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METODO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Il nostro metodo per tutto il corso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Questa sequenza tornerà in ogni modulo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95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10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124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93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osserviamo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72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126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041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955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23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formuliamo un’ipotesi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029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957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871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54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scegliamo un test minimo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337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788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702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17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885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raccogliamo evidenza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64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19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533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47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16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concludiamo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Fatto. Ipotesi. Evidenza.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Tre categorie per non correre più veloci dei dati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FATTO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qualcosa che abbiamo osservato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lo possiamo mostrare o riprodurre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IPOTESI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una spiegazione plausibile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serve ancora un test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EVIDENZA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ciò che sostiene la conclusione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request, response, output, nota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EVIDENZA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Una response ci dà un indizio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Non trasformiamo un header in una certezza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6629400" cy="33375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359152"/>
            <a:ext cx="91440" cy="91440"/>
          </a:xfrm>
          <a:prstGeom prst="ellipse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2359152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2456" y="2359152"/>
            <a:ext cx="91440" cy="91440"/>
          </a:xfrm>
          <a:prstGeom prst="ellipse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633472"/>
            <a:ext cx="626364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10" b="0">
                <a:solidFill>
                  <a:srgbClr val="E2E8F0"/>
                </a:solidFill>
                <a:latin typeface="Cascadia Mono"/>
              </a:defRPr>
            </a:pPr>
            <a:r>
              <a:t>HTTP/1.1 200 OK</a:t>
            </a:r>
            <a:br/>
            <a:r>
              <a:t>Server: nginx/1.24.0</a:t>
            </a:r>
            <a:br/>
            <a:r>
              <a:t>Set-Cookie: session=demo-alice-7f2a; HttpOnly; Secure</a:t>
            </a:r>
            <a:br/>
            <a:r>
              <a:t>Content-Type: application/json</a:t>
            </a:r>
            <a:br/>
            <a:br/>
            <a:r>
              <a:t>{"user":"alice","role":"customer"}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221284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35915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86F78"/>
                </a:solidFill>
                <a:latin typeface="Aptos"/>
              </a:defRPr>
            </a:pPr>
            <a:r>
              <a:t>FATTO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6517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La risposta dichiara nginx e invia un cookie.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331012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345643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2563EB"/>
                </a:solidFill>
                <a:latin typeface="Aptos"/>
              </a:defRPr>
            </a:pPr>
            <a:r>
              <a:t>IPOTESI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3749039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Quel cookie potrebbe rappresentare una sessione.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440740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455371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D97706"/>
                </a:solidFill>
                <a:latin typeface="Aptos"/>
              </a:defRPr>
            </a:pPr>
            <a:r>
              <a:t>PROSSIMO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484632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Cosa cambia se manca o se cambia?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METODO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508760"/>
            <a:ext cx="146304" cy="24688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5296" y="1426464"/>
            <a:ext cx="9326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111827"/>
                </a:solidFill>
                <a:latin typeface="Aptos"/>
              </a:defRPr>
            </a:pPr>
            <a:r>
              <a:t>Una buona osservazione non è ancora una vulnerabilità.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82112"/>
            <a:ext cx="8961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0">
                <a:solidFill>
                  <a:srgbClr val="374151"/>
                </a:solidFill>
                <a:latin typeface="Aptos"/>
              </a:defRPr>
            </a:pPr>
            <a:r>
              <a:t>Il nostro lavoro è costruire una catena: osservazione → ipotesi → verifica → impatto → finding.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61848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CONFRONTIAMO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Vulnerability Assessment e Penetration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Due attività diverse. Stessa disciplina sulle evidenze.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73152" cy="34290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VULNERABILITY 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cerchiamo debolezze e configurazioni rischiose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validiamo alert e prerequisiti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prioritizziamo in base al contesto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194560"/>
            <a:ext cx="73152" cy="3429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PENETRATION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partiamo da ipotesi di attacco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possiamo usare PoC controllate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misuriamo l’impatto entro scope e RoE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3520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>
                <a:solidFill>
                  <a:srgbClr val="64748B"/>
                </a:solidFill>
                <a:latin typeface="Aptos"/>
              </a:defRPr>
            </a:pPr>
            <a:r>
              <a:t>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Quanto sappiamo all’inizio?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Cambiano le informazioni di partenza, non i limiti dell’autorizzazione.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111827"/>
                </a:solidFill>
                <a:latin typeface="Aptos"/>
              </a:defRPr>
            </a:pPr>
            <a:r>
              <a:t>BLACK BOX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pochissime informazioni iniziali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simuliamo una prospettiva esterna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GREY BOX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alcune informazioni o account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buon compromesso per molti test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WHITE 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molta visibilità interna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codice, architettura, configurazioni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METODO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Un engagement ha un ciclo di vita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Le fasi cambiano; note ed evidenze ci accompagnano dall’inizio alla fine.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95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10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124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93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pre-engagement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72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126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041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955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23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recon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029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957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871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54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assessment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337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788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702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17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885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validation / PoC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64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19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533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47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16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reporting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8196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CLIENT KICKOFF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UmbraMarket ci scrive: «Fateci un pentest e diteci se siamo sicuri».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Questa richiesta è volutamente insufficiente.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Noi cosa chiediamo prima di iniziare?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Cinque cose che dobbiamo rendere chiare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parte “tecnica” inizia già qui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389888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PERIMETRO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host, domini, ambienti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in scope / out of scope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3898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IDENTITÀ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account e ruoli disponibili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test autenticati o anonimi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38988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LIMITI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azioni vietate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DoS, dati reali, persistence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776472"/>
            <a:ext cx="3456432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776472"/>
            <a:ext cx="73152" cy="1389888"/>
          </a:xfrm>
          <a:prstGeom prst="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941063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6D28D9"/>
                </a:solidFill>
                <a:latin typeface="Aptos"/>
              </a:defRPr>
            </a:pPr>
            <a:r>
              <a:t>FINESTRA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370832"/>
            <a:ext cx="3090672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orari, contatti, escalation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cosa succede se qualcosa va storto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61688" y="3776472"/>
            <a:ext cx="3456432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61688" y="3776472"/>
            <a:ext cx="73152" cy="1389888"/>
          </a:xfrm>
          <a:prstGeom prst="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62855" y="3941063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15803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2855" y="4370832"/>
            <a:ext cx="3090672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cosa consegniamo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formato, evidenze e priorità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8196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CLIENT KICKOFF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Trasformiamo una richiesta vaga in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Lo scope deve essere leggibile e verificabile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3467404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04288"/>
            <a:ext cx="32845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Area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53204" y="2148840"/>
            <a:ext cx="3900830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644" y="2304288"/>
            <a:ext cx="371795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Decisione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4035" y="2148840"/>
            <a:ext cx="3467404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5475" y="2304288"/>
            <a:ext cx="32845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Esempio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97480"/>
            <a:ext cx="346740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32845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53204" y="2697480"/>
            <a:ext cx="390083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44644" y="2834640"/>
            <a:ext cx="37179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cosa possiamo testare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4035" y="2697480"/>
            <a:ext cx="346740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5475" y="2834640"/>
            <a:ext cx="32845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shop.umbramarket.lab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319272"/>
            <a:ext cx="3467404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56432"/>
            <a:ext cx="32845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Esclusioni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53204" y="3319272"/>
            <a:ext cx="390083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4644" y="3456432"/>
            <a:ext cx="37179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cosa non tocchiamo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54035" y="3319272"/>
            <a:ext cx="3467404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45475" y="3456432"/>
            <a:ext cx="32845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admin.umbramarket.lab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941064"/>
            <a:ext cx="346740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078224"/>
            <a:ext cx="32845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Account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53204" y="3941064"/>
            <a:ext cx="390083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44644" y="4078224"/>
            <a:ext cx="37179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quali identità usiamo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54035" y="3941064"/>
            <a:ext cx="346740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5475" y="4078224"/>
            <a:ext cx="32845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Alice / Bob demo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4562856"/>
            <a:ext cx="3467404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700016"/>
            <a:ext cx="32845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Tecniche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53204" y="4562856"/>
            <a:ext cx="390083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44644" y="4700016"/>
            <a:ext cx="37179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cosa è consentito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54035" y="4562856"/>
            <a:ext cx="3467404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45475" y="4700016"/>
            <a:ext cx="32845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HTTP test non distruttivi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5184648"/>
            <a:ext cx="346740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321808"/>
            <a:ext cx="32845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53204" y="5184648"/>
            <a:ext cx="390083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44644" y="5321808"/>
            <a:ext cx="37179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cosa consegniamo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54035" y="5184648"/>
            <a:ext cx="346740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45475" y="5321808"/>
            <a:ext cx="32845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finding + evidence + remediation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61848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CONFRONTIAMO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Dove possiamo andare. Dove dobbiamo fermarci.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Un professionista sa anche quando NON continuare.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73152" cy="34290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RULES OF ENGAGEMENT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tecniche consentite e vietate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orari e rate limit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contatti di escalation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gestione di dati e credenziali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194560"/>
            <a:ext cx="73152" cy="3429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STOP CONDITION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abbiamo già la prova minima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rischio di impatto non necessario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siamo fuori scope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il cliente chiede di fermarci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3520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>
                <a:solidFill>
                  <a:srgbClr val="64748B"/>
                </a:solidFill>
                <a:latin typeface="Aptos"/>
              </a:defRPr>
            </a:pPr>
            <a:r>
              <a:t>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517904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LABORATORIO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Ora tocca a noi — Client Kickoff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Adesso usiamo il metodo sul dossier.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365760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2395728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4643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SCENARIO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852928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111827"/>
                </a:solidFill>
                <a:latin typeface="Aptos"/>
              </a:defRPr>
            </a:pPr>
            <a:r>
              <a:t>Siamo il team che riceve il brief iniziale di UmbraMarket. Le informazioni sono incomplete apposta.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1728" y="2148840"/>
            <a:ext cx="379476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81728" y="214884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313432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FACCIAMO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15768"/>
            <a:ext cx="3410712" cy="239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facciamo domande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scriviamo cosa è in/out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definiamo 3 regole operative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decidiamo quando fermarci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9952" y="2148840"/>
            <a:ext cx="2697480" cy="3108960"/>
          </a:xfrm>
          <a:prstGeom prst="roundRect">
            <a:avLst/>
          </a:prstGeom>
          <a:solidFill>
            <a:srgbClr val="FFFB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06840" y="2395728"/>
            <a:ext cx="1572768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246430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COSA CONSEGNIAMO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880360"/>
            <a:ext cx="217627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1 pagina: Scope + RoE + domande ancora aperte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5984" y="4663440"/>
            <a:ext cx="2176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D97706"/>
                </a:solidFill>
                <a:latin typeface="Aptos"/>
              </a:defRPr>
            </a:pPr>
            <a:r>
              <a:t>→ apriamo il sito / dossier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11556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DEBRIEF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Fermiamoci ogni tanto e facciamoci tre domande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Queste tre domande sono il nostro “debugger mentale”.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Cosa sappiamo? · Cosa stiamo assumendo? · Quale evidenza ci manca?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CHIUDIAMO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Prima di andare via, dobbiamo riuscire a…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Ci interessa il perché delle decisioni, non il numero di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148840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276856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086F7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67712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separare fatti, ipotesi ed evidenze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62072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990088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2563EB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980944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spiegare cosa cambia tra VA e 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575304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703320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D9770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69417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fare le domande giuste prima del primo test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288536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4416552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6D28D9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40740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scrivere scope, RoE e stop condition leggibili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8196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PROSSIMA TAPPA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LA DOMANDA CHE CI PORTIAMO DIETRO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149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900" b="1">
                <a:solidFill>
                  <a:srgbClr val="111827"/>
                </a:solidFill>
                <a:latin typeface="Aptos"/>
              </a:defRPr>
            </a:pPr>
            <a:r>
              <a:t>Quando clicchiamo “Login”, che cosa succede davvero tra browser, rete e applicazione?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104698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4471416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3999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DAY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4407408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Giornata 2 — Fondamentali tecnici + Recon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Il reporting inizia dal primo minuto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Più tardi queste note diventeranno finding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NOTA GREZZA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cosa ho fatto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quando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con quale input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EVIDENZA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output conservato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riproducibile da un altro tester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OSSERVAZIONE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cosa posso affermare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senza anticipare la conclusione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Una tabella che useremo per tutto il corso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Semplice, ma potentissima per mantenere il ragionamento pulito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148840"/>
            <a:ext cx="3611879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04288"/>
            <a:ext cx="34289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Tipo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2148840"/>
            <a:ext cx="3611879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2304288"/>
            <a:ext cx="34289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Esempio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59" y="2148840"/>
            <a:ext cx="3611879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0999" y="2304288"/>
            <a:ext cx="342899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Stato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697480"/>
            <a:ext cx="3611879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834640"/>
            <a:ext cx="34289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FACT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79" y="2697480"/>
            <a:ext cx="3611879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19" y="2834640"/>
            <a:ext cx="34289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200 OK con cookie session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59" y="2697480"/>
            <a:ext cx="3611879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0999" y="2834640"/>
            <a:ext cx="34289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observed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319272"/>
            <a:ext cx="3611879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456432"/>
            <a:ext cx="34289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HYPOTHESIS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79" y="3319272"/>
            <a:ext cx="3611879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19" y="3456432"/>
            <a:ext cx="34289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cookie usato per autenticazione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09559" y="3319272"/>
            <a:ext cx="3611879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0999" y="3456432"/>
            <a:ext cx="34289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unverified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3941064"/>
            <a:ext cx="3611879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078224"/>
            <a:ext cx="34289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97679" y="3941064"/>
            <a:ext cx="3611879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19" y="4078224"/>
            <a:ext cx="34289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cosa succede senza cookie?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09559" y="3941064"/>
            <a:ext cx="3611879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00999" y="4078224"/>
            <a:ext cx="34289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next test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10881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9052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00 + 01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Quanto è forte la nostra evidenza?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conclusione non deve essere più forte dell’evidenza che la sostiene.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BE185D"/>
          </a:solidFill>
          <a:ln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BE185D"/>
                </a:solidFill>
                <a:latin typeface="Aptos"/>
              </a:defRPr>
            </a:pPr>
            <a:r>
              <a:t>DEBOLE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una sola osservazione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non ripetuta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MEDIA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comportamento riproducibile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ma causa ancora incerta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15803D"/>
                </a:solidFill>
                <a:latin typeface="Aptos"/>
              </a:defRPr>
            </a:pPr>
            <a:r>
              <a:t>FORTE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baseline + variazione controllata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risultato coerente e ripetibile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