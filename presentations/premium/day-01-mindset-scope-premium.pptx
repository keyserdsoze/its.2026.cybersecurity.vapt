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749808"/>
            <a:ext cx="1170432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822959"/>
            <a:ext cx="950976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53312"/>
            <a:ext cx="7680960" cy="1508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100" b="1">
                <a:solidFill>
                  <a:srgbClr val="111827"/>
                </a:solidFill>
              </a:defRPr>
            </a:pPr>
            <a:r>
              <a:t>Giornata 1 — Mindset, incarico e scope</a:t>
            </a:r>
          </a:p>
          <a:p>
            <a:pPr>
              <a:defRPr sz="1700">
                <a:solidFill>
                  <a:srgbClr val="374151"/>
                </a:solidFill>
              </a:defRPr>
            </a:pPr>
            <a:r>
              <a:t>Facts, hypotheses, scope e Rules of Engagement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6656" y="2999232"/>
            <a:ext cx="228600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3072384"/>
            <a:ext cx="206654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MODULI • 00 + 01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50">
                <a:solidFill>
                  <a:srgbClr val="64748B"/>
                </a:solidFill>
              </a:defRPr>
            </a:pPr>
            <a:r>
              <a:t>Slide premium da proiezione: pochi testi, gerarchia chiara, alternanza naturale con il sito del corso.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0" y="182880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828800"/>
            <a:ext cx="100584" cy="822960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41080" y="208483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lezione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288036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21040" y="2880360"/>
            <a:ext cx="100584" cy="822960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41080" y="3136391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laboratorio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3931920"/>
            <a:ext cx="2834640" cy="8229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3931920"/>
            <a:ext cx="100584" cy="822960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41080" y="4187952"/>
            <a:ext cx="2194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debrief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Roadmap della giornata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Struttura del tempo e deliverable principali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13232" y="1645920"/>
            <a:ext cx="2670048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baseline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livello iniziale e linguaggio comune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645920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80" y="1645920"/>
            <a:ext cx="2670048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1810512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mindset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facts, hypotheses,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2" y="2999232"/>
            <a:ext cx="2670048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6112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engagement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cosa significa fare un VAPT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11880" y="2999232"/>
            <a:ext cx="2670048" cy="102412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11880" y="2999232"/>
            <a:ext cx="2670048" cy="731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4760" y="3163824"/>
            <a:ext cx="2194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11827"/>
                </a:solidFill>
              </a:defRPr>
            </a:pPr>
            <a:r>
              <a:t>client kickoff</a:t>
            </a:r>
          </a:p>
          <a:p>
            <a:pPr>
              <a:defRPr sz="1150">
                <a:solidFill>
                  <a:srgbClr val="64748B"/>
                </a:solidFill>
              </a:defRPr>
            </a:pPr>
            <a:r>
              <a:t>scope, limiti e deliverable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58200" y="1600200"/>
            <a:ext cx="2971800" cy="356616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05088" y="1828800"/>
            <a:ext cx="246888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Output della giornata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Facts / Hypotheses / Questions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Scope &amp; RoE</a:t>
            </a:r>
          </a:p>
          <a:p>
            <a:pPr>
              <a:defRPr sz="1300">
                <a:solidFill>
                  <a:srgbClr val="111827"/>
                </a:solidFill>
              </a:defRPr>
            </a:pPr>
            <a:r>
              <a:t>• Kickoff notes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65836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731519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Rectangle 5"/>
          <p:cNvSpPr/>
          <p:nvPr/>
        </p:nvSpPr>
        <p:spPr>
          <a:xfrm>
            <a:off x="987552" y="1755648"/>
            <a:ext cx="164592" cy="2194560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1719072"/>
            <a:ext cx="896112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11827"/>
                </a:solidFill>
              </a:defRPr>
            </a:pPr>
            <a:r>
              <a:t>Il corso non insegna a lanciare tool. Insegna a prendere decisioni tecniche supportate da evidenze.</a:t>
            </a:r>
          </a:p>
          <a:p>
            <a:pPr>
              <a:defRPr sz="1400">
                <a:solidFill>
                  <a:srgbClr val="64748B"/>
                </a:solidFill>
              </a:defRPr>
            </a:pPr>
            <a:r>
              <a:t>La frase-guida della prima giornata.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Tre parole chiave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Separare ciò che so da ciò che sto solo ipotizzando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fact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osservazione supportata da evidenza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hypothesis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spiegazione plausibile ma non ancora provata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evidence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ciò che sostiene una conclusione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Come ragiona un pentester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Metodo generale del corso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1903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1631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osservo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89807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54399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4127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ipotesi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72303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3689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662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test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4799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019391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9119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evidenza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37295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01887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1615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conclusione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VA vs Penetration Test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Due attività diverse, stesso rigore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737360"/>
            <a:ext cx="3480816" cy="73152"/>
          </a:xfrm>
          <a:prstGeom prst="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0B5E7E"/>
                </a:solidFill>
              </a:defRPr>
            </a:pPr>
            <a:r>
              <a:t>VA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identifica e prioritizza debolezze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non sempre richiede exploitation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6072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6072" y="1737360"/>
            <a:ext cx="3480816" cy="73152"/>
          </a:xfrm>
          <a:prstGeom prst="rect">
            <a:avLst/>
          </a:prstGeom>
          <a:solidFill>
            <a:srgbClr val="2563EB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0664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2563EB"/>
                </a:solidFill>
              </a:defRPr>
            </a:pPr>
            <a:r>
              <a:t>PT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verifica impatto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può includere PoC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6344" y="1737360"/>
            <a:ext cx="3480816" cy="1755648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86344" y="1737360"/>
            <a:ext cx="3480816" cy="73152"/>
          </a:xfrm>
          <a:prstGeom prst="rect">
            <a:avLst/>
          </a:prstGeom>
          <a:solidFill>
            <a:srgbClr val="F59E0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0936" y="1883664"/>
            <a:ext cx="3206496" cy="15727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59E0B"/>
                </a:solidFill>
              </a:defRPr>
            </a:pPr>
            <a:r>
              <a:t>obiettivo comune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capire il rischio</a:t>
            </a:r>
          </a:p>
          <a:p>
            <a:pPr>
              <a:defRPr sz="1230">
                <a:solidFill>
                  <a:srgbClr val="111827"/>
                </a:solidFill>
              </a:defRPr>
            </a:pPr>
            <a:r>
              <a:t>• aiutare a correggere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Kickoff con il cliente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Il lavoro professionale parte prima dei test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B5E7E"/>
                </a:solidFill>
              </a:defRPr>
            </a:pPr>
            <a:r>
              <a:t>domande da fare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perimetro autorizzato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domini / host / ambienti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account e ruoli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out of scope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contatti ed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16752" y="1783080"/>
            <a:ext cx="457200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993392"/>
            <a:ext cx="4133087" cy="3611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563EB"/>
                </a:solidFill>
              </a:defRPr>
            </a:pPr>
            <a:r>
              <a:t>cose da chiarire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exploitation consentita?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DoS / distruttivi vietati?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dati reali o test?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deliverable attesi?</a:t>
            </a:r>
          </a:p>
          <a:p>
            <a:pPr>
              <a:defRPr sz="1280">
                <a:solidFill>
                  <a:srgbClr val="111827"/>
                </a:solidFill>
              </a:defRPr>
            </a:pPr>
            <a:r>
              <a:t>• stop condition?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Client Kickoff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Trasformare una richiesta vaga in un incarico gestibile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71903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81631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brief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89807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54399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64127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domande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172303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336895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6623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scope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854799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019391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9119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RoE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537295" y="2880360"/>
            <a:ext cx="164592" cy="0"/>
          </a:xfrm>
          <a:prstGeom prst="line">
            <a:avLst/>
          </a:prstGeom>
          <a:ln w="2540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701887" y="2423160"/>
            <a:ext cx="1517904" cy="91440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11615" y="2734056"/>
            <a:ext cx="1298448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50" b="1">
                <a:solidFill>
                  <a:srgbClr val="111827"/>
                </a:solidFill>
              </a:defRPr>
            </a:pPr>
            <a:r>
              <a:t>deliverable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Cosa devono portarsi via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Deliverable della giornata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" y="1783080"/>
            <a:ext cx="10561320" cy="406908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57400"/>
            <a:ext cx="987552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50">
                <a:solidFill>
                  <a:srgbClr val="111827"/>
                </a:solidFill>
              </a:defRPr>
            </a:pPr>
            <a:r>
              <a:t>☐ distinguere facts, hypotheses ed evidence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spiegare VA vs PT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fare domande prima di toccare un target</a:t>
            </a:r>
          </a:p>
          <a:p>
            <a:pPr>
              <a:defRPr sz="1550">
                <a:solidFill>
                  <a:srgbClr val="111827"/>
                </a:solidFill>
              </a:defRPr>
            </a:pPr>
            <a:r>
              <a:t>☐ scrivere scope e RoE minime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-137160"/>
            <a:ext cx="274320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11480" y="5394960"/>
            <a:ext cx="2468880" cy="1645920"/>
          </a:xfrm>
          <a:prstGeom prst="ellipse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566928"/>
            <a:ext cx="1051560" cy="347472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640080"/>
            <a:ext cx="832103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B5E7E"/>
                </a:solidFill>
              </a:defRPr>
            </a:pPr>
            <a:r>
              <a:t>DAY 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530352"/>
            <a:ext cx="146304" cy="749808"/>
          </a:xfrm>
          <a:prstGeom prst="roundRect">
            <a:avLst/>
          </a:prstGeom>
          <a:solidFill>
            <a:srgbClr val="0B5E7E"/>
          </a:solidFill>
          <a:ln>
            <a:solidFill>
              <a:srgbClr val="0B5E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950976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11827"/>
                </a:solidFill>
              </a:defRPr>
            </a:pPr>
            <a:r>
              <a:t>Quando passare al sito del corso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Le slide danno ritmo. Il sito contiene i dettagli operativi.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6112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B5E7E"/>
                </a:solidFill>
              </a:defRPr>
            </a:pPr>
            <a:r>
              <a:t>QUI IN SLIDE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ritmo della giornata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concetti chiave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mappe e diagrammi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output attesi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6864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563EB"/>
                </a:solidFill>
              </a:defRPr>
            </a:pPr>
            <a:r>
              <a:t>SUL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lezione completa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dossier di laboratorio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artefatti e request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quiz e 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1828800"/>
            <a:ext cx="3154680" cy="3520440"/>
          </a:xfrm>
          <a:prstGeom prst="roundRect">
            <a:avLst/>
          </a:prstGeom>
          <a:solidFill>
            <a:srgbClr val="F7FA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57616" y="2057400"/>
            <a:ext cx="2743200" cy="2926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59E0B"/>
                </a:solidFill>
              </a:defRPr>
            </a:pPr>
            <a:r>
              <a:t>DURANTE IL LAB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consultare il sito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annotare nel taccuino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chiedere evidenze, non solo risposte</a:t>
            </a:r>
          </a:p>
          <a:p>
            <a:pPr>
              <a:defRPr sz="1260">
                <a:solidFill>
                  <a:srgbClr val="111827"/>
                </a:solidFill>
              </a:defRPr>
            </a:pPr>
            <a:r>
              <a:t>• usare i deliverable come guida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6245352"/>
            <a:ext cx="11064240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6309360"/>
            <a:ext cx="6400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ITS Umbria • VAPT 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0" y="6254496"/>
            <a:ext cx="502920" cy="292608"/>
          </a:xfrm>
          <a:prstGeom prst="roundRect">
            <a:avLst/>
          </a:prstGeom>
          <a:solidFill>
            <a:srgbClr val="F1F5F9"/>
          </a:solidFill>
          <a:ln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045952" y="6300216"/>
            <a:ext cx="3657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0B5E7E"/>
                </a:solidFill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