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23960" y="457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7200" b="1">
                <a:solidFill>
                  <a:srgbClr val="F1F5F9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713232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818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713232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78181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300" b="1">
                <a:solidFill>
                  <a:srgbClr val="111827"/>
                </a:solidFill>
                <a:latin typeface="Aptos"/>
              </a:defRPr>
            </a:pPr>
            <a:r>
              <a:t>Authentication, Authorization &amp; API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67004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0">
                <a:solidFill>
                  <a:srgbClr val="374151"/>
                </a:solidFill>
                <a:latin typeface="Aptos"/>
              </a:defRPr>
            </a:pPr>
            <a:r>
              <a:t>Seguiamo l’identità attraverso sessioni e token, poi verifichiamo se il server protegge davvero ogni oggetto e funzione.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IL NOSTRO PERCORSO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086F78"/>
                </a:solidFill>
                <a:latin typeface="Aptos"/>
              </a:defRPr>
            </a:pPr>
            <a:r>
              <a:t>identifichiamo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5635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4507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07659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2563EB"/>
                </a:solidFill>
                <a:latin typeface="Aptos"/>
              </a:defRPr>
            </a:pPr>
            <a:r>
              <a:t>manteniamo la sessione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3486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2358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10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D97706"/>
                </a:solidFill>
                <a:latin typeface="Aptos"/>
              </a:defRPr>
            </a:pPr>
            <a:r>
              <a:t>autorizziamo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1337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0209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3361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6D28D9"/>
                </a:solidFill>
                <a:latin typeface="Aptos"/>
              </a:defRPr>
            </a:pPr>
            <a:r>
              <a:t>confrontiamo utenti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230368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64748B"/>
                </a:solidFill>
                <a:latin typeface="Aptos"/>
              </a:defRPr>
            </a:pPr>
            <a:r>
              <a:t>Le slide ci tengono sul filo. Il sito e i dossier ci danno i dettagli quando ci servono.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Oggi facciamo questo percorso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Alterniamo ragionamento, esempi, sito e laboratorio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authn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chi siamo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1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48456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come restiamo riconosciuti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19088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authz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possiamo fare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5128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19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su quale oggetto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ALLA FINE CI PORTIAMO VIA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572000"/>
            <a:ext cx="150876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640580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API MAP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04872" y="4572000"/>
            <a:ext cx="2551176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6312" y="4640580"/>
            <a:ext cx="23682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CROSS-USER EVIDENCE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0" y="4572000"/>
            <a:ext cx="285292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79" y="4640580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ACCESS-CONTROL FINDING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Tre concetti che non dobbiamo confondere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Essere autenticati non significa essere autorizzati a tutto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verifica l’identità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es: login riuscito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SESSION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lega richieste successive all’utente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cookie o token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AUTHORIZATION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decide azione + oggetto + ruolo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è il cuore dei test di access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 login, visto come flusso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Dopo il login iniziano molte domande interessanti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10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24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3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credenziali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72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26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041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55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23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verifica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02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57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54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session / 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3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788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702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17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85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request successiva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64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19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33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47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16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decisione 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Cookie di sessione: attributi che osserviamo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Sono controlli importanti, ma non sostituiscono l’autorizzazione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Secure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inviato solo su HTTPS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riduce esposizione su HTTP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HttpOnly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accessibile a JavaScript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mitiga alcuni scenari XSS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SameSite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controlla invio cross-site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aiuta contro alcuni scenari CSRF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JWT: leggibile non significa fidato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Il server deve verificare la firma e decidere cosa usare per autorizzare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eyJhbGciOiJIUzI1NiJ9</a:t>
            </a:r>
            <a:br/>
            <a:r>
              <a:t>.eyJzdWIiOiIxMDEiLCJyb2xlIjoiY3VzdG9tZXIifQ</a:t>
            </a:r>
            <a:br/>
            <a:r>
              <a:t>.signature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HEADER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algoritmo e metadata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PAYLOAD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claim: sub, role, exp…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SIGNATURE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integrità / autenticità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Access control: tre famiglie che vedremo spesso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decisione deve essere server-side, ogni volta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ORIZZONTALE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Alice accede ai dati di Bob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stesso ruolo, oggetto diverso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VERTICALE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utente standard usa funzioni admin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ruolo diverso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FUNCTION LEVEL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endpoint sensibile invocabile direttamente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la UI non è un controllo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Two Users, One Object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Cambiamo una sola variabile: l’object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10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24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3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Alice → 1001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72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26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041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55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23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Bob → 1002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02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57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54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Alice → 1002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3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788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702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17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85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server 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64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19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33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47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16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noi osserviamo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La prova minima di un problema di authorization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 questo punto abbiamo già una stop condition sensata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GET /api/orders/1002 HTTP/1.1</a:t>
            </a:r>
            <a:br/>
            <a:r>
              <a:t>Host: shop.umbramarket.lab</a:t>
            </a:r>
            <a:br/>
            <a:r>
              <a:t>Cookie: session=demo-alice</a:t>
            </a:r>
            <a:br/>
            <a:br/>
            <a:r>
              <a:t>HTTP/1.1 200 OK</a:t>
            </a:r>
            <a:br/>
            <a:br/>
            <a:r>
              <a:t>{"orderId":1002,"owner":"Bob Demo","total":129.00}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IDENTITÀ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Alice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OGGETTO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ordine di Bob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BE185D"/>
                </a:solidFill>
                <a:latin typeface="Aptos"/>
              </a:defRPr>
            </a:pPr>
            <a:r>
              <a:t>DECISIONE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server restituisce 200 + dati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Authorization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matrice ci dice cosa dovrebbe accadere prima di testarlo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169970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04288"/>
            <a:ext cx="15168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Endpoint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85508" y="2148840"/>
            <a:ext cx="169970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6948" y="2304288"/>
            <a:ext cx="15168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85216" y="2148840"/>
            <a:ext cx="169970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6656" y="2304288"/>
            <a:ext cx="15168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84924" y="2148840"/>
            <a:ext cx="169970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76364" y="2304288"/>
            <a:ext cx="15168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Bob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84632" y="2148840"/>
            <a:ext cx="169970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76072" y="2304288"/>
            <a:ext cx="15168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4341" y="2148840"/>
            <a:ext cx="233709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5781" y="2304288"/>
            <a:ext cx="215421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Object rule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697480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834640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/api/me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85508" y="2697480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6948" y="2834640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read self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85216" y="2697480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76656" y="2834640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84924" y="2697480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6364" y="2834640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84632" y="2697480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76072" y="2834640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84341" y="2697480"/>
            <a:ext cx="233709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75781" y="2834640"/>
            <a:ext cx="215421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self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319272"/>
            <a:ext cx="169970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456432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/api/orders/{id}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85508" y="3319272"/>
            <a:ext cx="169970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6948" y="3456432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read order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85216" y="3319272"/>
            <a:ext cx="169970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6656" y="3456432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own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84924" y="3319272"/>
            <a:ext cx="169970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6364" y="3456432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own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84632" y="3319272"/>
            <a:ext cx="169970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76072" y="3456432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all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4341" y="3319272"/>
            <a:ext cx="233709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75781" y="3456432"/>
            <a:ext cx="215421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owner or admin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3941064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078224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/api/admin/users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85508" y="3941064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6948" y="4078224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manage users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85216" y="3941064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76656" y="4078224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84924" y="3941064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76364" y="4078224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84632" y="3941064"/>
            <a:ext cx="169970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76072" y="4078224"/>
            <a:ext cx="15168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84341" y="3941064"/>
            <a:ext cx="233709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75781" y="4078224"/>
            <a:ext cx="215421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admin only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API: cosa guardiamo oltre all’object 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Non memorizziamo una Top 10: costruiamo domande dal modello dell’API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FUNCTION AUTHZ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metodi / endpoint privilegiati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chi può chiamarli?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PROPERTY AUTHZ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campi leggibili o modificabili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mass assignment / excessive data exposure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RESOURCE CONTROLS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rate / pagination / size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abuso di risorse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AUTHENTICATION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token lifecycle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session expiry e revoca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CONFRONTIAMO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UI e server non hanno lo stesso ruolo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“Il bottone non c’è” non è un controllo di sicurezza.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UI /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può nascondere bottoni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può evitare di mostrare certe funzioni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è sotto il controllo dell’utente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deve verificare identità e permessi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deve proteggere ogni oggetto e azione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è il punto in cui l’autorizzazione conta davvero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Laboratorio — Two Users, One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Adesso usiamo il metodo sul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365760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395728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643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111827"/>
                </a:solidFill>
                <a:latin typeface="Aptos"/>
              </a:defRPr>
            </a:pPr>
            <a:r>
              <a:t>Abbiamo due account demo e due ordini. Confrontiamo prima i flussi legittimi, poi cambiamo solo l’ID dell’ordine.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2148840"/>
            <a:ext cx="379476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81728" y="214884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31343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FACCIAMO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15768"/>
            <a:ext cx="3410712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mappiamo identità e oggetto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definiamo expected behavior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eseguiamo il cross-user test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ci fermiamo alla prova minima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148840"/>
            <a:ext cx="2697480" cy="3108960"/>
          </a:xfrm>
          <a:prstGeom prst="roundRect">
            <a:avLst/>
          </a:prstGeom>
          <a:solidFill>
            <a:srgbClr val="FFFB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395728"/>
            <a:ext cx="157276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46430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880360"/>
            <a:ext cx="21762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Finding BOLA / IDOR + request / response essenziali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D97706"/>
                </a:solidFill>
                <a:latin typeface="Aptos"/>
              </a:defRPr>
            </a:pPr>
            <a:r>
              <a:t>→ apriamo il sito / dossier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11556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Quanta prova ci serve?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Se Alice legge un ordine di Bob, non serve enumerare 1000 ID per “essere più sicuri”.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Il rischio è già dimostrato. Ora documentiamo.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CHIUDIAMO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Prima di andare via, dobbiamo riuscire 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interessa il perché delle decisioni, non il numero di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48840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276856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086F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distinguere authentication, session e authorization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62072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990088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2563E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809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definire expected behavior prima del test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575304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03320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D9770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941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testare access control confrontando utenti, ruoli e oggetti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88536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416552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6D28D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4074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fermarsi quando una PoC minima dimostra il rischio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PROSSIMA TAPPA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LA DOMANDA CHE CI PORTIAMO DIETRO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900" b="1">
                <a:solidFill>
                  <a:srgbClr val="111827"/>
                </a:solidFill>
                <a:latin typeface="Aptos"/>
              </a:defRPr>
            </a:pPr>
            <a:r>
              <a:t>Quando una vulnerabilità è confermata, quando vale davvero la pena fare una PoC più profonda?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4698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471416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3999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40740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Giornata 6 — Exploitation, Post-Exploitation, Reporting &amp;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Token lifecycle: domande utili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Non testiamo “il JWT”: testiamo il comportamento della sessione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SCADENZA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quanto dura?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succede dopo exp?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REVOCA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logout invalida davvero?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token rubato rimane valido?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ROTATION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refresh token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riuso / replay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BOLA, IDOR: nomi diversi, stessa domanda pratica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terminologia aiuta dopo; il modello mentale viene prima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OGGETTO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quale record / risorsa sto chiedendo?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IDENTITÀ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chi sta facendo la richiesta?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CONTROLLO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il server collega davvero le due cose?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Una matrice semplice per i test di authorization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Definire l’expected behavior prima del test rende l’evidenza molto più forte.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48840"/>
            <a:ext cx="216712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04288"/>
            <a:ext cx="1984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Identità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2148840"/>
            <a:ext cx="216712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44368" y="2304288"/>
            <a:ext cx="1984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Azione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2148840"/>
            <a:ext cx="216712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2304288"/>
            <a:ext cx="1984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Oggetto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87184" y="2148840"/>
            <a:ext cx="216712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4" y="2304288"/>
            <a:ext cx="1984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Expected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2148840"/>
            <a:ext cx="2167128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5752" y="2304288"/>
            <a:ext cx="19842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Observed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697480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83464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Alice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28" y="2697480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44368" y="283464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0056" y="2697480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1496" y="283464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ordine Alice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87184" y="2697480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8624" y="283464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200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54312" y="2697480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45752" y="2834640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319272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456432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Alice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52928" y="3319272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3456432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0056" y="3319272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11496" y="3456432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ordine Bob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87184" y="3319272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8624" y="3456432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403 / 404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54312" y="3319272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45752" y="3456432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3941064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4078224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Bob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52928" y="3941064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44368" y="4078224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0056" y="3941064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11496" y="4078224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ordine Alice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87184" y="3941064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78624" y="4078224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403 / 404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54312" y="3941064"/>
            <a:ext cx="2167128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45752" y="4078224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5800" y="4562856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4700016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Admin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52928" y="4562856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44368" y="4700016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0056" y="4562856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11496" y="4700016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ordine Alice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87184" y="4562856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78624" y="4700016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dipende dal modello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54312" y="4562856"/>
            <a:ext cx="216712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45752" y="4700016"/>
            <a:ext cx="19842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