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23960" y="457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7200" b="1">
                <a:solidFill>
                  <a:srgbClr val="F1F5F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713232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8181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713232"/>
            <a:ext cx="11612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781812"/>
            <a:ext cx="9784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7772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300" b="1">
                <a:solidFill>
                  <a:srgbClr val="111827"/>
                </a:solidFill>
                <a:latin typeface="Aptos"/>
              </a:defRPr>
            </a:pPr>
            <a:r>
              <a:t>Dall’alert alla superficie applicativa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7004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0">
                <a:solidFill>
                  <a:srgbClr val="374151"/>
                </a:solidFill>
                <a:latin typeface="Aptos"/>
              </a:defRPr>
            </a:pPr>
            <a:r>
              <a:t>Impariamo a validare ciò che uno scanner suggerisce e a mappare una web app prima di testarla.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886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IL NOSTRO PERCORSO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4315968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47141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086F78"/>
                </a:solidFill>
                <a:latin typeface="Aptos"/>
              </a:defRPr>
            </a:pPr>
            <a:r>
              <a:t>scansioniamo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4315968"/>
            <a:ext cx="158191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4471416"/>
            <a:ext cx="14356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2563EB"/>
                </a:solidFill>
                <a:latin typeface="Aptos"/>
              </a:defRPr>
            </a:pPr>
            <a:r>
              <a:t>validiamo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4315968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447141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D97706"/>
                </a:solidFill>
                <a:latin typeface="Aptos"/>
              </a:defRPr>
            </a:pPr>
            <a:r>
              <a:t>osserviamo il traffico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315968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471416"/>
            <a:ext cx="16824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6D28D9"/>
                </a:solidFill>
                <a:latin typeface="Aptos"/>
              </a:defRPr>
            </a:pPr>
            <a:r>
              <a:t>mappiamo l’app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230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64748B"/>
                </a:solidFill>
                <a:latin typeface="Aptos"/>
              </a:defRPr>
            </a:pPr>
            <a:r>
              <a:t>Le slide ci tengono sul filo. Il sito e i dossier ci danno i dettagli quando ci servono.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Oggi facciamo questo percorso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Alterniamo ragionamento, esempi, sito e laboratorio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cosa segnala il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1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3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48456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cosa regge davvero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19088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7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proxy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cosa fa l’app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25128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19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mapping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dove vale testare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605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ALLA FINE CI PORTIAMO VIA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72000"/>
            <a:ext cx="2249424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640580"/>
            <a:ext cx="206654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VALIDATION 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45536" y="4572000"/>
            <a:ext cx="150876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6976" y="464058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WEB MAP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18888" y="4572000"/>
            <a:ext cx="2048256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10328" y="4640580"/>
            <a:ext cx="18653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NEXT-TEST LIST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08760"/>
            <a:ext cx="146304" cy="246888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1426464"/>
            <a:ext cx="9326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111827"/>
                </a:solidFill>
                <a:latin typeface="Aptos"/>
              </a:defRPr>
            </a:pPr>
            <a:r>
              <a:t>Uno scanner produce ipotesi ad alta velocità.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82112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374151"/>
                </a:solidFill>
                <a:latin typeface="Aptos"/>
              </a:defRPr>
            </a:pPr>
            <a:r>
              <a:t>Un Vulnerability Assessment trasforma quelle ipotesi in conclusioni supportate da evidenze.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METODO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Da alert a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La severity del tool è solo un punto di partenza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0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94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09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7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567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11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125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40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08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87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42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956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70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39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prerequisiti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183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87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01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70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verifica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49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03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618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32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00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contesto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799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534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448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63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31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conclusione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CVE, CWE e CVSS: usiamoli per il motivo giusto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Sigle utili, ma non sostituiscono la validazione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CVE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identifica una vulnerabilità nota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serve una corrispondenza reale col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CWE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descrive una classe di debolezza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aiuta a capire la causa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CVSS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stima severity tecnica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non conosce il business del cliente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Lo scanner vede un banner e salta a una conclusione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L’overclaim è uno degli errori più facili da commettere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62940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359152"/>
            <a:ext cx="91440" cy="9144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2359152"/>
            <a:ext cx="91440" cy="9144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2456" y="2359152"/>
            <a:ext cx="91440" cy="914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6263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10" b="0">
                <a:solidFill>
                  <a:srgbClr val="E2E8F0"/>
                </a:solidFill>
                <a:latin typeface="Cascadia Mono"/>
              </a:defRPr>
            </a:pPr>
            <a:r>
              <a:t>[HIGH] Outdated Web Server Version</a:t>
            </a:r>
            <a:br/>
            <a:r>
              <a:t>Target: shop.umbramarket.lab</a:t>
            </a:r>
            <a:br/>
            <a:r>
              <a:t>Evidence: Server: nginx/1.24.0</a:t>
            </a:r>
            <a:br/>
            <a:r>
              <a:t>Claim: Remote Code Execution possible</a:t>
            </a:r>
            <a:br/>
            <a:r>
              <a:t>Confidence: 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21284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5915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86F78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6517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solo il banner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1012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45643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2563EB"/>
                </a:solidFill>
                <a:latin typeface="Aptos"/>
              </a:defRPr>
            </a:pPr>
            <a:r>
              <a:t>MANCA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749039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build reale + prerequisiti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0740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455371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D97706"/>
                </a:solidFill>
                <a:latin typeface="Aptos"/>
              </a:defRPr>
            </a:pPr>
            <a:r>
              <a:t>DECISIONE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8463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non è ancora un finding RCE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False positive e false negative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Automazione e ragionamento si completano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BE185D"/>
          </a:solidFill>
          <a:ln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BE185D"/>
                </a:solidFill>
                <a:latin typeface="Aptos"/>
              </a:defRPr>
            </a:pPr>
            <a:r>
              <a:t>FALSE 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il tool segnala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il problema non è presente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FALSE NEGATIVE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il problema esiste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il tool non lo vede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15803D"/>
                </a:solidFill>
                <a:latin typeface="Aptos"/>
              </a:defRPr>
            </a:pPr>
            <a:r>
              <a:t>CONSEGUENZA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serve validazione umana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 serve anche testing manuale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Una validation table che possiamo difendere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Lo status deve riflettere quello che sappiamo oggi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48840"/>
            <a:ext cx="1805939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04288"/>
            <a:ext cx="16230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91739" y="2148840"/>
            <a:ext cx="1805939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3179" y="2304288"/>
            <a:ext cx="16230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148840"/>
            <a:ext cx="2934652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19" y="2304288"/>
            <a:ext cx="27517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Prerequisites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2332" y="2148840"/>
            <a:ext cx="1805939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23772" y="2304288"/>
            <a:ext cx="16230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38272" y="2148840"/>
            <a:ext cx="2483167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9712" y="2304288"/>
            <a:ext cx="23002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Next action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697480"/>
            <a:ext cx="1805939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834640"/>
            <a:ext cx="16230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old nginx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91739" y="2697480"/>
            <a:ext cx="1805939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83179" y="2834640"/>
            <a:ext cx="16230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banner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2697480"/>
            <a:ext cx="2934652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19" y="2834640"/>
            <a:ext cx="27517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exact build?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32332" y="2697480"/>
            <a:ext cx="1805939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23772" y="2834640"/>
            <a:ext cx="16230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unverified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8272" y="2697480"/>
            <a:ext cx="2483167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9712" y="2834640"/>
            <a:ext cx="23002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manual verify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319272"/>
            <a:ext cx="1805939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456432"/>
            <a:ext cx="16230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missing CSP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91739" y="3319272"/>
            <a:ext cx="1805939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83179" y="3456432"/>
            <a:ext cx="16230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header absent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79" y="3319272"/>
            <a:ext cx="2934652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19" y="3456432"/>
            <a:ext cx="27517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impact chain?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32332" y="3319272"/>
            <a:ext cx="1805939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23772" y="3456432"/>
            <a:ext cx="16230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confirmed config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38272" y="3319272"/>
            <a:ext cx="2483167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29712" y="3456432"/>
            <a:ext cx="23002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contextualize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3941064"/>
            <a:ext cx="1805939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078224"/>
            <a:ext cx="16230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admin exposed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91739" y="3941064"/>
            <a:ext cx="1805939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83179" y="4078224"/>
            <a:ext cx="16230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external link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79" y="3941064"/>
            <a:ext cx="2934652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19" y="4078224"/>
            <a:ext cx="27517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scope?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32332" y="3941064"/>
            <a:ext cx="1805939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23772" y="4078224"/>
            <a:ext cx="16230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out of scope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38272" y="3941064"/>
            <a:ext cx="2483167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29712" y="4078224"/>
            <a:ext cx="23002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do not test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517904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WEB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E quando passiamo alla web app, da dove iniziamo?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Non dalla lista OWASP. Prima dobbiamo capire cosa fa l’app.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Mappiamo funzioni, utenti, oggetti e transizioni.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517904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WEB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Il proxy ci mette in mezzo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Possiamo osservare e cambiare una variabile per volta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0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94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09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7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567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11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125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40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08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87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42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956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70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39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183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87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01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70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49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03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618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32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00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799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534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448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63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31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replay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In ogni funzione cerchiamo quattro cose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Questa mappa genera naturalmente i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389888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AZIONE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visualizza, crea, modifica, elimina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cosa cambia davvero?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148840"/>
            <a:ext cx="73152" cy="13898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OGGETTO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ordine, profilo, ticket, file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come viene identificato?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76472"/>
            <a:ext cx="73152" cy="13898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IDENTITÀ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anonimo, Alice, Bob, admin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chi sta facendo la richiesta?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776472"/>
            <a:ext cx="73152" cy="1389888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6D28D9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path, query, JSON, header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cosa possiamo controllare?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Una funzione, vista dal traffico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Non serve attaccare subito: basta saper formulare le domande giuste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62940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359152"/>
            <a:ext cx="91440" cy="9144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2359152"/>
            <a:ext cx="91440" cy="9144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2456" y="2359152"/>
            <a:ext cx="91440" cy="914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6263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10" b="0">
                <a:solidFill>
                  <a:srgbClr val="E2E8F0"/>
                </a:solidFill>
                <a:latin typeface="Cascadia Mono"/>
              </a:defRPr>
            </a:pPr>
            <a:r>
              <a:t>POST /api/cart/items HTTP/1.1</a:t>
            </a:r>
            <a:br/>
            <a:r>
              <a:t>Host: shop.umbramarket.lab</a:t>
            </a:r>
            <a:br/>
            <a:r>
              <a:t>Cookie: session=demo-alice</a:t>
            </a:r>
            <a:br/>
            <a:r>
              <a:t>Content-Type: application/json</a:t>
            </a:r>
            <a:br/>
            <a:br/>
            <a:r>
              <a:t>{"productId":42,"quantity":2}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21284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5915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86F78"/>
                </a:solidFill>
                <a:latin typeface="Aptos"/>
              </a:defRPr>
            </a:pPr>
            <a:r>
              <a:t>AZIONE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6517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aggiunge un prodotto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1012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45643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2563E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749039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productId + quantity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0740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455371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D97706"/>
                </a:solidFill>
                <a:latin typeface="Aptos"/>
              </a:defRPr>
            </a:pPr>
            <a:r>
              <a:t>DOMANDE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8463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prezzo? limiti? ownership?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Application Attack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Questa tabella diventa la base delle giornate 4 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48840"/>
            <a:ext cx="163556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04288"/>
            <a:ext cx="1452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Funzione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1368" y="2148840"/>
            <a:ext cx="163556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2808" y="2304288"/>
            <a:ext cx="1452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Endpoint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56936" y="2148840"/>
            <a:ext cx="163556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48376" y="2304288"/>
            <a:ext cx="1452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Oggetto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2504" y="2148840"/>
            <a:ext cx="1635568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3944" y="2304288"/>
            <a:ext cx="14526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8073" y="2148840"/>
            <a:ext cx="2453352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9513" y="2304288"/>
            <a:ext cx="2270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Input chiave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81425" y="2148840"/>
            <a:ext cx="1840014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2865" y="2304288"/>
            <a:ext cx="16571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Next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697480"/>
            <a:ext cx="163556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834640"/>
            <a:ext cx="145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catalog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21368" y="2697480"/>
            <a:ext cx="163556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12808" y="2834640"/>
            <a:ext cx="145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GET /api/products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6936" y="2697480"/>
            <a:ext cx="163556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48376" y="2834640"/>
            <a:ext cx="145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92504" y="2697480"/>
            <a:ext cx="163556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83944" y="2834640"/>
            <a:ext cx="145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public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8073" y="2697480"/>
            <a:ext cx="2453352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9513" y="2834640"/>
            <a:ext cx="227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81425" y="2697480"/>
            <a:ext cx="184001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72865" y="2834640"/>
            <a:ext cx="16571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input handling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3319272"/>
            <a:ext cx="163556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456432"/>
            <a:ext cx="145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21368" y="3319272"/>
            <a:ext cx="163556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12808" y="3456432"/>
            <a:ext cx="145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POST /api/cart/items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56936" y="3319272"/>
            <a:ext cx="163556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48376" y="3456432"/>
            <a:ext cx="145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cart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92504" y="3319272"/>
            <a:ext cx="1635568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83944" y="3456432"/>
            <a:ext cx="145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Alice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8073" y="3319272"/>
            <a:ext cx="2453352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9513" y="3456432"/>
            <a:ext cx="227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productId, qty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81425" y="3319272"/>
            <a:ext cx="1840014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72865" y="3456432"/>
            <a:ext cx="16571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server-side trust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3941064"/>
            <a:ext cx="163556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078224"/>
            <a:ext cx="145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21368" y="3941064"/>
            <a:ext cx="163556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12808" y="4078224"/>
            <a:ext cx="145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GET /api/orders/1001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6936" y="3941064"/>
            <a:ext cx="163556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48376" y="4078224"/>
            <a:ext cx="145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92504" y="3941064"/>
            <a:ext cx="1635568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83944" y="4078224"/>
            <a:ext cx="14526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Alice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28073" y="3941064"/>
            <a:ext cx="2453352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9513" y="4078224"/>
            <a:ext cx="2270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orderId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81425" y="3941064"/>
            <a:ext cx="184001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72865" y="4078224"/>
            <a:ext cx="165713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517904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LABORATORIO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Laboratorio — Scanner vs Human + Map Before You Attack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Adesso usiamo il metodo sul dossier.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365760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395728"/>
            <a:ext cx="1005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643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852928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11827"/>
                </a:solidFill>
                <a:latin typeface="Aptos"/>
              </a:defRPr>
            </a:pPr>
            <a:r>
              <a:t>Prima riceviamo un report scanner rumoroso. Poi osserviamo traffico reale della web 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2148840"/>
            <a:ext cx="379476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81728" y="214884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2313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FACCIAMO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2715768"/>
            <a:ext cx="3410712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validiamo gli alert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separiamo status e severity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mappiamo funzioni e oggetti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proponiamo i test successivi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9952" y="2148840"/>
            <a:ext cx="2697480" cy="3108960"/>
          </a:xfrm>
          <a:prstGeom prst="roundRect">
            <a:avLst/>
          </a:prstGeom>
          <a:solidFill>
            <a:srgbClr val="FFF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2395728"/>
            <a:ext cx="1572768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46430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COSA CONSEGNIAMO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880360"/>
            <a:ext cx="217627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Validation Table + Application Attack Surface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466344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D97706"/>
                </a:solidFill>
                <a:latin typeface="Aptos"/>
              </a:defRPr>
            </a:pPr>
            <a:r>
              <a:t>→ apriamo il sito / dossier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11556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DEBRIEF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Quando possiamo scrivere “vulnerabile”?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Non quando il tool lo dice. Quando la nostra evidenza sostiene esattamente quella conclusione.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Qual è l’affermazione più forte che possiamo difendere?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3167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CHIUDIAMO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Prima di andare via, dobbiamo riuscire 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Ci interessa il perché delle decisioni, non il numero di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48840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76856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67712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trattare scanner output come input, non verità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62072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990088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98094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distinguere CVE, CWE, CVSS e rischio business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75304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703320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D9770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9417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usare un proxy per capire il comportamento dell’app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88536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416552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6D28D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4074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mappare funzioni, oggetti, identità e input prima del testing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81965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PROSSIMA TAPPA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LA DOMANDA CHE CI PORTIAMO DIETRO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149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900" b="1">
                <a:solidFill>
                  <a:srgbClr val="111827"/>
                </a:solidFill>
                <a:latin typeface="Aptos"/>
              </a:defRPr>
            </a:pPr>
            <a:r>
              <a:t>Quando un input arriva al server, chi lo interpreta e come possiamo accorgerci che cambia il comportamento?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104698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4471416"/>
            <a:ext cx="1005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3999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4407408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Giornata 4 — Input Handling &amp; Injection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Severity tecnica e priorità business non sono la stessa cosa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Il report deve spiegare il perché della priorità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TECNICA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exploitability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impact potenziale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scope tecnico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dato coinvolto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processo critico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utenti e volume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PRIORITÀ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unisce entrambe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 considera compensating controls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Burp / ZAP: cosa ci interessa in aula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Le feature servono al metodo, non viceversa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PROXY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vedere request e response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intercettare quando serve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REPLAY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ripetere una request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cambiare una variabile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ricostruire il flusso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mappare endpoint e parametri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10881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905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04 + 05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Decision tree per validare un 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Ci fermiamo appena sappiamo classificare l’alert con onestà.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0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94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09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7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cosa dice?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567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211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125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040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08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quale evidence?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87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42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956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870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39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quali prerequisiti?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183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787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01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70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possiamo verificare?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49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03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618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32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800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impatto reale?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799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534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448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363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31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finding / nota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