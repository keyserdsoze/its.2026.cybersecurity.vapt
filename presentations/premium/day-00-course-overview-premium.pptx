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58368" y="502920"/>
            <a:ext cx="169164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571500"/>
            <a:ext cx="1508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086F78"/>
                </a:solidFill>
                <a:latin typeface="Aptos"/>
              </a:defRPr>
            </a:pPr>
            <a:r>
              <a:t>PRESENTAZIONE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34440"/>
            <a:ext cx="1069848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3100" b="1">
                <a:solidFill>
                  <a:srgbClr val="111827"/>
                </a:solidFill>
                <a:latin typeface="Aptos"/>
              </a:defRPr>
            </a:pPr>
            <a:r>
              <a:t>VAPT: il percorso completo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359152"/>
            <a:ext cx="987552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900" b="0">
                <a:solidFill>
                  <a:srgbClr val="374151"/>
                </a:solidFill>
                <a:latin typeface="Aptos"/>
              </a:defRPr>
            </a:pPr>
            <a:r>
              <a:t>Una mappa ad alto livello del corso: cosa guarderemo, come ragioneremo e come collegheremo le evidenze.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3886200"/>
            <a:ext cx="10881360" cy="1143000"/>
          </a:xfrm>
          <a:prstGeom prst="round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4187952"/>
            <a:ext cx="10332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2100" b="1">
                <a:solidFill>
                  <a:srgbClr val="086F78"/>
                </a:solidFill>
                <a:latin typeface="Aptos"/>
              </a:defRPr>
            </a:pPr>
            <a:r>
              <a:t>osservazione  →  ipotesi  →  verifica  →  impatto  →  remediation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291072"/>
            <a:ext cx="5669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00" b="0">
                <a:solidFill>
                  <a:srgbClr val="64748B"/>
                </a:solidFill>
                <a:latin typeface="Aptos"/>
              </a:defRPr>
            </a:pPr>
            <a:r>
              <a:t>ITS Umbria · Vulnerability Assessment &amp; Penetration Testing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384048"/>
            <a:ext cx="91440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2628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086F78"/>
                </a:solidFill>
                <a:latin typeface="Aptos"/>
              </a:defRPr>
            </a:pPr>
            <a:r>
              <a:t>DECK 00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600200" y="384048"/>
            <a:ext cx="219456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91640" y="452628"/>
            <a:ext cx="201167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2563EB"/>
                </a:solidFill>
                <a:latin typeface="Aptos"/>
              </a:defRPr>
            </a:pPr>
            <a:r>
              <a:t>PANORAMA DEL CORSO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71800" y="384048"/>
            <a:ext cx="109728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63240" y="452628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6D28D9"/>
                </a:solidFill>
                <a:latin typeface="Aptos"/>
              </a:defRPr>
            </a:pPr>
            <a:r>
              <a:t>MAPPA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078992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2700" b="1">
                <a:solidFill>
                  <a:srgbClr val="111827"/>
                </a:solidFill>
                <a:latin typeface="Aptos"/>
              </a:defRPr>
            </a:pPr>
            <a:r>
              <a:t>Il corso come una catena unica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64208"/>
            <a:ext cx="10515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550" b="0">
                <a:solidFill>
                  <a:srgbClr val="64748B"/>
                </a:solidFill>
                <a:latin typeface="Aptos"/>
              </a:defRPr>
            </a:pPr>
            <a:r>
              <a:t>Non impariamo blocchi isolati: ogni fase prepara la successiva.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788920"/>
            <a:ext cx="1298448" cy="13258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3035808"/>
            <a:ext cx="10789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200" b="1">
                <a:solidFill>
                  <a:srgbClr val="086F78"/>
                </a:solidFill>
                <a:latin typeface="Aptos"/>
              </a:defRPr>
            </a:pPr>
            <a:r>
              <a:t>SCOPE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3447288"/>
            <a:ext cx="107899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150" b="0">
                <a:solidFill>
                  <a:srgbClr val="111827"/>
                </a:solidFill>
                <a:latin typeface="Aptos"/>
              </a:defRPr>
            </a:pPr>
            <a:r>
              <a:t>cosa possiamo fare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84247" y="3273552"/>
            <a:ext cx="2560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700" b="1">
                <a:solidFill>
                  <a:srgbClr val="64748B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231136" y="2788920"/>
            <a:ext cx="1234440" cy="132588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40864" y="3035808"/>
            <a:ext cx="10149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200" b="1">
                <a:solidFill>
                  <a:srgbClr val="086F78"/>
                </a:solidFill>
                <a:latin typeface="Aptos"/>
              </a:defRPr>
            </a:pPr>
            <a:r>
              <a:t>RECON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40864" y="3447288"/>
            <a:ext cx="1014984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150" b="0">
                <a:solidFill>
                  <a:srgbClr val="111827"/>
                </a:solidFill>
                <a:latin typeface="Aptos"/>
              </a:defRPr>
            </a:pPr>
            <a:r>
              <a:t>cosa esiste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93008" y="3273552"/>
            <a:ext cx="2560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700" b="1">
                <a:solidFill>
                  <a:srgbClr val="64748B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739896" y="2788920"/>
            <a:ext cx="1417320" cy="13258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49624" y="3035808"/>
            <a:ext cx="119786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200" b="1">
                <a:solidFill>
                  <a:srgbClr val="086F78"/>
                </a:solidFill>
                <a:latin typeface="Aptos"/>
              </a:defRPr>
            </a:pPr>
            <a:r>
              <a:t>ENUMERATION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9624" y="3447288"/>
            <a:ext cx="1197864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150" b="0">
                <a:solidFill>
                  <a:srgbClr val="111827"/>
                </a:solidFill>
                <a:latin typeface="Aptos"/>
              </a:defRPr>
            </a:pPr>
            <a:r>
              <a:t>come funziona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84648" y="3273552"/>
            <a:ext cx="2560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700" b="1">
                <a:solidFill>
                  <a:srgbClr val="64748B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31536" y="2788920"/>
            <a:ext cx="1554480" cy="132588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41264" y="3035808"/>
            <a:ext cx="13350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200" b="1">
                <a:solidFill>
                  <a:srgbClr val="086F78"/>
                </a:solidFill>
                <a:latin typeface="Aptos"/>
              </a:defRPr>
            </a:pPr>
            <a:r>
              <a:t>ASSESSMENT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41264" y="3447288"/>
            <a:ext cx="1335024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150" b="0">
                <a:solidFill>
                  <a:srgbClr val="111827"/>
                </a:solidFill>
                <a:latin typeface="Aptos"/>
              </a:defRPr>
            </a:pPr>
            <a:r>
              <a:t>dove può esserci un problema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13448" y="3273552"/>
            <a:ext cx="2560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700" b="1">
                <a:solidFill>
                  <a:srgbClr val="64748B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260336" y="2788920"/>
            <a:ext cx="1417320" cy="13258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70063" y="3035808"/>
            <a:ext cx="119786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200" b="1">
                <a:solidFill>
                  <a:srgbClr val="086F78"/>
                </a:solidFill>
                <a:latin typeface="Aptos"/>
              </a:defRPr>
            </a:pPr>
            <a:r>
              <a:t>VALIDATION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70063" y="3447288"/>
            <a:ext cx="1197864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150" b="0">
                <a:solidFill>
                  <a:srgbClr val="111827"/>
                </a:solidFill>
                <a:latin typeface="Aptos"/>
              </a:defRPr>
            </a:pPr>
            <a:r>
              <a:t>cosa è vero davvero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05088" y="3273552"/>
            <a:ext cx="2560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700" b="1">
                <a:solidFill>
                  <a:srgbClr val="64748B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951976" y="2788920"/>
            <a:ext cx="1234440" cy="132588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61703" y="3035808"/>
            <a:ext cx="10149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200" b="1">
                <a:solidFill>
                  <a:srgbClr val="086F78"/>
                </a:solidFill>
                <a:latin typeface="Aptos"/>
              </a:defRPr>
            </a:pPr>
            <a:r>
              <a:t>IMPACT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61703" y="3447288"/>
            <a:ext cx="1014984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150" b="0">
                <a:solidFill>
                  <a:srgbClr val="111827"/>
                </a:solidFill>
                <a:latin typeface="Aptos"/>
              </a:defRPr>
            </a:pPr>
            <a:r>
              <a:t>cosa significa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13847" y="3273552"/>
            <a:ext cx="2560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700" b="1">
                <a:solidFill>
                  <a:srgbClr val="64748B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460736" y="2788920"/>
            <a:ext cx="1234440" cy="13258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570463" y="3035808"/>
            <a:ext cx="10149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200" b="1">
                <a:solidFill>
                  <a:srgbClr val="086F78"/>
                </a:solidFill>
                <a:latin typeface="Aptos"/>
              </a:defRPr>
            </a:pPr>
            <a:r>
              <a:t>REPORT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70463" y="3447288"/>
            <a:ext cx="1014984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150" b="0">
                <a:solidFill>
                  <a:srgbClr val="111827"/>
                </a:solidFill>
                <a:latin typeface="Aptos"/>
              </a:defRPr>
            </a:pPr>
            <a:r>
              <a:t>cosa deve sapere il cliente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4919472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800" b="1">
                <a:solidFill>
                  <a:srgbClr val="374151"/>
                </a:solidFill>
                <a:latin typeface="Aptos"/>
              </a:defRPr>
            </a:pPr>
            <a:r>
              <a:t>La competenza chiave è saper passare da una evidenza alla decisione successiva.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66928" y="6236208"/>
            <a:ext cx="11018520" cy="10972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66928" y="6309360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50" b="0">
                <a:solidFill>
                  <a:srgbClr val="64748B"/>
                </a:solidFill>
                <a:latin typeface="Aptos"/>
              </a:defRPr>
            </a:pPr>
            <a:r>
              <a:t>ITS Umbria · Vulnerability Assessment &amp; Penetration Testing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082528" y="6281928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1000" b="1">
                <a:solidFill>
                  <a:srgbClr val="086F78"/>
                </a:solidFill>
                <a:latin typeface="Aptos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384048"/>
            <a:ext cx="91440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2628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086F78"/>
                </a:solidFill>
                <a:latin typeface="Aptos"/>
              </a:defRPr>
            </a:pPr>
            <a:r>
              <a:t>DECK 00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600200" y="384048"/>
            <a:ext cx="219456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91640" y="452628"/>
            <a:ext cx="201167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2563EB"/>
                </a:solidFill>
                <a:latin typeface="Aptos"/>
              </a:defRPr>
            </a:pPr>
            <a:r>
              <a:t>PANORAMA DEL CORSO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71800" y="384048"/>
            <a:ext cx="109728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63240" y="452628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6D28D9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078992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2700" b="1">
                <a:solidFill>
                  <a:srgbClr val="111827"/>
                </a:solidFill>
                <a:latin typeface="Aptos"/>
              </a:defRPr>
            </a:pPr>
            <a:r>
              <a:t>Pentesting e mindset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04241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550" b="0">
                <a:solidFill>
                  <a:srgbClr val="64748B"/>
                </a:solidFill>
                <a:latin typeface="Aptos"/>
              </a:defRPr>
            </a:pPr>
            <a:r>
              <a:t>Prima dei tool viene il metodo.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331720"/>
            <a:ext cx="7543800" cy="512064"/>
          </a:xfrm>
          <a:prstGeom prst="round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441448"/>
            <a:ext cx="7086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500" b="0">
                <a:solidFill>
                  <a:srgbClr val="111827"/>
                </a:solidFill>
                <a:latin typeface="Aptos"/>
              </a:defRPr>
            </a:pPr>
            <a:r>
              <a:t>Vulnerability assessment, pentest, red / blue / purple team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3008376"/>
            <a:ext cx="7543800" cy="512064"/>
          </a:xfrm>
          <a:prstGeom prst="round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118104"/>
            <a:ext cx="7086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500" b="0">
                <a:solidFill>
                  <a:srgbClr val="111827"/>
                </a:solidFill>
                <a:latin typeface="Aptos"/>
              </a:defRPr>
            </a:pPr>
            <a:r>
              <a:t>scope, autorizzazioni e Rules of Engagement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685031"/>
            <a:ext cx="7543800" cy="512064"/>
          </a:xfrm>
          <a:prstGeom prst="round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3794760"/>
            <a:ext cx="7086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500" b="0">
                <a:solidFill>
                  <a:srgbClr val="111827"/>
                </a:solidFill>
                <a:latin typeface="Aptos"/>
              </a:defRPr>
            </a:pPr>
            <a:r>
              <a:t>evidenza → ipotesi → verifica → conclusione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77072" y="2331720"/>
            <a:ext cx="2971800" cy="2423160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69680" y="2615184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00" b="1">
                <a:solidFill>
                  <a:srgbClr val="086F78"/>
                </a:solidFill>
                <a:latin typeface="Aptos"/>
              </a:defRPr>
            </a:pPr>
            <a:r>
              <a:t>DOMANDA GUIDA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0" y="3090672"/>
            <a:ext cx="2331720" cy="1234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defRPr sz="1800" b="1">
                <a:solidFill>
                  <a:srgbClr val="111827"/>
                </a:solidFill>
                <a:latin typeface="Aptos"/>
              </a:defRPr>
            </a:pPr>
            <a:r>
              <a:t>Che cosa possiamo dimostrare senza andare oltre il perimetro?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6236208"/>
            <a:ext cx="11018520" cy="10972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6309360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50" b="0">
                <a:solidFill>
                  <a:srgbClr val="64748B"/>
                </a:solidFill>
                <a:latin typeface="Aptos"/>
              </a:defRPr>
            </a:pPr>
            <a:r>
              <a:t>ITS Umbria · Vulnerability Assessment &amp; Penetration Testing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82528" y="6281928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1000" b="1">
                <a:solidFill>
                  <a:srgbClr val="086F78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384048"/>
            <a:ext cx="91440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2628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086F78"/>
                </a:solidFill>
                <a:latin typeface="Aptos"/>
              </a:defRPr>
            </a:pPr>
            <a:r>
              <a:t>DECK 00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600200" y="384048"/>
            <a:ext cx="219456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91640" y="452628"/>
            <a:ext cx="201167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2563EB"/>
                </a:solidFill>
                <a:latin typeface="Aptos"/>
              </a:defRPr>
            </a:pPr>
            <a:r>
              <a:t>PANORAMA DEL CORSO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71800" y="384048"/>
            <a:ext cx="109728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63240" y="452628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6D28D9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078992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2700" b="1">
                <a:solidFill>
                  <a:srgbClr val="111827"/>
                </a:solidFill>
                <a:latin typeface="Aptos"/>
              </a:defRPr>
            </a:pPr>
            <a:r>
              <a:t>Reconnaissance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04241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550" b="0">
                <a:solidFill>
                  <a:srgbClr val="64748B"/>
                </a:solidFill>
                <a:latin typeface="Aptos"/>
              </a:defRPr>
            </a:pPr>
            <a:r>
              <a:t>Capire cosa esiste prima di decidere cosa testare.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331720"/>
            <a:ext cx="7543800" cy="512064"/>
          </a:xfrm>
          <a:prstGeom prst="round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441448"/>
            <a:ext cx="7086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500" b="0">
                <a:solidFill>
                  <a:srgbClr val="111827"/>
                </a:solidFill>
                <a:latin typeface="Aptos"/>
              </a:defRPr>
            </a:pPr>
            <a:r>
              <a:t>passive e active reconnaissance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3008376"/>
            <a:ext cx="7543800" cy="512064"/>
          </a:xfrm>
          <a:prstGeom prst="round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118104"/>
            <a:ext cx="7086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500" b="0">
                <a:solidFill>
                  <a:srgbClr val="111827"/>
                </a:solidFill>
                <a:latin typeface="Aptos"/>
              </a:defRPr>
            </a:pPr>
            <a:r>
              <a:t>DNS, domini, sottodomini, IP e tecnologie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685031"/>
            <a:ext cx="7543800" cy="512064"/>
          </a:xfrm>
          <a:prstGeom prst="round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3794760"/>
            <a:ext cx="7086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500" b="0">
                <a:solidFill>
                  <a:srgbClr val="111827"/>
                </a:solidFill>
                <a:latin typeface="Aptos"/>
              </a:defRPr>
            </a:pPr>
            <a:r>
              <a:t>costruzione progressiva della superficie esposta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77072" y="2331720"/>
            <a:ext cx="2971800" cy="2423160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69680" y="2615184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00" b="1">
                <a:solidFill>
                  <a:srgbClr val="086F78"/>
                </a:solidFill>
                <a:latin typeface="Aptos"/>
              </a:defRPr>
            </a:pPr>
            <a:r>
              <a:t>DOMANDA GUIDA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0" y="3090672"/>
            <a:ext cx="2331720" cy="1234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defRPr sz="1800" b="1">
                <a:solidFill>
                  <a:srgbClr val="111827"/>
                </a:solidFill>
                <a:latin typeface="Aptos"/>
              </a:defRPr>
            </a:pPr>
            <a:r>
              <a:t>Quali informazioni cambiano davvero le nostre priorità?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6236208"/>
            <a:ext cx="11018520" cy="10972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6309360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50" b="0">
                <a:solidFill>
                  <a:srgbClr val="64748B"/>
                </a:solidFill>
                <a:latin typeface="Aptos"/>
              </a:defRPr>
            </a:pPr>
            <a:r>
              <a:t>ITS Umbria · Vulnerability Assessment &amp; Penetration Testing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82528" y="6281928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1000" b="1">
                <a:solidFill>
                  <a:srgbClr val="086F78"/>
                </a:solidFill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384048"/>
            <a:ext cx="91440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2628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086F78"/>
                </a:solidFill>
                <a:latin typeface="Aptos"/>
              </a:defRPr>
            </a:pPr>
            <a:r>
              <a:t>DECK 00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600200" y="384048"/>
            <a:ext cx="219456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91640" y="452628"/>
            <a:ext cx="201167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2563EB"/>
                </a:solidFill>
                <a:latin typeface="Aptos"/>
              </a:defRPr>
            </a:pPr>
            <a:r>
              <a:t>PANORAMA DEL CORSO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71800" y="384048"/>
            <a:ext cx="109728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63240" y="452628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6D28D9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078992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2700" b="1">
                <a:solidFill>
                  <a:srgbClr val="111827"/>
                </a:solidFill>
                <a:latin typeface="Aptos"/>
              </a:defRPr>
            </a:pPr>
            <a:r>
              <a:t>Network enumeration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04241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550" b="0">
                <a:solidFill>
                  <a:srgbClr val="64748B"/>
                </a:solidFill>
                <a:latin typeface="Aptos"/>
              </a:defRPr>
            </a:pPr>
            <a:r>
              <a:t>Dalle porte ai servizi.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331720"/>
            <a:ext cx="7543800" cy="512064"/>
          </a:xfrm>
          <a:prstGeom prst="round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441448"/>
            <a:ext cx="7086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500" b="0">
                <a:solidFill>
                  <a:srgbClr val="111827"/>
                </a:solidFill>
                <a:latin typeface="Aptos"/>
              </a:defRPr>
            </a:pPr>
            <a:r>
              <a:t>TCP/UDP e significato di open, closed, filtered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3008376"/>
            <a:ext cx="7543800" cy="512064"/>
          </a:xfrm>
          <a:prstGeom prst="round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118104"/>
            <a:ext cx="7086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500" b="0">
                <a:solidFill>
                  <a:srgbClr val="111827"/>
                </a:solidFill>
                <a:latin typeface="Aptos"/>
              </a:defRPr>
            </a:pPr>
            <a:r>
              <a:t>identificazione e versioning dei servizi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685031"/>
            <a:ext cx="7543800" cy="512064"/>
          </a:xfrm>
          <a:prstGeom prst="round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3794760"/>
            <a:ext cx="7086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500" b="0">
                <a:solidFill>
                  <a:srgbClr val="111827"/>
                </a:solidFill>
                <a:latin typeface="Aptos"/>
              </a:defRPr>
            </a:pPr>
            <a:r>
              <a:t>lettura ragionata degli output di scansione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77072" y="2331720"/>
            <a:ext cx="2971800" cy="2423160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69680" y="2615184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00" b="1">
                <a:solidFill>
                  <a:srgbClr val="086F78"/>
                </a:solidFill>
                <a:latin typeface="Aptos"/>
              </a:defRPr>
            </a:pPr>
            <a:r>
              <a:t>DOMANDA GUIDA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0" y="3090672"/>
            <a:ext cx="2331720" cy="1234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defRPr sz="1800" b="1">
                <a:solidFill>
                  <a:srgbClr val="111827"/>
                </a:solidFill>
                <a:latin typeface="Aptos"/>
              </a:defRPr>
            </a:pPr>
            <a:r>
              <a:t>Una porta aperta: che cosa ci dice e che cosa non ci dice?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6236208"/>
            <a:ext cx="11018520" cy="10972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6309360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50" b="0">
                <a:solidFill>
                  <a:srgbClr val="64748B"/>
                </a:solidFill>
                <a:latin typeface="Aptos"/>
              </a:defRPr>
            </a:pPr>
            <a:r>
              <a:t>ITS Umbria · Vulnerability Assessment &amp; Penetration Testing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82528" y="6281928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1000" b="1">
                <a:solidFill>
                  <a:srgbClr val="086F78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384048"/>
            <a:ext cx="91440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2628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086F78"/>
                </a:solidFill>
                <a:latin typeface="Aptos"/>
              </a:defRPr>
            </a:pPr>
            <a:r>
              <a:t>DECK 00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600200" y="384048"/>
            <a:ext cx="219456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91640" y="452628"/>
            <a:ext cx="201167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2563EB"/>
                </a:solidFill>
                <a:latin typeface="Aptos"/>
              </a:defRPr>
            </a:pPr>
            <a:r>
              <a:t>PANORAMA DEL CORSO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71800" y="384048"/>
            <a:ext cx="109728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63240" y="452628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6D28D9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078992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2700" b="1">
                <a:solidFill>
                  <a:srgbClr val="111827"/>
                </a:solidFill>
                <a:latin typeface="Aptos"/>
              </a:defRPr>
            </a:pPr>
            <a:r>
              <a:t>Service enumeration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04241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550" b="0">
                <a:solidFill>
                  <a:srgbClr val="64748B"/>
                </a:solidFill>
                <a:latin typeface="Aptos"/>
              </a:defRPr>
            </a:pPr>
            <a:r>
              <a:t>Approfondire senza saltare alle conclusioni.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331720"/>
            <a:ext cx="7543800" cy="512064"/>
          </a:xfrm>
          <a:prstGeom prst="round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441448"/>
            <a:ext cx="7086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500" b="0">
                <a:solidFill>
                  <a:srgbClr val="111827"/>
                </a:solidFill>
                <a:latin typeface="Aptos"/>
              </a:defRPr>
            </a:pPr>
            <a:r>
              <a:t>banner, protocolli, configurazioni e funzionalità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3008376"/>
            <a:ext cx="7543800" cy="512064"/>
          </a:xfrm>
          <a:prstGeom prst="round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118104"/>
            <a:ext cx="7086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500" b="0">
                <a:solidFill>
                  <a:srgbClr val="111827"/>
                </a:solidFill>
                <a:latin typeface="Aptos"/>
              </a:defRPr>
            </a:pPr>
            <a:r>
              <a:t>endpoint, condivisioni, autenticazione e metadata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685031"/>
            <a:ext cx="7543800" cy="512064"/>
          </a:xfrm>
          <a:prstGeom prst="round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3794760"/>
            <a:ext cx="7086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500" b="0">
                <a:solidFill>
                  <a:srgbClr val="111827"/>
                </a:solidFill>
                <a:latin typeface="Aptos"/>
              </a:defRPr>
            </a:pPr>
            <a:r>
              <a:t>prioritizzazione delle superfici da analizzare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77072" y="2331720"/>
            <a:ext cx="2971800" cy="2423160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69680" y="2615184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00" b="1">
                <a:solidFill>
                  <a:srgbClr val="086F78"/>
                </a:solidFill>
                <a:latin typeface="Aptos"/>
              </a:defRPr>
            </a:pPr>
            <a:r>
              <a:t>DOMANDA GUIDA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0" y="3090672"/>
            <a:ext cx="2331720" cy="1234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defRPr sz="1800" b="1">
                <a:solidFill>
                  <a:srgbClr val="111827"/>
                </a:solidFill>
                <a:latin typeface="Aptos"/>
              </a:defRPr>
            </a:pPr>
            <a:r>
              <a:t>Qual è la prossima informazione che ci serve?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6236208"/>
            <a:ext cx="11018520" cy="10972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6309360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50" b="0">
                <a:solidFill>
                  <a:srgbClr val="64748B"/>
                </a:solidFill>
                <a:latin typeface="Aptos"/>
              </a:defRPr>
            </a:pPr>
            <a:r>
              <a:t>ITS Umbria · Vulnerability Assessment &amp; Penetration Testing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82528" y="6281928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1000" b="1">
                <a:solidFill>
                  <a:srgbClr val="086F78"/>
                </a:solidFill>
                <a:latin typeface="Apto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384048"/>
            <a:ext cx="91440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2628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086F78"/>
                </a:solidFill>
                <a:latin typeface="Aptos"/>
              </a:defRPr>
            </a:pPr>
            <a:r>
              <a:t>DECK 00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600200" y="384048"/>
            <a:ext cx="219456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91640" y="452628"/>
            <a:ext cx="201167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2563EB"/>
                </a:solidFill>
                <a:latin typeface="Aptos"/>
              </a:defRPr>
            </a:pPr>
            <a:r>
              <a:t>PANORAMA DEL CORSO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71800" y="384048"/>
            <a:ext cx="109728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63240" y="452628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6D28D9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078992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2700" b="1">
                <a:solidFill>
                  <a:srgbClr val="111827"/>
                </a:solidFill>
                <a:latin typeface="Aptos"/>
              </a:defRPr>
            </a:pPr>
            <a:r>
              <a:t>Web application security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04241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550" b="0">
                <a:solidFill>
                  <a:srgbClr val="64748B"/>
                </a:solidFill>
                <a:latin typeface="Aptos"/>
              </a:defRPr>
            </a:pPr>
            <a:r>
              <a:t>Leggere una web app come un sistema.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331720"/>
            <a:ext cx="7543800" cy="512064"/>
          </a:xfrm>
          <a:prstGeom prst="round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441448"/>
            <a:ext cx="7086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500" b="0">
                <a:solidFill>
                  <a:srgbClr val="111827"/>
                </a:solidFill>
                <a:latin typeface="Aptos"/>
              </a:defRPr>
            </a:pPr>
            <a:r>
              <a:t>HTTP/HTTPS, request, response, header e cookie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3008376"/>
            <a:ext cx="7543800" cy="512064"/>
          </a:xfrm>
          <a:prstGeom prst="round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118104"/>
            <a:ext cx="7086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500" b="0">
                <a:solidFill>
                  <a:srgbClr val="111827"/>
                </a:solidFill>
                <a:latin typeface="Aptos"/>
              </a:defRPr>
            </a:pPr>
            <a:r>
              <a:t>sessioni, autenticazione, autorizzazione e API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685031"/>
            <a:ext cx="7543800" cy="512064"/>
          </a:xfrm>
          <a:prstGeom prst="round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3794760"/>
            <a:ext cx="7086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500" b="0">
                <a:solidFill>
                  <a:srgbClr val="111827"/>
                </a:solidFill>
                <a:latin typeface="Aptos"/>
              </a:defRPr>
            </a:pPr>
            <a:r>
              <a:t>input utente e flussi applicativi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77072" y="2331720"/>
            <a:ext cx="2971800" cy="2423160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69680" y="2615184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00" b="1">
                <a:solidFill>
                  <a:srgbClr val="086F78"/>
                </a:solidFill>
                <a:latin typeface="Aptos"/>
              </a:defRPr>
            </a:pPr>
            <a:r>
              <a:t>DOMANDA GUIDA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0" y="3090672"/>
            <a:ext cx="2331720" cy="1234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defRPr sz="1800" b="1">
                <a:solidFill>
                  <a:srgbClr val="111827"/>
                </a:solidFill>
                <a:latin typeface="Aptos"/>
              </a:defRPr>
            </a:pPr>
            <a:r>
              <a:t>Dove entra il dato controllato dall’utente e dove finisce?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6236208"/>
            <a:ext cx="11018520" cy="10972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6309360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50" b="0">
                <a:solidFill>
                  <a:srgbClr val="64748B"/>
                </a:solidFill>
                <a:latin typeface="Aptos"/>
              </a:defRPr>
            </a:pPr>
            <a:r>
              <a:t>ITS Umbria · Vulnerability Assessment &amp; Penetration Testing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82528" y="6281928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1000" b="1">
                <a:solidFill>
                  <a:srgbClr val="086F78"/>
                </a:solidFill>
                <a:latin typeface="Aptos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384048"/>
            <a:ext cx="91440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2628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086F78"/>
                </a:solidFill>
                <a:latin typeface="Aptos"/>
              </a:defRPr>
            </a:pPr>
            <a:r>
              <a:t>DECK 00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600200" y="384048"/>
            <a:ext cx="219456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91640" y="452628"/>
            <a:ext cx="201167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2563EB"/>
                </a:solidFill>
                <a:latin typeface="Aptos"/>
              </a:defRPr>
            </a:pPr>
            <a:r>
              <a:t>PANORAMA DEL CORSO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71800" y="384048"/>
            <a:ext cx="109728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63240" y="452628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6D28D9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078992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2700" b="1">
                <a:solidFill>
                  <a:srgbClr val="111827"/>
                </a:solidFill>
                <a:latin typeface="Aptos"/>
              </a:defRPr>
            </a:pPr>
            <a:r>
              <a:t>Vulnerabilità web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04241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550" b="0">
                <a:solidFill>
                  <a:srgbClr val="64748B"/>
                </a:solidFill>
                <a:latin typeface="Aptos"/>
              </a:defRPr>
            </a:pPr>
            <a:r>
              <a:t>Capire le famiglie di errore.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331720"/>
            <a:ext cx="7543800" cy="512064"/>
          </a:xfrm>
          <a:prstGeom prst="round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441448"/>
            <a:ext cx="7086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500" b="0">
                <a:solidFill>
                  <a:srgbClr val="111827"/>
                </a:solidFill>
                <a:latin typeface="Aptos"/>
              </a:defRPr>
            </a:pPr>
            <a:r>
              <a:t>Broken Access Control e authentication failures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3008376"/>
            <a:ext cx="7543800" cy="512064"/>
          </a:xfrm>
          <a:prstGeom prst="round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118104"/>
            <a:ext cx="7086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500" b="0">
                <a:solidFill>
                  <a:srgbClr val="111827"/>
                </a:solidFill>
                <a:latin typeface="Aptos"/>
              </a:defRPr>
            </a:pPr>
            <a:r>
              <a:t>injection, XSS, path traversal, SSRF e misconfiguration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685031"/>
            <a:ext cx="7543800" cy="512064"/>
          </a:xfrm>
          <a:prstGeom prst="round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3794760"/>
            <a:ext cx="7086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500" b="0">
                <a:solidFill>
                  <a:srgbClr val="111827"/>
                </a:solidFill>
                <a:latin typeface="Aptos"/>
              </a:defRPr>
            </a:pPr>
            <a:r>
              <a:t>causa → evidenza → impatto → remediation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77072" y="2331720"/>
            <a:ext cx="2971800" cy="2423160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69680" y="2615184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00" b="1">
                <a:solidFill>
                  <a:srgbClr val="086F78"/>
                </a:solidFill>
                <a:latin typeface="Aptos"/>
              </a:defRPr>
            </a:pPr>
            <a:r>
              <a:t>DOMANDA GUIDA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0" y="3090672"/>
            <a:ext cx="2331720" cy="1234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defRPr sz="1800" b="1">
                <a:solidFill>
                  <a:srgbClr val="111827"/>
                </a:solidFill>
                <a:latin typeface="Aptos"/>
              </a:defRPr>
            </a:pPr>
            <a:r>
              <a:t>Qual è la causa del comportamento che osserviamo?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6236208"/>
            <a:ext cx="11018520" cy="10972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6309360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50" b="0">
                <a:solidFill>
                  <a:srgbClr val="64748B"/>
                </a:solidFill>
                <a:latin typeface="Aptos"/>
              </a:defRPr>
            </a:pPr>
            <a:r>
              <a:t>ITS Umbria · Vulnerability Assessment &amp; Penetration Testing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82528" y="6281928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1000" b="1">
                <a:solidFill>
                  <a:srgbClr val="086F78"/>
                </a:solidFill>
                <a:latin typeface="Aptos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384048"/>
            <a:ext cx="91440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2628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086F78"/>
                </a:solidFill>
                <a:latin typeface="Aptos"/>
              </a:defRPr>
            </a:pPr>
            <a:r>
              <a:t>DECK 00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600200" y="384048"/>
            <a:ext cx="219456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91640" y="452628"/>
            <a:ext cx="201167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2563EB"/>
                </a:solidFill>
                <a:latin typeface="Aptos"/>
              </a:defRPr>
            </a:pPr>
            <a:r>
              <a:t>PANORAMA DEL CORSO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71800" y="384048"/>
            <a:ext cx="109728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63240" y="452628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6D28D9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078992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2700" b="1">
                <a:solidFill>
                  <a:srgbClr val="111827"/>
                </a:solidFill>
                <a:latin typeface="Aptos"/>
              </a:defRPr>
            </a:pPr>
            <a:r>
              <a:t>Vulnerability assessment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04241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550" b="0">
                <a:solidFill>
                  <a:srgbClr val="64748B"/>
                </a:solidFill>
                <a:latin typeface="Aptos"/>
              </a:defRPr>
            </a:pPr>
            <a:r>
              <a:t>Uno scanner non è una sentenza.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331720"/>
            <a:ext cx="7543800" cy="512064"/>
          </a:xfrm>
          <a:prstGeom prst="round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441448"/>
            <a:ext cx="7086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500" b="0">
                <a:solidFill>
                  <a:srgbClr val="111827"/>
                </a:solidFill>
                <a:latin typeface="Aptos"/>
              </a:defRPr>
            </a:pPr>
            <a:r>
              <a:t>CVE, CWE, CVSS e contesto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3008376"/>
            <a:ext cx="7543800" cy="512064"/>
          </a:xfrm>
          <a:prstGeom prst="round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118104"/>
            <a:ext cx="7086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500" b="0">
                <a:solidFill>
                  <a:srgbClr val="111827"/>
                </a:solidFill>
                <a:latin typeface="Aptos"/>
              </a:defRPr>
            </a:pPr>
            <a:r>
              <a:t>false positive e false negative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685031"/>
            <a:ext cx="7543800" cy="512064"/>
          </a:xfrm>
          <a:prstGeom prst="round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3794760"/>
            <a:ext cx="7086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500" b="0">
                <a:solidFill>
                  <a:srgbClr val="111827"/>
                </a:solidFill>
                <a:latin typeface="Aptos"/>
              </a:defRPr>
            </a:pPr>
            <a:r>
              <a:t>versione vulnerabile ≠ vulnerabilità dimostrata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77072" y="2331720"/>
            <a:ext cx="2971800" cy="2423160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69680" y="2615184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00" b="1">
                <a:solidFill>
                  <a:srgbClr val="086F78"/>
                </a:solidFill>
                <a:latin typeface="Aptos"/>
              </a:defRPr>
            </a:pPr>
            <a:r>
              <a:t>DOMANDA GUIDA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0" y="3090672"/>
            <a:ext cx="2331720" cy="1234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defRPr sz="1800" b="1">
                <a:solidFill>
                  <a:srgbClr val="111827"/>
                </a:solidFill>
                <a:latin typeface="Aptos"/>
              </a:defRPr>
            </a:pPr>
            <a:r>
              <a:t>Quale evidenza ci serve per validare la finding?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6236208"/>
            <a:ext cx="11018520" cy="10972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6309360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50" b="0">
                <a:solidFill>
                  <a:srgbClr val="64748B"/>
                </a:solidFill>
                <a:latin typeface="Aptos"/>
              </a:defRPr>
            </a:pPr>
            <a:r>
              <a:t>ITS Umbria · Vulnerability Assessment &amp; Penetration Testing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82528" y="6281928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1000" b="1">
                <a:solidFill>
                  <a:srgbClr val="086F78"/>
                </a:solidFill>
                <a:latin typeface="Aptos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384048"/>
            <a:ext cx="91440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2628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086F78"/>
                </a:solidFill>
                <a:latin typeface="Aptos"/>
              </a:defRPr>
            </a:pPr>
            <a:r>
              <a:t>DECK 00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600200" y="384048"/>
            <a:ext cx="219456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91640" y="452628"/>
            <a:ext cx="201167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2563EB"/>
                </a:solidFill>
                <a:latin typeface="Aptos"/>
              </a:defRPr>
            </a:pPr>
            <a:r>
              <a:t>PANORAMA DEL CORSO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71800" y="384048"/>
            <a:ext cx="109728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63240" y="452628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6D28D9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078992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2700" b="1">
                <a:solidFill>
                  <a:srgbClr val="111827"/>
                </a:solidFill>
                <a:latin typeface="Aptos"/>
              </a:defRPr>
            </a:pPr>
            <a:r>
              <a:t>Exploitation controllata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04241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550" b="0">
                <a:solidFill>
                  <a:srgbClr val="64748B"/>
                </a:solidFill>
                <a:latin typeface="Aptos"/>
              </a:defRPr>
            </a:pPr>
            <a:r>
              <a:t>Dimostrare il minimo necessario.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331720"/>
            <a:ext cx="7543800" cy="512064"/>
          </a:xfrm>
          <a:prstGeom prst="round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441448"/>
            <a:ext cx="7086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500" b="0">
                <a:solidFill>
                  <a:srgbClr val="111827"/>
                </a:solidFill>
                <a:latin typeface="Aptos"/>
              </a:defRPr>
            </a:pPr>
            <a:r>
              <a:t>precondizioni e primitive ottenute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3008376"/>
            <a:ext cx="7543800" cy="512064"/>
          </a:xfrm>
          <a:prstGeom prst="round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118104"/>
            <a:ext cx="7086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500" b="0">
                <a:solidFill>
                  <a:srgbClr val="111827"/>
                </a:solidFill>
                <a:latin typeface="Aptos"/>
              </a:defRPr>
            </a:pPr>
            <a:r>
              <a:t>PoC e validazione controllata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685031"/>
            <a:ext cx="7543800" cy="512064"/>
          </a:xfrm>
          <a:prstGeom prst="round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3794760"/>
            <a:ext cx="7086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500" b="0">
                <a:solidFill>
                  <a:srgbClr val="111827"/>
                </a:solidFill>
                <a:latin typeface="Aptos"/>
              </a:defRPr>
            </a:pPr>
            <a:r>
              <a:t>stop condition e riduzione dell’impatto del test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77072" y="2331720"/>
            <a:ext cx="2971800" cy="2423160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69680" y="2615184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00" b="1">
                <a:solidFill>
                  <a:srgbClr val="086F78"/>
                </a:solidFill>
                <a:latin typeface="Aptos"/>
              </a:defRPr>
            </a:pPr>
            <a:r>
              <a:t>DOMANDA GUIDA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0" y="3090672"/>
            <a:ext cx="2331720" cy="1234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defRPr sz="1800" b="1">
                <a:solidFill>
                  <a:srgbClr val="111827"/>
                </a:solidFill>
                <a:latin typeface="Aptos"/>
              </a:defRPr>
            </a:pPr>
            <a:r>
              <a:t>Qual è la prova minima sufficiente?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6236208"/>
            <a:ext cx="11018520" cy="10972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6309360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50" b="0">
                <a:solidFill>
                  <a:srgbClr val="64748B"/>
                </a:solidFill>
                <a:latin typeface="Aptos"/>
              </a:defRPr>
            </a:pPr>
            <a:r>
              <a:t>ITS Umbria · Vulnerability Assessment &amp; Penetration Testing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82528" y="6281928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1000" b="1">
                <a:solidFill>
                  <a:srgbClr val="086F78"/>
                </a:solidFill>
                <a:latin typeface="Aptos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384048"/>
            <a:ext cx="91440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2628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086F78"/>
                </a:solidFill>
                <a:latin typeface="Aptos"/>
              </a:defRPr>
            </a:pPr>
            <a:r>
              <a:t>DECK 00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600200" y="384048"/>
            <a:ext cx="219456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91640" y="452628"/>
            <a:ext cx="201167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2563EB"/>
                </a:solidFill>
                <a:latin typeface="Aptos"/>
              </a:defRPr>
            </a:pPr>
            <a:r>
              <a:t>PANORAMA DEL CORSO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71800" y="384048"/>
            <a:ext cx="109728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63240" y="452628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6D28D9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078992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2700" b="1">
                <a:solidFill>
                  <a:srgbClr val="111827"/>
                </a:solidFill>
                <a:latin typeface="Aptos"/>
              </a:defRPr>
            </a:pPr>
            <a:r>
              <a:t>Post-exploitation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04241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550" b="0">
                <a:solidFill>
                  <a:srgbClr val="64748B"/>
                </a:solidFill>
                <a:latin typeface="Aptos"/>
              </a:defRPr>
            </a:pPr>
            <a:r>
              <a:t>Capire il valore reale dell’accesso ottenuto.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331720"/>
            <a:ext cx="7543800" cy="512064"/>
          </a:xfrm>
          <a:prstGeom prst="round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441448"/>
            <a:ext cx="7086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500" b="0">
                <a:solidFill>
                  <a:srgbClr val="111827"/>
                </a:solidFill>
                <a:latin typeface="Aptos"/>
              </a:defRPr>
            </a:pPr>
            <a:r>
              <a:t>utente corrente, privilegi e contesto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3008376"/>
            <a:ext cx="7543800" cy="512064"/>
          </a:xfrm>
          <a:prstGeom prst="round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118104"/>
            <a:ext cx="7086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500" b="0">
                <a:solidFill>
                  <a:srgbClr val="111827"/>
                </a:solidFill>
                <a:latin typeface="Aptos"/>
              </a:defRPr>
            </a:pPr>
            <a:r>
              <a:t>secret, permessi e configurazioni locali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685031"/>
            <a:ext cx="7543800" cy="512064"/>
          </a:xfrm>
          <a:prstGeom prst="round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3794760"/>
            <a:ext cx="7086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500" b="0">
                <a:solidFill>
                  <a:srgbClr val="111827"/>
                </a:solidFill>
                <a:latin typeface="Aptos"/>
              </a:defRPr>
            </a:pPr>
            <a:r>
              <a:t>privilege escalation e movimento laterale come concetti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77072" y="2331720"/>
            <a:ext cx="2971800" cy="2423160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69680" y="2615184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00" b="1">
                <a:solidFill>
                  <a:srgbClr val="086F78"/>
                </a:solidFill>
                <a:latin typeface="Aptos"/>
              </a:defRPr>
            </a:pPr>
            <a:r>
              <a:t>DOMANDA GUIDA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0" y="3090672"/>
            <a:ext cx="2331720" cy="1234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defRPr sz="1800" b="1">
                <a:solidFill>
                  <a:srgbClr val="111827"/>
                </a:solidFill>
                <a:latin typeface="Aptos"/>
              </a:defRPr>
            </a:pPr>
            <a:r>
              <a:t>Che cosa possiamo fare davvero con questo livello di accesso?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6236208"/>
            <a:ext cx="11018520" cy="10972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6309360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50" b="0">
                <a:solidFill>
                  <a:srgbClr val="64748B"/>
                </a:solidFill>
                <a:latin typeface="Aptos"/>
              </a:defRPr>
            </a:pPr>
            <a:r>
              <a:t>ITS Umbria · Vulnerability Assessment &amp; Penetration Testing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82528" y="6281928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1000" b="1">
                <a:solidFill>
                  <a:srgbClr val="086F78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384048"/>
            <a:ext cx="91440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2628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086F78"/>
                </a:solidFill>
                <a:latin typeface="Aptos"/>
              </a:defRPr>
            </a:pPr>
            <a:r>
              <a:t>DECK 00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600200" y="384048"/>
            <a:ext cx="219456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91640" y="452628"/>
            <a:ext cx="201167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2563EB"/>
                </a:solidFill>
                <a:latin typeface="Aptos"/>
              </a:defRPr>
            </a:pPr>
            <a:r>
              <a:t>PANORAMA DEL CORSO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71800" y="384048"/>
            <a:ext cx="109728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63240" y="452628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6D28D9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078992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2700" b="1">
                <a:solidFill>
                  <a:srgbClr val="111827"/>
                </a:solidFill>
                <a:latin typeface="Aptos"/>
              </a:defRPr>
            </a:pPr>
            <a:r>
              <a:t>Active Directory e ambienti enterprise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04241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550" b="0">
                <a:solidFill>
                  <a:srgbClr val="64748B"/>
                </a:solidFill>
                <a:latin typeface="Aptos"/>
              </a:defRPr>
            </a:pPr>
            <a:r>
              <a:t>Il contesto aziendale cambia la lettura del rischio.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331720"/>
            <a:ext cx="7543800" cy="512064"/>
          </a:xfrm>
          <a:prstGeom prst="round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441448"/>
            <a:ext cx="7086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500" b="0">
                <a:solidFill>
                  <a:srgbClr val="111827"/>
                </a:solidFill>
                <a:latin typeface="Aptos"/>
              </a:defRPr>
            </a:pPr>
            <a:r>
              <a:t>dominio, Domain Controller, utenti e gruppi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3008376"/>
            <a:ext cx="7543800" cy="512064"/>
          </a:xfrm>
          <a:prstGeom prst="round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118104"/>
            <a:ext cx="7086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500" b="0">
                <a:solidFill>
                  <a:srgbClr val="111827"/>
                </a:solidFill>
                <a:latin typeface="Aptos"/>
              </a:defRPr>
            </a:pPr>
            <a:r>
              <a:t>Kerberos, NTLM e trust a livello concettuale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685031"/>
            <a:ext cx="7543800" cy="512064"/>
          </a:xfrm>
          <a:prstGeom prst="round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3794760"/>
            <a:ext cx="7086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500" b="0">
                <a:solidFill>
                  <a:srgbClr val="111827"/>
                </a:solidFill>
                <a:latin typeface="Aptos"/>
              </a:defRPr>
            </a:pPr>
            <a:r>
              <a:t>condivisioni, privilegi e credential reuse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77072" y="2331720"/>
            <a:ext cx="2971800" cy="2423160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69680" y="2615184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00" b="1">
                <a:solidFill>
                  <a:srgbClr val="086F78"/>
                </a:solidFill>
                <a:latin typeface="Aptos"/>
              </a:defRPr>
            </a:pPr>
            <a:r>
              <a:t>DOMANDA GUIDA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0" y="3090672"/>
            <a:ext cx="2331720" cy="1234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defRPr sz="1800" b="1">
                <a:solidFill>
                  <a:srgbClr val="111827"/>
                </a:solidFill>
                <a:latin typeface="Aptos"/>
              </a:defRPr>
            </a:pPr>
            <a:r>
              <a:t>Quali relazioni tra identità e sistemi amplificano l’impatto?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6236208"/>
            <a:ext cx="11018520" cy="10972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6309360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50" b="0">
                <a:solidFill>
                  <a:srgbClr val="64748B"/>
                </a:solidFill>
                <a:latin typeface="Aptos"/>
              </a:defRPr>
            </a:pPr>
            <a:r>
              <a:t>ITS Umbria · Vulnerability Assessment &amp; Penetration Testing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82528" y="6281928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1000" b="1">
                <a:solidFill>
                  <a:srgbClr val="086F78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384048"/>
            <a:ext cx="91440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2628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086F78"/>
                </a:solidFill>
                <a:latin typeface="Aptos"/>
              </a:defRPr>
            </a:pPr>
            <a:r>
              <a:t>DECK 00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600200" y="384048"/>
            <a:ext cx="219456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91640" y="452628"/>
            <a:ext cx="201167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2563EB"/>
                </a:solidFill>
                <a:latin typeface="Aptos"/>
              </a:defRPr>
            </a:pPr>
            <a:r>
              <a:t>PANORAMA DEL CORSO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71800" y="384048"/>
            <a:ext cx="109728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63240" y="452628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6D28D9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078992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2700" b="1">
                <a:solidFill>
                  <a:srgbClr val="111827"/>
                </a:solidFill>
                <a:latin typeface="Aptos"/>
              </a:defRPr>
            </a:pPr>
            <a:r>
              <a:t>Password e autenticazione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04241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550" b="0">
                <a:solidFill>
                  <a:srgbClr val="64748B"/>
                </a:solidFill>
                <a:latin typeface="Aptos"/>
              </a:defRPr>
            </a:pPr>
            <a:r>
              <a:t>Le credenziali sono spesso il filo conduttore.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331720"/>
            <a:ext cx="7543800" cy="512064"/>
          </a:xfrm>
          <a:prstGeom prst="round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441448"/>
            <a:ext cx="7086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500" b="0">
                <a:solidFill>
                  <a:srgbClr val="111827"/>
                </a:solidFill>
                <a:latin typeface="Aptos"/>
              </a:defRPr>
            </a:pPr>
            <a:r>
              <a:t>hashing, salt, MFA e password policy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3008376"/>
            <a:ext cx="7543800" cy="512064"/>
          </a:xfrm>
          <a:prstGeom prst="round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118104"/>
            <a:ext cx="7086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500" b="0">
                <a:solidFill>
                  <a:srgbClr val="111827"/>
                </a:solidFill>
                <a:latin typeface="Aptos"/>
              </a:defRPr>
            </a:pPr>
            <a:r>
              <a:t>credential reuse, stuffing e spraying come concetti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685031"/>
            <a:ext cx="7543800" cy="512064"/>
          </a:xfrm>
          <a:prstGeom prst="round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3794760"/>
            <a:ext cx="7086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500" b="0">
                <a:solidFill>
                  <a:srgbClr val="111827"/>
                </a:solidFill>
                <a:latin typeface="Aptos"/>
              </a:defRPr>
            </a:pPr>
            <a:r>
              <a:t>secret management e gestione delle identità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77072" y="2331720"/>
            <a:ext cx="2971800" cy="2423160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69680" y="2615184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00" b="1">
                <a:solidFill>
                  <a:srgbClr val="086F78"/>
                </a:solidFill>
                <a:latin typeface="Aptos"/>
              </a:defRPr>
            </a:pPr>
            <a:r>
              <a:t>DOMANDA GUIDA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0" y="3090672"/>
            <a:ext cx="2331720" cy="1234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defRPr sz="1800" b="1">
                <a:solidFill>
                  <a:srgbClr val="111827"/>
                </a:solidFill>
                <a:latin typeface="Aptos"/>
              </a:defRPr>
            </a:pPr>
            <a:r>
              <a:t>La debolezza è nella password o nel sistema che la gestisce?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6236208"/>
            <a:ext cx="11018520" cy="10972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6309360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50" b="0">
                <a:solidFill>
                  <a:srgbClr val="64748B"/>
                </a:solidFill>
                <a:latin typeface="Aptos"/>
              </a:defRPr>
            </a:pPr>
            <a:r>
              <a:t>ITS Umbria · Vulnerability Assessment &amp; Penetration Testing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82528" y="6281928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1000" b="1">
                <a:solidFill>
                  <a:srgbClr val="086F78"/>
                </a:solidFill>
                <a:latin typeface="Aptos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384048"/>
            <a:ext cx="91440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2628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086F78"/>
                </a:solidFill>
                <a:latin typeface="Aptos"/>
              </a:defRPr>
            </a:pPr>
            <a:r>
              <a:t>DECK 00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600200" y="384048"/>
            <a:ext cx="219456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91640" y="452628"/>
            <a:ext cx="201167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2563EB"/>
                </a:solidFill>
                <a:latin typeface="Aptos"/>
              </a:defRPr>
            </a:pPr>
            <a:r>
              <a:t>PANORAMA DEL CORSO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71800" y="384048"/>
            <a:ext cx="109728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63240" y="452628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6D28D9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078992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2700" b="1">
                <a:solidFill>
                  <a:srgbClr val="111827"/>
                </a:solidFill>
                <a:latin typeface="Aptos"/>
              </a:defRPr>
            </a:pPr>
            <a:r>
              <a:t>Cloud, container e ambienti moderni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04241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550" b="0">
                <a:solidFill>
                  <a:srgbClr val="64748B"/>
                </a:solidFill>
                <a:latin typeface="Aptos"/>
              </a:defRPr>
            </a:pPr>
            <a:r>
              <a:t>La superficie non finisce sul server.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331720"/>
            <a:ext cx="7543800" cy="512064"/>
          </a:xfrm>
          <a:prstGeom prst="round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441448"/>
            <a:ext cx="7086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500" b="0">
                <a:solidFill>
                  <a:srgbClr val="111827"/>
                </a:solidFill>
                <a:latin typeface="Aptos"/>
              </a:defRPr>
            </a:pPr>
            <a:r>
              <a:t>IAM, storage e secret nel cloud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3008376"/>
            <a:ext cx="7543800" cy="512064"/>
          </a:xfrm>
          <a:prstGeom prst="round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118104"/>
            <a:ext cx="7086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500" b="0">
                <a:solidFill>
                  <a:srgbClr val="111827"/>
                </a:solidFill>
                <a:latin typeface="Aptos"/>
              </a:defRPr>
            </a:pPr>
            <a:r>
              <a:t>container, Docker e Kubernetes ad alto livello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685031"/>
            <a:ext cx="7543800" cy="512064"/>
          </a:xfrm>
          <a:prstGeom prst="round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3794760"/>
            <a:ext cx="7086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500" b="0">
                <a:solidFill>
                  <a:srgbClr val="111827"/>
                </a:solidFill>
                <a:latin typeface="Aptos"/>
              </a:defRPr>
            </a:pPr>
            <a:r>
              <a:t>CI/CD e supply chain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77072" y="2331720"/>
            <a:ext cx="2971800" cy="2423160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69680" y="2615184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00" b="1">
                <a:solidFill>
                  <a:srgbClr val="086F78"/>
                </a:solidFill>
                <a:latin typeface="Aptos"/>
              </a:defRPr>
            </a:pPr>
            <a:r>
              <a:t>DOMANDA GUIDA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0" y="3090672"/>
            <a:ext cx="2331720" cy="1234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defRPr sz="1800" b="1">
                <a:solidFill>
                  <a:srgbClr val="111827"/>
                </a:solidFill>
                <a:latin typeface="Aptos"/>
              </a:defRPr>
            </a:pPr>
            <a:r>
              <a:t>Quale identità può accedere a quale risorsa?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6236208"/>
            <a:ext cx="11018520" cy="10972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6309360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50" b="0">
                <a:solidFill>
                  <a:srgbClr val="64748B"/>
                </a:solidFill>
                <a:latin typeface="Aptos"/>
              </a:defRPr>
            </a:pPr>
            <a:r>
              <a:t>ITS Umbria · Vulnerability Assessment &amp; Penetration Testing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82528" y="6281928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1000" b="1">
                <a:solidFill>
                  <a:srgbClr val="086F78"/>
                </a:solidFill>
                <a:latin typeface="Aptos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384048"/>
            <a:ext cx="91440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2628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086F78"/>
                </a:solidFill>
                <a:latin typeface="Aptos"/>
              </a:defRPr>
            </a:pPr>
            <a:r>
              <a:t>DECK 00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600200" y="384048"/>
            <a:ext cx="219456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91640" y="452628"/>
            <a:ext cx="201167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2563EB"/>
                </a:solidFill>
                <a:latin typeface="Aptos"/>
              </a:defRPr>
            </a:pPr>
            <a:r>
              <a:t>PANORAMA DEL CORSO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71800" y="384048"/>
            <a:ext cx="109728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63240" y="452628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6D28D9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078992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2700" b="1">
                <a:solidFill>
                  <a:srgbClr val="111827"/>
                </a:solidFill>
                <a:latin typeface="Aptos"/>
              </a:defRPr>
            </a:pPr>
            <a:r>
              <a:t>Attack chain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04241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550" b="0">
                <a:solidFill>
                  <a:srgbClr val="64748B"/>
                </a:solidFill>
                <a:latin typeface="Aptos"/>
              </a:defRPr>
            </a:pPr>
            <a:r>
              <a:t>Il rischio nasce spesso dalla concatenazione.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331720"/>
            <a:ext cx="7543800" cy="512064"/>
          </a:xfrm>
          <a:prstGeom prst="round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441448"/>
            <a:ext cx="7086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500" b="0">
                <a:solidFill>
                  <a:srgbClr val="111827"/>
                </a:solidFill>
                <a:latin typeface="Aptos"/>
              </a:defRPr>
            </a:pPr>
            <a:r>
              <a:t>initial access → escalation → lateral movement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3008376"/>
            <a:ext cx="7543800" cy="512064"/>
          </a:xfrm>
          <a:prstGeom prst="round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118104"/>
            <a:ext cx="7086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500" b="0">
                <a:solidFill>
                  <a:srgbClr val="111827"/>
                </a:solidFill>
                <a:latin typeface="Aptos"/>
              </a:defRPr>
            </a:pPr>
            <a:r>
              <a:t>correlare finding tecniche diverse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685031"/>
            <a:ext cx="7543800" cy="512064"/>
          </a:xfrm>
          <a:prstGeom prst="round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3794760"/>
            <a:ext cx="7086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500" b="0">
                <a:solidFill>
                  <a:srgbClr val="111827"/>
                </a:solidFill>
                <a:latin typeface="Aptos"/>
              </a:defRPr>
            </a:pPr>
            <a:r>
              <a:t>distinguere possibilità teorica e catena dimostrata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77072" y="2331720"/>
            <a:ext cx="2971800" cy="2423160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69680" y="2615184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00" b="1">
                <a:solidFill>
                  <a:srgbClr val="086F78"/>
                </a:solidFill>
                <a:latin typeface="Aptos"/>
              </a:defRPr>
            </a:pPr>
            <a:r>
              <a:t>DOMANDA GUIDA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0" y="3090672"/>
            <a:ext cx="2331720" cy="1234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defRPr sz="1800" b="1">
                <a:solidFill>
                  <a:srgbClr val="111827"/>
                </a:solidFill>
                <a:latin typeface="Aptos"/>
              </a:defRPr>
            </a:pPr>
            <a:r>
              <a:t>Cosa succede se mettiamo insieme le evidenze?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6236208"/>
            <a:ext cx="11018520" cy="10972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6309360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50" b="0">
                <a:solidFill>
                  <a:srgbClr val="64748B"/>
                </a:solidFill>
                <a:latin typeface="Aptos"/>
              </a:defRPr>
            </a:pPr>
            <a:r>
              <a:t>ITS Umbria · Vulnerability Assessment &amp; Penetration Testing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82528" y="6281928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1000" b="1">
                <a:solidFill>
                  <a:srgbClr val="086F78"/>
                </a:solidFill>
                <a:latin typeface="Aptos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384048"/>
            <a:ext cx="91440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2628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086F78"/>
                </a:solidFill>
                <a:latin typeface="Aptos"/>
              </a:defRPr>
            </a:pPr>
            <a:r>
              <a:t>DECK 00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600200" y="384048"/>
            <a:ext cx="219456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91640" y="452628"/>
            <a:ext cx="201167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2563EB"/>
                </a:solidFill>
                <a:latin typeface="Aptos"/>
              </a:defRPr>
            </a:pPr>
            <a:r>
              <a:t>PANORAMA DEL CORSO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71800" y="384048"/>
            <a:ext cx="109728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63240" y="452628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6D28D9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078992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2700" b="1">
                <a:solidFill>
                  <a:srgbClr val="111827"/>
                </a:solidFill>
                <a:latin typeface="Aptos"/>
              </a:defRPr>
            </a:pPr>
            <a:r>
              <a:t>Reporting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04241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550" b="0">
                <a:solidFill>
                  <a:srgbClr val="64748B"/>
                </a:solidFill>
                <a:latin typeface="Aptos"/>
              </a:defRPr>
            </a:pPr>
            <a:r>
              <a:t>Il lavoro non finisce quando troviamo il problema.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331720"/>
            <a:ext cx="7543800" cy="512064"/>
          </a:xfrm>
          <a:prstGeom prst="round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441448"/>
            <a:ext cx="7086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500" b="0">
                <a:solidFill>
                  <a:srgbClr val="111827"/>
                </a:solidFill>
                <a:latin typeface="Aptos"/>
              </a:defRPr>
            </a:pPr>
            <a:r>
              <a:t>executive summary e finding tecnici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3008376"/>
            <a:ext cx="7543800" cy="512064"/>
          </a:xfrm>
          <a:prstGeom prst="round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118104"/>
            <a:ext cx="7086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500" b="0">
                <a:solidFill>
                  <a:srgbClr val="111827"/>
                </a:solidFill>
                <a:latin typeface="Aptos"/>
              </a:defRPr>
            </a:pPr>
            <a:r>
              <a:t>evidenze, severità, impatto e remediation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685031"/>
            <a:ext cx="7543800" cy="512064"/>
          </a:xfrm>
          <a:prstGeom prst="round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3794760"/>
            <a:ext cx="7086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500" b="0">
                <a:solidFill>
                  <a:srgbClr val="111827"/>
                </a:solidFill>
                <a:latin typeface="Aptos"/>
              </a:defRPr>
            </a:pPr>
            <a:r>
              <a:t>riproducibilità, limiti e linguaggio preciso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77072" y="2331720"/>
            <a:ext cx="2971800" cy="2423160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69680" y="2615184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00" b="1">
                <a:solidFill>
                  <a:srgbClr val="086F78"/>
                </a:solidFill>
                <a:latin typeface="Aptos"/>
              </a:defRPr>
            </a:pPr>
            <a:r>
              <a:t>DOMANDA GUIDA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0" y="3090672"/>
            <a:ext cx="2331720" cy="1234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defRPr sz="1800" b="1">
                <a:solidFill>
                  <a:srgbClr val="111827"/>
                </a:solidFill>
                <a:latin typeface="Aptos"/>
              </a:defRPr>
            </a:pPr>
            <a:r>
              <a:t>Il cliente sa cosa fare domani mattina?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6236208"/>
            <a:ext cx="11018520" cy="10972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6309360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50" b="0">
                <a:solidFill>
                  <a:srgbClr val="64748B"/>
                </a:solidFill>
                <a:latin typeface="Aptos"/>
              </a:defRPr>
            </a:pPr>
            <a:r>
              <a:t>ITS Umbria · Vulnerability Assessment &amp; Penetration Testing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82528" y="6281928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1000" b="1">
                <a:solidFill>
                  <a:srgbClr val="086F78"/>
                </a:solidFill>
                <a:latin typeface="Aptos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384048"/>
            <a:ext cx="91440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2628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086F78"/>
                </a:solidFill>
                <a:latin typeface="Aptos"/>
              </a:defRPr>
            </a:pPr>
            <a:r>
              <a:t>DECK 00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600200" y="384048"/>
            <a:ext cx="219456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91640" y="452628"/>
            <a:ext cx="201167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2563EB"/>
                </a:solidFill>
                <a:latin typeface="Aptos"/>
              </a:defRPr>
            </a:pPr>
            <a:r>
              <a:t>PANORAMA DEL CORSO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71800" y="384048"/>
            <a:ext cx="109728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63240" y="452628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6D28D9"/>
                </a:solidFill>
                <a:latin typeface="Aptos"/>
              </a:defRPr>
            </a:pPr>
            <a: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078992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2700" b="1">
                <a:solidFill>
                  <a:srgbClr val="111827"/>
                </a:solidFill>
                <a:latin typeface="Aptos"/>
              </a:defRPr>
            </a:pPr>
            <a:r>
              <a:t>Capstone finale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04241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550" b="0">
                <a:solidFill>
                  <a:srgbClr val="64748B"/>
                </a:solidFill>
                <a:latin typeface="Aptos"/>
              </a:defRPr>
            </a:pPr>
            <a:r>
              <a:t>Mettere insieme tutto il metodo.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331720"/>
            <a:ext cx="7543800" cy="512064"/>
          </a:xfrm>
          <a:prstGeom prst="round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441448"/>
            <a:ext cx="7086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500" b="0">
                <a:solidFill>
                  <a:srgbClr val="111827"/>
                </a:solidFill>
                <a:latin typeface="Aptos"/>
              </a:defRPr>
            </a:pPr>
            <a:r>
              <a:t>società, asset e dati interamente fittizi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3008376"/>
            <a:ext cx="7543800" cy="512064"/>
          </a:xfrm>
          <a:prstGeom prst="round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118104"/>
            <a:ext cx="7086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500" b="0">
                <a:solidFill>
                  <a:srgbClr val="111827"/>
                </a:solidFill>
                <a:latin typeface="Aptos"/>
              </a:defRPr>
            </a:pPr>
            <a:r>
              <a:t>output, log, traffico e finding da correlare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685031"/>
            <a:ext cx="7543800" cy="512064"/>
          </a:xfrm>
          <a:prstGeom prst="round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3794760"/>
            <a:ext cx="7086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500" b="0">
                <a:solidFill>
                  <a:srgbClr val="111827"/>
                </a:solidFill>
                <a:latin typeface="Aptos"/>
              </a:defRPr>
            </a:pPr>
            <a:r>
              <a:t>attack chain, remediation e report finale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77072" y="2331720"/>
            <a:ext cx="2971800" cy="2423160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69680" y="2615184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00" b="1">
                <a:solidFill>
                  <a:srgbClr val="086F78"/>
                </a:solidFill>
                <a:latin typeface="Aptos"/>
              </a:defRPr>
            </a:pPr>
            <a:r>
              <a:t>DOMANDA GUIDA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0" y="3090672"/>
            <a:ext cx="2331720" cy="1234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defRPr sz="1800" b="1">
                <a:solidFill>
                  <a:srgbClr val="111827"/>
                </a:solidFill>
                <a:latin typeface="Aptos"/>
              </a:defRPr>
            </a:pPr>
            <a:r>
              <a:t>Riusciamo a sostenere ogni conclusione con una evidenza?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6236208"/>
            <a:ext cx="11018520" cy="10972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6309360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50" b="0">
                <a:solidFill>
                  <a:srgbClr val="64748B"/>
                </a:solidFill>
                <a:latin typeface="Aptos"/>
              </a:defRPr>
            </a:pPr>
            <a:r>
              <a:t>ITS Umbria · Vulnerability Assessment &amp; Penetration Testing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82528" y="6281928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1000" b="1">
                <a:solidFill>
                  <a:srgbClr val="086F78"/>
                </a:solidFill>
                <a:latin typeface="Aptos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384048"/>
            <a:ext cx="91440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2628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086F78"/>
                </a:solidFill>
                <a:latin typeface="Aptos"/>
              </a:defRPr>
            </a:pPr>
            <a:r>
              <a:t>DECK 00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600200" y="384048"/>
            <a:ext cx="219456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91640" y="452628"/>
            <a:ext cx="201167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2563EB"/>
                </a:solidFill>
                <a:latin typeface="Aptos"/>
              </a:defRPr>
            </a:pPr>
            <a:r>
              <a:t>PANORAMA DEL CORSO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71800" y="384048"/>
            <a:ext cx="192024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63240" y="452628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6D28D9"/>
                </a:solidFill>
                <a:latin typeface="Aptos"/>
              </a:defRPr>
            </a:pPr>
            <a:r>
              <a:t>INIZIAMO SUBITO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078992"/>
            <a:ext cx="106070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2700" b="1">
                <a:solidFill>
                  <a:srgbClr val="111827"/>
                </a:solidFill>
                <a:latin typeface="Aptos"/>
              </a:defRPr>
            </a:pPr>
            <a:r>
              <a:t>Tre righe, già un esercizio da pentester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874519"/>
            <a:ext cx="4709160" cy="306324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176272"/>
            <a:ext cx="420624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900" b="0">
                <a:solidFill>
                  <a:srgbClr val="E2E8F0"/>
                </a:solidFill>
                <a:latin typeface="Cascadia Mono"/>
              </a:defRPr>
            </a:pPr>
            <a:r>
              <a:t>PORT     STATE  SERVICE</a:t>
            </a:r>
            <a:br/>
            <a:r>
              <a:t>22/tcp   open   ssh</a:t>
            </a:r>
            <a:br/>
            <a:r>
              <a:t>80/tcp   open   http</a:t>
            </a:r>
            <a:br/>
            <a:r>
              <a:t>443/tcp  open   https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06440" y="1874519"/>
            <a:ext cx="5440680" cy="786384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016752" y="2084831"/>
            <a:ext cx="502920" cy="329184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08192" y="2153412"/>
            <a:ext cx="320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086F78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56832" y="2066543"/>
            <a:ext cx="4251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600" b="1">
                <a:solidFill>
                  <a:srgbClr val="111827"/>
                </a:solidFill>
                <a:latin typeface="Aptos"/>
              </a:defRPr>
            </a:pPr>
            <a:r>
              <a:t>Cosa sappiamo?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06440" y="2898648"/>
            <a:ext cx="5440680" cy="786384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016752" y="3108960"/>
            <a:ext cx="502920" cy="329184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08192" y="3177540"/>
            <a:ext cx="320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086F78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56832" y="3090672"/>
            <a:ext cx="4251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600" b="1">
                <a:solidFill>
                  <a:srgbClr val="111827"/>
                </a:solidFill>
                <a:latin typeface="Aptos"/>
              </a:defRPr>
            </a:pPr>
            <a:r>
              <a:t>Cosa stiamo solo ipotizzando?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806440" y="3922776"/>
            <a:ext cx="5440680" cy="786384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016752" y="4133087"/>
            <a:ext cx="502920" cy="329184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08192" y="4201668"/>
            <a:ext cx="320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086F78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56832" y="4114800"/>
            <a:ext cx="4251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600" b="1">
                <a:solidFill>
                  <a:srgbClr val="111827"/>
                </a:solidFill>
                <a:latin typeface="Aptos"/>
              </a:defRPr>
            </a:pPr>
            <a:r>
              <a:t>Quale controllo minimo facciamo dopo?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5349240"/>
            <a:ext cx="1051560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550" b="0">
                <a:solidFill>
                  <a:srgbClr val="64748B"/>
                </a:solidFill>
                <a:latin typeface="Aptos"/>
              </a:defRPr>
            </a:pPr>
            <a:r>
              <a:t>Questo schema tornerà in ogni laboratorio: osservare, distinguere i fatti dalle ipotesi, scegliere il prossimo passo.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6236208"/>
            <a:ext cx="11018520" cy="10972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6309360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50" b="0">
                <a:solidFill>
                  <a:srgbClr val="64748B"/>
                </a:solidFill>
                <a:latin typeface="Aptos"/>
              </a:defRPr>
            </a:pPr>
            <a:r>
              <a:t>ITS Umbria · Vulnerability Assessment &amp; Penetration Testing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82528" y="6281928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1000" b="1">
                <a:solidFill>
                  <a:srgbClr val="086F78"/>
                </a:solidFill>
                <a:latin typeface="Aptos"/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