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137160"/>
            <a:ext cx="2743200" cy="1645920"/>
          </a:xfrm>
          <a:prstGeom prst="ellipse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11480" y="5394960"/>
            <a:ext cx="2468880" cy="1645920"/>
          </a:xfrm>
          <a:prstGeom prst="ellipse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749808"/>
            <a:ext cx="1170432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822959"/>
            <a:ext cx="95097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B5E7E"/>
                </a:solidFill>
              </a:defRPr>
            </a:pPr>
            <a:r>
              <a:t>DAY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768096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11827"/>
                </a:solidFill>
              </a:defRPr>
            </a:pPr>
            <a:r>
              <a:t>Giornata 7 — Capstone UmbraMarket</a:t>
            </a:r>
          </a:p>
          <a:p>
            <a:pPr>
              <a:defRPr sz="1700">
                <a:solidFill>
                  <a:srgbClr val="374151"/>
                </a:solidFill>
              </a:defRPr>
            </a:pPr>
            <a:r>
              <a:t>Mini-assessment end-to-end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2999232"/>
            <a:ext cx="2286000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3072384"/>
            <a:ext cx="2066543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MODULI •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49039"/>
            <a:ext cx="5486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64748B"/>
                </a:solidFill>
              </a:defRPr>
            </a:pPr>
            <a:r>
              <a:t>Slide premium da proiezione: pochi testi, gerarchia chiara, alternanza naturale con il sito del corso.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828800"/>
            <a:ext cx="2834640" cy="822960"/>
          </a:xfrm>
          <a:prstGeom prst="roundRect">
            <a:avLst/>
          </a:prstGeom>
          <a:solidFill>
            <a:srgbClr val="F7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21040" y="1828800"/>
            <a:ext cx="100584" cy="822960"/>
          </a:xfrm>
          <a:prstGeom prst="rect">
            <a:avLst/>
          </a:prstGeom>
          <a:solidFill>
            <a:srgbClr val="0B5E7E"/>
          </a:solidFill>
          <a:ln>
            <a:solidFill>
              <a:srgbClr val="0B5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2084832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5E7E"/>
                </a:solidFill>
              </a:defRPr>
            </a:pPr>
            <a:r>
              <a:t>lezione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2880360"/>
            <a:ext cx="2834640" cy="822960"/>
          </a:xfrm>
          <a:prstGeom prst="roundRect">
            <a:avLst/>
          </a:prstGeom>
          <a:solidFill>
            <a:srgbClr val="F7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2880360"/>
            <a:ext cx="100584" cy="8229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3136391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laboratorio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3931920"/>
            <a:ext cx="2834640" cy="822960"/>
          </a:xfrm>
          <a:prstGeom prst="roundRect">
            <a:avLst/>
          </a:prstGeom>
          <a:solidFill>
            <a:srgbClr val="F7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3931920"/>
            <a:ext cx="100584" cy="8229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4187952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debrief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245352"/>
            <a:ext cx="1106424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30936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ITS Umbria • VAPT 2026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6254496"/>
            <a:ext cx="502920" cy="292608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45952" y="6300216"/>
            <a:ext cx="365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B5E7E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137160"/>
            <a:ext cx="2743200" cy="1645920"/>
          </a:xfrm>
          <a:prstGeom prst="ellipse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11480" y="5394960"/>
            <a:ext cx="2468880" cy="1645920"/>
          </a:xfrm>
          <a:prstGeom prst="ellipse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566928"/>
            <a:ext cx="1051560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640080"/>
            <a:ext cx="832103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B5E7E"/>
                </a:solidFill>
              </a:defRPr>
            </a:pPr>
            <a:r>
              <a:t>DAY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530352"/>
            <a:ext cx="146304" cy="749808"/>
          </a:xfrm>
          <a:prstGeom prst="roundRect">
            <a:avLst/>
          </a:prstGeom>
          <a:solidFill>
            <a:srgbClr val="0B5E7E"/>
          </a:solidFill>
          <a:ln>
            <a:solidFill>
              <a:srgbClr val="0B5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50976"/>
            <a:ext cx="9601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Roadmap della giornata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Struttura del tempo e deliverable principali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45920"/>
            <a:ext cx="2670048" cy="1024128"/>
          </a:xfrm>
          <a:prstGeom prst="roundRect">
            <a:avLst/>
          </a:prstGeom>
          <a:solidFill>
            <a:srgbClr val="F7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645920"/>
            <a:ext cx="2670048" cy="73152"/>
          </a:xfrm>
          <a:prstGeom prst="rect">
            <a:avLst/>
          </a:prstGeom>
          <a:solidFill>
            <a:srgbClr val="0B5E7E"/>
          </a:solidFill>
          <a:ln>
            <a:solidFill>
              <a:srgbClr val="0B5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810512"/>
            <a:ext cx="2194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827"/>
                </a:solidFill>
              </a:defRPr>
            </a:pPr>
            <a:r>
              <a:t>briefing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scope, obiettivi e deliverable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1645920"/>
            <a:ext cx="2670048" cy="1024128"/>
          </a:xfrm>
          <a:prstGeom prst="roundRect">
            <a:avLst/>
          </a:prstGeom>
          <a:solidFill>
            <a:srgbClr val="F7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11880" y="1645920"/>
            <a:ext cx="2670048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810512"/>
            <a:ext cx="2194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827"/>
                </a:solidFill>
              </a:defRPr>
            </a:pPr>
            <a:r>
              <a:t>planning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attack surface e priorità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2999232"/>
            <a:ext cx="2670048" cy="1024128"/>
          </a:xfrm>
          <a:prstGeom prst="roundRect">
            <a:avLst/>
          </a:prstGeom>
          <a:solidFill>
            <a:srgbClr val="F7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2999232"/>
            <a:ext cx="2670048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163824"/>
            <a:ext cx="2194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827"/>
                </a:solidFill>
              </a:defRPr>
            </a:pPr>
            <a:r>
              <a:t>testing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validation ed evidence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11880" y="2999232"/>
            <a:ext cx="2670048" cy="1024128"/>
          </a:xfrm>
          <a:prstGeom prst="roundRect">
            <a:avLst/>
          </a:prstGeom>
          <a:solidFill>
            <a:srgbClr val="F7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11880" y="2999232"/>
            <a:ext cx="2670048" cy="7315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94760" y="3163824"/>
            <a:ext cx="2194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827"/>
                </a:solidFill>
              </a:defRPr>
            </a:pPr>
            <a:r>
              <a:t>reporting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finding + executive summary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58200" y="1600200"/>
            <a:ext cx="2971800" cy="3566160"/>
          </a:xfrm>
          <a:prstGeom prst="roundRect">
            <a:avLst/>
          </a:prstGeom>
          <a:solidFill>
            <a:srgbClr val="F7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05088" y="1828800"/>
            <a:ext cx="246888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5E7E"/>
                </a:solidFill>
              </a:defRPr>
            </a:pPr>
            <a:r>
              <a:t>Output della giornata</a:t>
            </a:r>
          </a:p>
          <a:p>
            <a:pPr>
              <a:defRPr sz="1300">
                <a:solidFill>
                  <a:srgbClr val="111827"/>
                </a:solidFill>
              </a:defRPr>
            </a:pPr>
            <a:r>
              <a:t>• Attack Surface</a:t>
            </a:r>
          </a:p>
          <a:p>
            <a:pPr>
              <a:defRPr sz="1300">
                <a:solidFill>
                  <a:srgbClr val="111827"/>
                </a:solidFill>
              </a:defRPr>
            </a:pPr>
            <a:r>
              <a:t>• Structured Notes</a:t>
            </a:r>
          </a:p>
          <a:p>
            <a:pPr>
              <a:defRPr sz="1300">
                <a:solidFill>
                  <a:srgbClr val="111827"/>
                </a:solidFill>
              </a:defRPr>
            </a:pPr>
            <a:r>
              <a:t>• Finding(s)</a:t>
            </a:r>
          </a:p>
          <a:p>
            <a:pPr>
              <a:defRPr sz="1300">
                <a:solidFill>
                  <a:srgbClr val="111827"/>
                </a:solidFill>
              </a:defRPr>
            </a:pPr>
            <a:r>
              <a:t>• Evidence Pack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245352"/>
            <a:ext cx="1106424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30936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ITS Umbria • VAPT 2026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0" y="6254496"/>
            <a:ext cx="502920" cy="292608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45952" y="6300216"/>
            <a:ext cx="365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B5E7E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137160"/>
            <a:ext cx="2743200" cy="1645920"/>
          </a:xfrm>
          <a:prstGeom prst="ellipse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11480" y="5394960"/>
            <a:ext cx="2468880" cy="1645920"/>
          </a:xfrm>
          <a:prstGeom prst="ellipse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58368"/>
            <a:ext cx="1051560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731519"/>
            <a:ext cx="832103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B5E7E"/>
                </a:solidFill>
              </a:defRPr>
            </a:pPr>
            <a:r>
              <a:t>DAY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987552" y="1755648"/>
            <a:ext cx="164592" cy="2194560"/>
          </a:xfrm>
          <a:prstGeom prst="rect">
            <a:avLst/>
          </a:prstGeom>
          <a:solidFill>
            <a:srgbClr val="0B5E7E"/>
          </a:solidFill>
          <a:ln>
            <a:solidFill>
              <a:srgbClr val="0B5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719072"/>
            <a:ext cx="896112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11827"/>
                </a:solidFill>
              </a:defRPr>
            </a:pPr>
            <a:r>
              <a:t>Il capstone non misura quanti tool sapete usare. Misura se sapete condurre un assessment professionale.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Tutto ciò che serve è già comparso nei moduli precedenti.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245352"/>
            <a:ext cx="1106424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30936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ITS Umbria • VAPT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0" y="6254496"/>
            <a:ext cx="502920" cy="292608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45952" y="6300216"/>
            <a:ext cx="365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B5E7E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137160"/>
            <a:ext cx="2743200" cy="1645920"/>
          </a:xfrm>
          <a:prstGeom prst="ellipse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11480" y="5394960"/>
            <a:ext cx="2468880" cy="1645920"/>
          </a:xfrm>
          <a:prstGeom prst="ellipse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566928"/>
            <a:ext cx="1051560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640080"/>
            <a:ext cx="832103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B5E7E"/>
                </a:solidFill>
              </a:defRPr>
            </a:pPr>
            <a:r>
              <a:t>DAY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530352"/>
            <a:ext cx="146304" cy="749808"/>
          </a:xfrm>
          <a:prstGeom prst="roundRect">
            <a:avLst/>
          </a:prstGeom>
          <a:solidFill>
            <a:srgbClr val="0B5E7E"/>
          </a:solidFill>
          <a:ln>
            <a:solidFill>
              <a:srgbClr val="0B5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50976"/>
            <a:ext cx="9601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Flusso consigliato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Il processo conta più della velocità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9407" y="2423160"/>
            <a:ext cx="1517904" cy="914400"/>
          </a:xfrm>
          <a:prstGeom prst="roundRect">
            <a:avLst/>
          </a:prstGeom>
          <a:solidFill>
            <a:srgbClr val="F7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9135" y="2734056"/>
            <a:ext cx="12984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111827"/>
                </a:solidFill>
              </a:defRPr>
            </a:pPr>
            <a:r>
              <a:t>scope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07311" y="2880360"/>
            <a:ext cx="164592" cy="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971903" y="2423160"/>
            <a:ext cx="1517904" cy="914400"/>
          </a:xfrm>
          <a:prstGeom prst="roundRect">
            <a:avLst/>
          </a:prstGeom>
          <a:solidFill>
            <a:srgbClr val="F7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81631" y="2734056"/>
            <a:ext cx="12984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111827"/>
                </a:solidFill>
              </a:defRPr>
            </a:pPr>
            <a:r>
              <a:t>surface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489807" y="2880360"/>
            <a:ext cx="164592" cy="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654399" y="2423160"/>
            <a:ext cx="1517904" cy="914400"/>
          </a:xfrm>
          <a:prstGeom prst="roundRect">
            <a:avLst/>
          </a:prstGeom>
          <a:solidFill>
            <a:srgbClr val="F7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64127" y="2734056"/>
            <a:ext cx="12984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111827"/>
                </a:solidFill>
              </a:defRPr>
            </a:pPr>
            <a:r>
              <a:t>ipotesi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172303" y="2880360"/>
            <a:ext cx="164592" cy="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336895" y="2423160"/>
            <a:ext cx="1517904" cy="914400"/>
          </a:xfrm>
          <a:prstGeom prst="roundRect">
            <a:avLst/>
          </a:prstGeom>
          <a:solidFill>
            <a:srgbClr val="F7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46623" y="2734056"/>
            <a:ext cx="12984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111827"/>
                </a:solidFill>
              </a:defRPr>
            </a:pPr>
            <a:r>
              <a:t>test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4799" y="2880360"/>
            <a:ext cx="164592" cy="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019391" y="2423160"/>
            <a:ext cx="1517904" cy="914400"/>
          </a:xfrm>
          <a:prstGeom prst="roundRect">
            <a:avLst/>
          </a:prstGeom>
          <a:solidFill>
            <a:srgbClr val="F7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29119" y="2734056"/>
            <a:ext cx="12984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111827"/>
                </a:solidFill>
              </a:defRPr>
            </a:pPr>
            <a:r>
              <a:t>evidenza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537295" y="2880360"/>
            <a:ext cx="164592" cy="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701887" y="2423160"/>
            <a:ext cx="1517904" cy="914400"/>
          </a:xfrm>
          <a:prstGeom prst="roundRect">
            <a:avLst/>
          </a:prstGeom>
          <a:solidFill>
            <a:srgbClr val="F7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11615" y="2734056"/>
            <a:ext cx="12984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111827"/>
                </a:solidFill>
              </a:defRPr>
            </a:pPr>
            <a:r>
              <a:t>finding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219791" y="2880360"/>
            <a:ext cx="164592" cy="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384383" y="2423160"/>
            <a:ext cx="1517904" cy="914400"/>
          </a:xfrm>
          <a:prstGeom prst="roundRect">
            <a:avLst/>
          </a:prstGeom>
          <a:solidFill>
            <a:srgbClr val="F7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94111" y="2734056"/>
            <a:ext cx="12984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111827"/>
                </a:solidFill>
              </a:defRPr>
            </a:pPr>
            <a:r>
              <a:t>summary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245352"/>
            <a:ext cx="1106424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630936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ITS Umbria • VAPT 2026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72800" y="6254496"/>
            <a:ext cx="502920" cy="292608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045952" y="6300216"/>
            <a:ext cx="365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B5E7E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137160"/>
            <a:ext cx="2743200" cy="1645920"/>
          </a:xfrm>
          <a:prstGeom prst="ellipse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11480" y="5394960"/>
            <a:ext cx="2468880" cy="1645920"/>
          </a:xfrm>
          <a:prstGeom prst="ellipse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566928"/>
            <a:ext cx="1051560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640080"/>
            <a:ext cx="832103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B5E7E"/>
                </a:solidFill>
              </a:defRPr>
            </a:pPr>
            <a:r>
              <a:t>DAY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530352"/>
            <a:ext cx="146304" cy="749808"/>
          </a:xfrm>
          <a:prstGeom prst="roundRect">
            <a:avLst/>
          </a:prstGeom>
          <a:solidFill>
            <a:srgbClr val="0B5E7E"/>
          </a:solidFill>
          <a:ln>
            <a:solidFill>
              <a:srgbClr val="0B5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50976"/>
            <a:ext cx="9601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Che cosa consegnare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Artefatti leggibili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3480816" cy="1755648"/>
          </a:xfrm>
          <a:prstGeom prst="roundRect">
            <a:avLst/>
          </a:prstGeom>
          <a:solidFill>
            <a:srgbClr val="F7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37360"/>
            <a:ext cx="3480816" cy="73152"/>
          </a:xfrm>
          <a:prstGeom prst="rect">
            <a:avLst/>
          </a:prstGeom>
          <a:solidFill>
            <a:srgbClr val="0B5E7E"/>
          </a:solidFill>
          <a:ln>
            <a:solidFill>
              <a:srgbClr val="0B5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883664"/>
            <a:ext cx="3206496" cy="1572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0B5E7E"/>
                </a:solidFill>
              </a:defRPr>
            </a:pPr>
            <a:r>
              <a:t>notes</a:t>
            </a:r>
          </a:p>
          <a:p>
            <a:pPr>
              <a:defRPr sz="1230">
                <a:solidFill>
                  <a:srgbClr val="111827"/>
                </a:solidFill>
              </a:defRPr>
            </a:pPr>
            <a:r>
              <a:t>• facts</a:t>
            </a:r>
          </a:p>
          <a:p>
            <a:pPr>
              <a:defRPr sz="1230">
                <a:solidFill>
                  <a:srgbClr val="111827"/>
                </a:solidFill>
              </a:defRPr>
            </a:pPr>
            <a:r>
              <a:t>• hypotheses</a:t>
            </a:r>
          </a:p>
          <a:p>
            <a:pPr>
              <a:defRPr sz="1230">
                <a:solidFill>
                  <a:srgbClr val="111827"/>
                </a:solidFill>
              </a:defRPr>
            </a:pPr>
            <a:r>
              <a:t>• tests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6072" y="1737360"/>
            <a:ext cx="3480816" cy="1755648"/>
          </a:xfrm>
          <a:prstGeom prst="roundRect">
            <a:avLst/>
          </a:prstGeom>
          <a:solidFill>
            <a:srgbClr val="F7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6072" y="1737360"/>
            <a:ext cx="3480816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0664" y="1883664"/>
            <a:ext cx="3206496" cy="1572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2563EB"/>
                </a:solidFill>
              </a:defRPr>
            </a:pPr>
            <a:r>
              <a:t>finding</a:t>
            </a:r>
          </a:p>
          <a:p>
            <a:pPr>
              <a:defRPr sz="1230">
                <a:solidFill>
                  <a:srgbClr val="111827"/>
                </a:solidFill>
              </a:defRPr>
            </a:pPr>
            <a:r>
              <a:t>• evidence</a:t>
            </a:r>
          </a:p>
          <a:p>
            <a:pPr>
              <a:defRPr sz="1230">
                <a:solidFill>
                  <a:srgbClr val="111827"/>
                </a:solidFill>
              </a:defRPr>
            </a:pPr>
            <a:r>
              <a:t>• impatto</a:t>
            </a:r>
          </a:p>
          <a:p>
            <a:pPr>
              <a:defRPr sz="1230">
                <a:solidFill>
                  <a:srgbClr val="111827"/>
                </a:solidFill>
              </a:defRPr>
            </a:pPr>
            <a:r>
              <a:t>• remediation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6344" y="1737360"/>
            <a:ext cx="3480816" cy="1755648"/>
          </a:xfrm>
          <a:prstGeom prst="roundRect">
            <a:avLst/>
          </a:prstGeom>
          <a:solidFill>
            <a:srgbClr val="F7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6344" y="1737360"/>
            <a:ext cx="3480816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0936" y="1883664"/>
            <a:ext cx="3206496" cy="1572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59E0B"/>
                </a:solidFill>
              </a:defRPr>
            </a:pPr>
            <a:r>
              <a:t>summary</a:t>
            </a:r>
          </a:p>
          <a:p>
            <a:pPr>
              <a:defRPr sz="1230">
                <a:solidFill>
                  <a:srgbClr val="111827"/>
                </a:solidFill>
              </a:defRPr>
            </a:pPr>
            <a:r>
              <a:t>• rischi</a:t>
            </a:r>
          </a:p>
          <a:p>
            <a:pPr>
              <a:defRPr sz="1230">
                <a:solidFill>
                  <a:srgbClr val="111827"/>
                </a:solidFill>
              </a:defRPr>
            </a:pPr>
            <a:r>
              <a:t>• priorità</a:t>
            </a:r>
          </a:p>
          <a:p>
            <a:pPr>
              <a:defRPr sz="1230">
                <a:solidFill>
                  <a:srgbClr val="111827"/>
                </a:solidFill>
              </a:defRPr>
            </a:pPr>
            <a:r>
              <a:t>• linguaggio cliente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245352"/>
            <a:ext cx="1106424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30936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ITS Umbria • VAPT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0" y="6254496"/>
            <a:ext cx="502920" cy="292608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45952" y="6300216"/>
            <a:ext cx="365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B5E7E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137160"/>
            <a:ext cx="2743200" cy="1645920"/>
          </a:xfrm>
          <a:prstGeom prst="ellipse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11480" y="5394960"/>
            <a:ext cx="2468880" cy="1645920"/>
          </a:xfrm>
          <a:prstGeom prst="ellipse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566928"/>
            <a:ext cx="1051560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640080"/>
            <a:ext cx="832103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B5E7E"/>
                </a:solidFill>
              </a:defRPr>
            </a:pPr>
            <a:r>
              <a:t>DAY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530352"/>
            <a:ext cx="146304" cy="749808"/>
          </a:xfrm>
          <a:prstGeom prst="roundRect">
            <a:avLst/>
          </a:prstGeom>
          <a:solidFill>
            <a:srgbClr val="0B5E7E"/>
          </a:solidFill>
          <a:ln>
            <a:solidFill>
              <a:srgbClr val="0B5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50976"/>
            <a:ext cx="9601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Regola sugli hint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Metodo prima della soluzione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3480816" cy="1755648"/>
          </a:xfrm>
          <a:prstGeom prst="roundRect">
            <a:avLst/>
          </a:prstGeom>
          <a:solidFill>
            <a:srgbClr val="F7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37360"/>
            <a:ext cx="3480816" cy="73152"/>
          </a:xfrm>
          <a:prstGeom prst="rect">
            <a:avLst/>
          </a:prstGeom>
          <a:solidFill>
            <a:srgbClr val="0B5E7E"/>
          </a:solidFill>
          <a:ln>
            <a:solidFill>
              <a:srgbClr val="0B5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883664"/>
            <a:ext cx="3206496" cy="1572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0B5E7E"/>
                </a:solidFill>
              </a:defRPr>
            </a:pPr>
            <a:r>
              <a:t>level 0</a:t>
            </a:r>
          </a:p>
          <a:p>
            <a:pPr>
              <a:defRPr sz="1230">
                <a:solidFill>
                  <a:srgbClr val="111827"/>
                </a:solidFill>
              </a:defRPr>
            </a:pPr>
            <a:r>
              <a:t>• nessun hint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6072" y="1737360"/>
            <a:ext cx="3480816" cy="1755648"/>
          </a:xfrm>
          <a:prstGeom prst="roundRect">
            <a:avLst/>
          </a:prstGeom>
          <a:solidFill>
            <a:srgbClr val="F7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6072" y="1737360"/>
            <a:ext cx="3480816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0664" y="1883664"/>
            <a:ext cx="3206496" cy="1572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2563EB"/>
                </a:solidFill>
              </a:defRPr>
            </a:pPr>
            <a:r>
              <a:t>level 1–2</a:t>
            </a:r>
          </a:p>
          <a:p>
            <a:pPr>
              <a:defRPr sz="1230">
                <a:solidFill>
                  <a:srgbClr val="111827"/>
                </a:solidFill>
              </a:defRPr>
            </a:pPr>
            <a:r>
              <a:t>• domanda sul metodo</a:t>
            </a:r>
          </a:p>
          <a:p>
            <a:pPr>
              <a:defRPr sz="1230">
                <a:solidFill>
                  <a:srgbClr val="111827"/>
                </a:solidFill>
              </a:defRPr>
            </a:pPr>
            <a:r>
              <a:t>• rileggi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6344" y="1737360"/>
            <a:ext cx="3480816" cy="1755648"/>
          </a:xfrm>
          <a:prstGeom prst="roundRect">
            <a:avLst/>
          </a:prstGeom>
          <a:solidFill>
            <a:srgbClr val="F7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6344" y="1737360"/>
            <a:ext cx="3480816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0936" y="1883664"/>
            <a:ext cx="3206496" cy="1572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59E0B"/>
                </a:solidFill>
              </a:defRPr>
            </a:pPr>
            <a:r>
              <a:t>level 3–4</a:t>
            </a:r>
          </a:p>
          <a:p>
            <a:pPr>
              <a:defRPr sz="1230">
                <a:solidFill>
                  <a:srgbClr val="111827"/>
                </a:solidFill>
              </a:defRPr>
            </a:pPr>
            <a:r>
              <a:t>• area / concetto</a:t>
            </a:r>
          </a:p>
          <a:p>
            <a:pPr>
              <a:defRPr sz="1230">
                <a:solidFill>
                  <a:srgbClr val="111827"/>
                </a:solidFill>
              </a:defRPr>
            </a:pPr>
            <a:r>
              <a:t>• passaggio guidato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245352"/>
            <a:ext cx="1106424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30936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ITS Umbria • VAPT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0" y="6254496"/>
            <a:ext cx="502920" cy="292608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45952" y="6300216"/>
            <a:ext cx="365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B5E7E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137160"/>
            <a:ext cx="2743200" cy="1645920"/>
          </a:xfrm>
          <a:prstGeom prst="ellipse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11480" y="5394960"/>
            <a:ext cx="2468880" cy="1645920"/>
          </a:xfrm>
          <a:prstGeom prst="ellipse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566928"/>
            <a:ext cx="1051560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640080"/>
            <a:ext cx="832103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B5E7E"/>
                </a:solidFill>
              </a:defRPr>
            </a:pPr>
            <a:r>
              <a:t>DAY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530352"/>
            <a:ext cx="146304" cy="749808"/>
          </a:xfrm>
          <a:prstGeom prst="roundRect">
            <a:avLst/>
          </a:prstGeom>
          <a:solidFill>
            <a:srgbClr val="0B5E7E"/>
          </a:solidFill>
          <a:ln>
            <a:solidFill>
              <a:srgbClr val="0B5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50976"/>
            <a:ext cx="9601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Priorità nel capstone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Meglio un buon finding che cinque alert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4572000" cy="4069080"/>
          </a:xfrm>
          <a:prstGeom prst="roundRect">
            <a:avLst/>
          </a:prstGeom>
          <a:solidFill>
            <a:srgbClr val="F7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993392"/>
            <a:ext cx="4133087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5E7E"/>
                </a:solidFill>
              </a:defRPr>
            </a:pPr>
            <a:r>
              <a:t>proteggere</a:t>
            </a:r>
          </a:p>
          <a:p>
            <a:pPr>
              <a:defRPr sz="1280">
                <a:solidFill>
                  <a:srgbClr val="111827"/>
                </a:solidFill>
              </a:defRPr>
            </a:pPr>
            <a:r>
              <a:t>• metodo e note</a:t>
            </a:r>
          </a:p>
          <a:p>
            <a:pPr>
              <a:defRPr sz="1280">
                <a:solidFill>
                  <a:srgbClr val="111827"/>
                </a:solidFill>
              </a:defRPr>
            </a:pPr>
            <a:r>
              <a:t>• finding validato</a:t>
            </a:r>
          </a:p>
          <a:p>
            <a:pPr>
              <a:defRPr sz="1280">
                <a:solidFill>
                  <a:srgbClr val="111827"/>
                </a:solidFill>
              </a:defRPr>
            </a:pPr>
            <a:r>
              <a:t>• stop condition</a:t>
            </a:r>
          </a:p>
          <a:p>
            <a:pPr>
              <a:defRPr sz="1280">
                <a:solidFill>
                  <a:srgbClr val="111827"/>
                </a:solidFill>
              </a:defRPr>
            </a:pPr>
            <a:r>
              <a:t>• report comprensibile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16752" y="1783080"/>
            <a:ext cx="4572000" cy="4069080"/>
          </a:xfrm>
          <a:prstGeom prst="roundRect">
            <a:avLst/>
          </a:prstGeom>
          <a:solidFill>
            <a:srgbClr val="F7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993392"/>
            <a:ext cx="4133087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evitare</a:t>
            </a:r>
          </a:p>
          <a:p>
            <a:pPr>
              <a:defRPr sz="1280">
                <a:solidFill>
                  <a:srgbClr val="111827"/>
                </a:solidFill>
              </a:defRPr>
            </a:pPr>
            <a:r>
              <a:t>• fare tutto a metà</a:t>
            </a:r>
          </a:p>
          <a:p>
            <a:pPr>
              <a:defRPr sz="1280">
                <a:solidFill>
                  <a:srgbClr val="111827"/>
                </a:solidFill>
              </a:defRPr>
            </a:pPr>
            <a:r>
              <a:t>• continuare senza valore</a:t>
            </a:r>
          </a:p>
          <a:p>
            <a:pPr>
              <a:defRPr sz="1280">
                <a:solidFill>
                  <a:srgbClr val="111827"/>
                </a:solidFill>
              </a:defRPr>
            </a:pPr>
            <a:r>
              <a:t>• scanner = finding</a:t>
            </a:r>
          </a:p>
          <a:p>
            <a:pPr>
              <a:defRPr sz="1280">
                <a:solidFill>
                  <a:srgbClr val="111827"/>
                </a:solidFill>
              </a:defRPr>
            </a:pPr>
            <a:r>
              <a:t>• inventare impatti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245352"/>
            <a:ext cx="1106424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30936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ITS Umbria • VAPT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0" y="6254496"/>
            <a:ext cx="502920" cy="292608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45952" y="6300216"/>
            <a:ext cx="365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B5E7E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137160"/>
            <a:ext cx="2743200" cy="1645920"/>
          </a:xfrm>
          <a:prstGeom prst="ellipse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11480" y="5394960"/>
            <a:ext cx="2468880" cy="1645920"/>
          </a:xfrm>
          <a:prstGeom prst="ellipse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566928"/>
            <a:ext cx="1051560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640080"/>
            <a:ext cx="832103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B5E7E"/>
                </a:solidFill>
              </a:defRPr>
            </a:pPr>
            <a:r>
              <a:t>DAY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530352"/>
            <a:ext cx="146304" cy="749808"/>
          </a:xfrm>
          <a:prstGeom prst="roundRect">
            <a:avLst/>
          </a:prstGeom>
          <a:solidFill>
            <a:srgbClr val="0B5E7E"/>
          </a:solidFill>
          <a:ln>
            <a:solidFill>
              <a:srgbClr val="0B5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50976"/>
            <a:ext cx="9601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Checklist finale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Prima di chiudere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1783080"/>
            <a:ext cx="10561320" cy="4069080"/>
          </a:xfrm>
          <a:prstGeom prst="roundRect">
            <a:avLst/>
          </a:prstGeom>
          <a:solidFill>
            <a:srgbClr val="F7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057400"/>
            <a:ext cx="98755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>
                <a:solidFill>
                  <a:srgbClr val="111827"/>
                </a:solidFill>
              </a:defRPr>
            </a:pPr>
            <a:r>
              <a:t>☐ scope chiaro</a:t>
            </a:r>
          </a:p>
          <a:p>
            <a:pPr>
              <a:defRPr sz="1550">
                <a:solidFill>
                  <a:srgbClr val="111827"/>
                </a:solidFill>
              </a:defRPr>
            </a:pPr>
            <a:r>
              <a:t>☐ fatto vs ipotesi</a:t>
            </a:r>
          </a:p>
          <a:p>
            <a:pPr>
              <a:defRPr sz="1550">
                <a:solidFill>
                  <a:srgbClr val="111827"/>
                </a:solidFill>
              </a:defRPr>
            </a:pPr>
            <a:r>
              <a:t>☐ test motivato</a:t>
            </a:r>
          </a:p>
          <a:p>
            <a:pPr>
              <a:defRPr sz="1550">
                <a:solidFill>
                  <a:srgbClr val="111827"/>
                </a:solidFill>
              </a:defRPr>
            </a:pPr>
            <a:r>
              <a:t>☐ evidenza minima</a:t>
            </a:r>
          </a:p>
          <a:p>
            <a:pPr>
              <a:defRPr sz="1550">
                <a:solidFill>
                  <a:srgbClr val="111827"/>
                </a:solidFill>
              </a:defRPr>
            </a:pPr>
            <a:r>
              <a:t>☐ passare al reporting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245352"/>
            <a:ext cx="1106424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30936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ITS Umbria • VAPT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0" y="6254496"/>
            <a:ext cx="502920" cy="292608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45952" y="6300216"/>
            <a:ext cx="365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B5E7E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137160"/>
            <a:ext cx="2743200" cy="1645920"/>
          </a:xfrm>
          <a:prstGeom prst="ellipse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11480" y="5394960"/>
            <a:ext cx="2468880" cy="1645920"/>
          </a:xfrm>
          <a:prstGeom prst="ellipse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566928"/>
            <a:ext cx="1051560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640080"/>
            <a:ext cx="832103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B5E7E"/>
                </a:solidFill>
              </a:defRPr>
            </a:pPr>
            <a:r>
              <a:t>DAY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530352"/>
            <a:ext cx="146304" cy="749808"/>
          </a:xfrm>
          <a:prstGeom prst="roundRect">
            <a:avLst/>
          </a:prstGeom>
          <a:solidFill>
            <a:srgbClr val="0B5E7E"/>
          </a:solidFill>
          <a:ln>
            <a:solidFill>
              <a:srgbClr val="0B5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50976"/>
            <a:ext cx="9601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Quando passare al sito del corso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Le slide danno ritmo. Il sito contiene i dettagli operativi.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154680" cy="3520440"/>
          </a:xfrm>
          <a:prstGeom prst="roundRect">
            <a:avLst/>
          </a:prstGeom>
          <a:solidFill>
            <a:srgbClr val="F7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057400"/>
            <a:ext cx="27432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B5E7E"/>
                </a:solidFill>
              </a:defRPr>
            </a:pPr>
            <a:r>
              <a:t>QUI IN SLIDE</a:t>
            </a:r>
          </a:p>
          <a:p>
            <a:pPr>
              <a:defRPr sz="1260">
                <a:solidFill>
                  <a:srgbClr val="111827"/>
                </a:solidFill>
              </a:defRPr>
            </a:pPr>
            <a:r>
              <a:t>• ritmo della giornata</a:t>
            </a:r>
          </a:p>
          <a:p>
            <a:pPr>
              <a:defRPr sz="1260">
                <a:solidFill>
                  <a:srgbClr val="111827"/>
                </a:solidFill>
              </a:defRPr>
            </a:pPr>
            <a:r>
              <a:t>• concetti chiave</a:t>
            </a:r>
          </a:p>
          <a:p>
            <a:pPr>
              <a:defRPr sz="1260">
                <a:solidFill>
                  <a:srgbClr val="111827"/>
                </a:solidFill>
              </a:defRPr>
            </a:pPr>
            <a:r>
              <a:t>• mappe e diagrammi</a:t>
            </a:r>
          </a:p>
          <a:p>
            <a:pPr>
              <a:defRPr sz="1260">
                <a:solidFill>
                  <a:srgbClr val="111827"/>
                </a:solidFill>
              </a:defRPr>
            </a:pPr>
            <a:r>
              <a:t>• output attesi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1828800"/>
            <a:ext cx="3154680" cy="3520440"/>
          </a:xfrm>
          <a:prstGeom prst="roundRect">
            <a:avLst/>
          </a:prstGeom>
          <a:solidFill>
            <a:srgbClr val="F7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6864" y="2057400"/>
            <a:ext cx="27432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SUL SITO</a:t>
            </a:r>
          </a:p>
          <a:p>
            <a:pPr>
              <a:defRPr sz="1260">
                <a:solidFill>
                  <a:srgbClr val="111827"/>
                </a:solidFill>
              </a:defRPr>
            </a:pPr>
            <a:r>
              <a:t>• lezione completa</a:t>
            </a:r>
          </a:p>
          <a:p>
            <a:pPr>
              <a:defRPr sz="1260">
                <a:solidFill>
                  <a:srgbClr val="111827"/>
                </a:solidFill>
              </a:defRPr>
            </a:pPr>
            <a:r>
              <a:t>• dossier di laboratorio</a:t>
            </a:r>
          </a:p>
          <a:p>
            <a:pPr>
              <a:defRPr sz="1260">
                <a:solidFill>
                  <a:srgbClr val="111827"/>
                </a:solidFill>
              </a:defRPr>
            </a:pPr>
            <a:r>
              <a:t>• artefatti e request</a:t>
            </a:r>
          </a:p>
          <a:p>
            <a:pPr>
              <a:defRPr sz="1260">
                <a:solidFill>
                  <a:srgbClr val="111827"/>
                </a:solidFill>
              </a:defRPr>
            </a:pPr>
            <a:r>
              <a:t>• quiz e PDF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3024" y="1828800"/>
            <a:ext cx="3154680" cy="3520440"/>
          </a:xfrm>
          <a:prstGeom prst="roundRect">
            <a:avLst/>
          </a:prstGeom>
          <a:solidFill>
            <a:srgbClr val="F7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7616" y="2057400"/>
            <a:ext cx="27432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DURANTE IL LAB</a:t>
            </a:r>
          </a:p>
          <a:p>
            <a:pPr>
              <a:defRPr sz="1260">
                <a:solidFill>
                  <a:srgbClr val="111827"/>
                </a:solidFill>
              </a:defRPr>
            </a:pPr>
            <a:r>
              <a:t>• consultare il sito</a:t>
            </a:r>
          </a:p>
          <a:p>
            <a:pPr>
              <a:defRPr sz="1260">
                <a:solidFill>
                  <a:srgbClr val="111827"/>
                </a:solidFill>
              </a:defRPr>
            </a:pPr>
            <a:r>
              <a:t>• annotare nel taccuino</a:t>
            </a:r>
          </a:p>
          <a:p>
            <a:pPr>
              <a:defRPr sz="1260">
                <a:solidFill>
                  <a:srgbClr val="111827"/>
                </a:solidFill>
              </a:defRPr>
            </a:pPr>
            <a:r>
              <a:t>• chiedere evidenze, non solo risposte</a:t>
            </a:r>
          </a:p>
          <a:p>
            <a:pPr>
              <a:defRPr sz="1260">
                <a:solidFill>
                  <a:srgbClr val="111827"/>
                </a:solidFill>
              </a:defRPr>
            </a:pPr>
            <a:r>
              <a:t>• usare i deliverable come guida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245352"/>
            <a:ext cx="1106424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30936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ITS Umbria • VAPT 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0" y="6254496"/>
            <a:ext cx="502920" cy="292608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45952" y="6300216"/>
            <a:ext cx="365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B5E7E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