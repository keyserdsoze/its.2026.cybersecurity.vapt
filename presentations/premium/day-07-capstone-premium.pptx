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23960" y="457200"/>
            <a:ext cx="2560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7200" b="1">
                <a:solidFill>
                  <a:srgbClr val="F1F5F9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713232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7818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83080" y="713232"/>
            <a:ext cx="10972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74519" y="78181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77724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300" b="1">
                <a:solidFill>
                  <a:srgbClr val="111827"/>
                </a:solidFill>
                <a:latin typeface="Aptos"/>
              </a:defRPr>
            </a:pPr>
            <a:r>
              <a:t>Capstone UmbraMarket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670048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700" b="0">
                <a:solidFill>
                  <a:srgbClr val="374151"/>
                </a:solidFill>
                <a:latin typeface="Aptos"/>
              </a:defRPr>
            </a:pPr>
            <a:r>
              <a:t>Oggi il corso smette di guidarci passo per passo. Costruiamo un mini-assessment end-to-end.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38862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IL NOSTRO PERCORSO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086F78"/>
                </a:solidFill>
                <a:latin typeface="Aptos"/>
              </a:defRPr>
            </a:pPr>
            <a:r>
              <a:t>capire lo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5635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4507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07659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2563EB"/>
                </a:solidFill>
                <a:latin typeface="Aptos"/>
              </a:defRPr>
            </a:pPr>
            <a:r>
              <a:t>costruire la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3486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92358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10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D97706"/>
                </a:solidFill>
                <a:latin typeface="Aptos"/>
              </a:defRPr>
            </a:pPr>
            <a:r>
              <a:t>scegliere i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1337" y="4471416"/>
            <a:ext cx="91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50209" y="4315968"/>
            <a:ext cx="1811547" cy="56692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3361" y="4471416"/>
            <a:ext cx="1665243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20" b="1">
                <a:solidFill>
                  <a:srgbClr val="6D28D9"/>
                </a:solidFill>
                <a:latin typeface="Aptos"/>
              </a:defRPr>
            </a:pPr>
            <a:r>
              <a:t>scrivere il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5230368"/>
            <a:ext cx="9601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64748B"/>
                </a:solidFill>
                <a:latin typeface="Aptos"/>
              </a:defRPr>
            </a:pPr>
            <a:r>
              <a:t>Le slide ci tengono sul filo. Il sito e i dossier ci danno i dettagli quando ci servono.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Oggi facciamo questo percorso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Alterniamo ragionamento, esempi, sito e laboratorio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77824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briefing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ci viene chiesto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7831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3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648456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9896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planning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48456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dove spendiamo tempo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19088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possiamo provare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69096" y="250545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25128" y="2176272"/>
            <a:ext cx="2423160" cy="1143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89719" y="2322576"/>
            <a:ext cx="41148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81159" y="2391156"/>
            <a:ext cx="228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19" y="2697479"/>
            <a:ext cx="2093976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111827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980944"/>
            <a:ext cx="2093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0">
                <a:solidFill>
                  <a:srgbClr val="64748B"/>
                </a:solidFill>
                <a:latin typeface="Aptos"/>
              </a:defRPr>
            </a:pPr>
            <a:r>
              <a:t>cosa possiamo sostenere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1605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ALLA FINE CI PORTIAMO VIA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572000"/>
            <a:ext cx="2048256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640580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ATTACK SURFACE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44368" y="4572000"/>
            <a:ext cx="150876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35808" y="4640580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NOTES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17720" y="4572000"/>
            <a:ext cx="150876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9160" y="4640580"/>
            <a:ext cx="1325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FINDING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91072" y="4572000"/>
            <a:ext cx="1947672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2512" y="4640580"/>
            <a:ext cx="176479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EVIDENCE PACK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CONCETTO</a:t>
            </a:r>
          </a:p>
        </p:txBody>
      </p:sp>
      <p:sp>
        <p:nvSpPr>
          <p:cNvPr id="8" name="Rectangle 7"/>
          <p:cNvSpPr/>
          <p:nvPr/>
        </p:nvSpPr>
        <p:spPr>
          <a:xfrm>
            <a:off x="786384" y="1508760"/>
            <a:ext cx="146304" cy="246888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25296" y="1426464"/>
            <a:ext cx="932688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111827"/>
                </a:solidFill>
                <a:latin typeface="Aptos"/>
              </a:defRPr>
            </a:pPr>
            <a:r>
              <a:t>Il capstone non premia chi trova più cose.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182112"/>
            <a:ext cx="8961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0">
                <a:solidFill>
                  <a:srgbClr val="374151"/>
                </a:solidFill>
                <a:latin typeface="Aptos"/>
              </a:defRPr>
            </a:pPr>
            <a:r>
              <a:t>Premia chi sa scegliere, verificare, fermarsi e spiegare perché una conclusione è supportata.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Il nostro contratto operativo di oggi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Le stesse regole del lavoro reale, in miniatura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5417820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04288"/>
            <a:ext cx="52349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Area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03620" y="2148840"/>
            <a:ext cx="5417820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5059" y="2304288"/>
            <a:ext cx="52349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Regola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97480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34640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03620" y="2697480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5059" y="2834640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solo gli asset esplicitamente autorizzati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319272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56432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03620" y="3319272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5059" y="3456432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salviamo ciò che sostiene ogni conclusione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941064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78224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03620" y="3941064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95059" y="4078224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una ipotesi alla volta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562856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00016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Stop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03620" y="4562856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5059" y="4700016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niente escalation senza valore aggiunto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5184648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321808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3620" y="5184648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5059" y="5321808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niente overclaim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Il flusso che possiamo usare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Non è obbligatorio farlo in modo perfettamente lineare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8047" y="2743200"/>
            <a:ext cx="1345474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294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09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75" y="3246120"/>
            <a:ext cx="11260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10953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66401" y="2743200"/>
            <a:ext cx="1345474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57841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49281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76129" y="3246120"/>
            <a:ext cx="11260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surface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39308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94756" y="2743200"/>
            <a:ext cx="1345474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986196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77636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4484" y="3246120"/>
            <a:ext cx="11260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ipotesi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67662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23110" y="2743200"/>
            <a:ext cx="1345474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514550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05990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838" y="3246120"/>
            <a:ext cx="11260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96016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51464" y="2743200"/>
            <a:ext cx="1345474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042904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4344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1192" y="3246120"/>
            <a:ext cx="11260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4371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79819" y="2743200"/>
            <a:ext cx="1345474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71259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62699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89547" y="3246120"/>
            <a:ext cx="11260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finding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52725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008173" y="2743200"/>
            <a:ext cx="1345474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0099613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191053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17901" y="3246120"/>
            <a:ext cx="112601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Abbiamo 3 ore effettive. Dove spendiamo il primo blocco?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Non tutto merita lo stesso tempo. La priorità è una decisione tecnica.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Quale evidenza ci darebbe più informazione?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216152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0332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PLANNING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Taccuino del pentester: minimo indispensabile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Le note raccontano il processo, non solo il risultato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FACTS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abbiamo osservato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 timestamp / artefatto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HYPOTHESES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pensiamo possa spiegare il dato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quanto siamo sicuri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TESTS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cosa proviamo e perché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expected vs observed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DECISIONS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continuare, cambiare pista, fermarsi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motivazione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11556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Gli artefatti contengono anche rumore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Parte del lavoro è decidere cosa ignorare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BANNER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può essere vero, falso o proxy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serve validazione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BE185D"/>
          </a:solidFill>
          <a:ln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BE185D"/>
                </a:solidFill>
                <a:latin typeface="Aptos"/>
              </a:defRPr>
            </a:pPr>
            <a:r>
              <a:t>OUT-OF-SCOPE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può essere interessante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ma non autorizza il test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SCANNER ALERT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può essere utile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ma non è un finding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11556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Una validazione forte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stessa logica vista nei laboratori precedenti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2958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2102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1246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3931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expected behavior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721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1266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0410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9554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239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cambio una variabile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029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9574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38718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0547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observed behavior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337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7882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7026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170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8855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ripeto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6459" y="3163824"/>
            <a:ext cx="12801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64748B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61907" y="2743200"/>
            <a:ext cx="1600200" cy="100584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53347" y="2852928"/>
            <a:ext cx="38404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44787" y="2921508"/>
            <a:ext cx="201167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71635" y="3246120"/>
            <a:ext cx="138074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280" b="1">
                <a:solidFill>
                  <a:srgbClr val="111827"/>
                </a:solidFill>
                <a:latin typeface="Aptos"/>
              </a:defRPr>
            </a:pPr>
            <a:r>
              <a:t>stop condition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115568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9326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Hint: usiamoli bene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Chiedere un hint non è fallire: l’importante è capire perché serviva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48840"/>
            <a:ext cx="73152" cy="1389888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LEVEL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nessun hint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provate a decidere da soli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148840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2148840"/>
            <a:ext cx="73152" cy="1389888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313432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2563EB"/>
                </a:solidFill>
                <a:latin typeface="Aptos"/>
              </a:defRPr>
            </a:pPr>
            <a:r>
              <a:t>LEVEL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domanda sul metodo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“cosa sapete davvero?”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3776472"/>
            <a:ext cx="73152" cy="138988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D97706"/>
                </a:solidFill>
                <a:latin typeface="Aptos"/>
              </a:defRPr>
            </a:pPr>
            <a:r>
              <a:t>LEVEL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indizio sull’area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“confrontate i due utenti”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9632" y="3776472"/>
            <a:ext cx="5294376" cy="1389888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776472"/>
            <a:ext cx="73152" cy="1389888"/>
          </a:xfrm>
          <a:prstGeom prst="rect">
            <a:avLst/>
          </a:prstGeom>
          <a:solidFill>
            <a:srgbClr val="6D28D9"/>
          </a:solidFill>
          <a:ln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41063"/>
            <a:ext cx="492861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6D28D9"/>
                </a:solidFill>
                <a:latin typeface="Aptos"/>
              </a:defRPr>
            </a:pPr>
            <a:r>
              <a:t>LEVEL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370832"/>
            <a:ext cx="4928616" cy="6766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passaggio guidato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solo se siamo bloccati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Meglio un finding forte di cinque alert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La qualità del report riflette la qualità del processo.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194560"/>
            <a:ext cx="73152" cy="34290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FINDING FORTE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evidenza minima e riproducibile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impatto coerente con la prova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remediation di causa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scope chiaro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2194560"/>
            <a:ext cx="5074920" cy="34290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55080" y="2194560"/>
            <a:ext cx="73152" cy="342900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56248" y="2359152"/>
            <a:ext cx="47091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ALERT DEBOLE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761488"/>
            <a:ext cx="4690872" cy="2715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copiato dallo scanner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prerequisiti non verificati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impatto ipotizzato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nessuna decisione umana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7024" y="3520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800" b="1">
                <a:solidFill>
                  <a:srgbClr val="64748B"/>
                </a:solidFill>
                <a:latin typeface="Aptos"/>
              </a:defRPr>
            </a:pPr>
            <a:r>
              <a:t>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Evidence review prima del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Queste categorie ci proteggono dagli overclaim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148840"/>
            <a:ext cx="4063364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04288"/>
            <a:ext cx="38804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Categoria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49165" y="2148840"/>
            <a:ext cx="6772275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0604" y="2304288"/>
            <a:ext cx="65893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Cosa ci finisce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97480"/>
            <a:ext cx="406336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34640"/>
            <a:ext cx="3880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CONFIRMED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9165" y="2697480"/>
            <a:ext cx="6772275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0604" y="2834640"/>
            <a:ext cx="6589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evidenza sufficiente e riproducibile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3319272"/>
            <a:ext cx="406336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456432"/>
            <a:ext cx="3880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OBSERVED / NOT VALIDATED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49165" y="3319272"/>
            <a:ext cx="6772275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0604" y="3456432"/>
            <a:ext cx="6589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segnale reale, conclusione non verificata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941064"/>
            <a:ext cx="4063364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78224"/>
            <a:ext cx="3880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OUT OF SCOPE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49165" y="3941064"/>
            <a:ext cx="6772275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0604" y="4078224"/>
            <a:ext cx="6589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scoperto ma non testato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4562856"/>
            <a:ext cx="4063364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700016"/>
            <a:ext cx="38804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NOT DEMONSTRATED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49165" y="4562856"/>
            <a:ext cx="6772275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0604" y="4700016"/>
            <a:ext cx="65893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impatto non provato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517904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3350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LABORATORIO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Adesso lavoriamo — UmbraMarket Mini 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Adesso usiamo il metodo sul dossier.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48840"/>
            <a:ext cx="365760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2395728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464308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SCENARIO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31546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111827"/>
                </a:solidFill>
                <a:latin typeface="Aptos"/>
              </a:defRPr>
            </a:pPr>
            <a:r>
              <a:t>Riceviamo il dossier a rilascio progressivo. Non apriamo tutto subito: ogni artefatto deve rispondere a una domanda.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81728" y="2148840"/>
            <a:ext cx="3794760" cy="310896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81728" y="2148840"/>
            <a:ext cx="73152" cy="3108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6" y="2313432"/>
            <a:ext cx="342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FACCIAMO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82896" y="2715768"/>
            <a:ext cx="3410712" cy="2395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costruiamo la surface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scegliamo una pista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validiamo almeno un problema</a:t>
            </a:r>
          </a:p>
          <a:p>
            <a:pPr>
              <a:spcAft>
                <a:spcPts val="400"/>
              </a:spcAft>
              <a:defRPr sz="1300" b="0">
                <a:solidFill>
                  <a:srgbClr val="111827"/>
                </a:solidFill>
                <a:latin typeface="Aptos"/>
              </a:defRPr>
            </a:pPr>
            <a:r>
              <a:t>• prepariamo il finding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2148840"/>
            <a:ext cx="2697480" cy="3108960"/>
          </a:xfrm>
          <a:prstGeom prst="roundRect">
            <a:avLst/>
          </a:prstGeom>
          <a:solidFill>
            <a:srgbClr val="FFFB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006840" y="2395728"/>
            <a:ext cx="1572768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280" y="2464308"/>
            <a:ext cx="13898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COSA CONSEGNIAMO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880360"/>
            <a:ext cx="217627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Attack Surface + Notes + Finding + Evidence Pack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5984" y="4663440"/>
            <a:ext cx="2176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50" b="1">
                <a:solidFill>
                  <a:srgbClr val="D97706"/>
                </a:solidFill>
                <a:latin typeface="Aptos"/>
              </a:defRPr>
            </a:pPr>
            <a:r>
              <a:t>→ apriamo il sito / dossier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4173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Checkpoint metà sessione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Se dovessimo fermarci adesso, cosa potremmo già sostenere nel report?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Questa domanda ci dice se le nostre note stanno funzionando.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4173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CHECKPOINT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1143000"/>
            <a:ext cx="9966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3400" b="1">
                <a:solidFill>
                  <a:srgbClr val="111827"/>
                </a:solidFill>
                <a:latin typeface="Aptos"/>
              </a:defRPr>
            </a:pPr>
            <a:r>
              <a:t>Checkpoint finale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34640"/>
            <a:ext cx="8595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0">
                <a:solidFill>
                  <a:srgbClr val="374151"/>
                </a:solidFill>
                <a:latin typeface="Aptos"/>
              </a:defRPr>
            </a:pPr>
            <a:r>
              <a:t>Quale finding possiamo difendere davanti al cliente senza aggiungere una sola parola non dimostrata?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10515600" cy="109728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6168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600" b="1">
                <a:solidFill>
                  <a:srgbClr val="086F78"/>
                </a:solidFill>
                <a:latin typeface="Aptos"/>
              </a:defRPr>
            </a:pPr>
            <a:r>
              <a:t>Quello è il nostro risultato.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31673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1338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CHIUDIAMO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Prima di andare via, dobbiamo riuscire a…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Ci interessa il perché delle decisioni, non il numero di tool.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148840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2276856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086F7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67712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gestire un assessment partendo da informazioni incomplete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862072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990088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2563EB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980944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prioritizzare i test in base al valore informativo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575304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03320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D97706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694176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validare almeno un finding con una stop condition chiara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288536"/>
            <a:ext cx="10058400" cy="57607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416552"/>
            <a:ext cx="320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6D28D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4407408"/>
            <a:ext cx="9052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450" b="1">
                <a:solidFill>
                  <a:srgbClr val="111827"/>
                </a:solidFill>
                <a:latin typeface="Aptos"/>
              </a:defRPr>
            </a:pPr>
            <a:r>
              <a:t>trasformare note ed evidenze in un risultato professionale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819656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PROSSIMA TAPPA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4748B"/>
                </a:solidFill>
                <a:latin typeface="Aptos"/>
              </a:defRPr>
            </a:pPr>
            <a:r>
              <a:t>LA DOMANDA CHE CI PORTIAMO DIETRO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1014984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900" b="1">
                <a:solidFill>
                  <a:srgbClr val="111827"/>
                </a:solidFill>
                <a:latin typeface="Aptos"/>
              </a:defRPr>
            </a:pPr>
            <a:r>
              <a:t>Riusciamo a spiegare il rischio a qualcuno che non ha visto nessuno dei nostri test?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1046988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4471416"/>
            <a:ext cx="1005840" cy="329184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39996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DAY 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12848" y="4407408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2563EB"/>
                </a:solidFill>
                <a:latin typeface="Aptos"/>
              </a:defRPr>
            </a:pPr>
            <a:r>
              <a:t>Giornata 8 — Report &amp; Client Presentation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Quando ci accorgiamo che stiamo perdendo tempo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Saper abbandonare una pista è una competenza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148840"/>
            <a:ext cx="73152" cy="1600200"/>
          </a:xfrm>
          <a:prstGeom prst="rect">
            <a:avLst/>
          </a:prstGeom>
          <a:solidFill>
            <a:srgbClr val="086F78"/>
          </a:solidFill>
          <a:ln>
            <a:solidFill>
              <a:srgbClr val="086F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086F78"/>
                </a:solidFill>
                <a:latin typeface="Aptos"/>
              </a:defRPr>
            </a:pPr>
            <a:r>
              <a:t>NO SIGNAL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3 test coerenti senza nuova informazione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cambiamo ipotesi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8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61688" y="2148840"/>
            <a:ext cx="73152" cy="1600200"/>
          </a:xfrm>
          <a:prstGeom prst="rect">
            <a:avLst/>
          </a:prstGeom>
          <a:solidFill>
            <a:srgbClr val="BE185D"/>
          </a:solidFill>
          <a:ln>
            <a:solidFill>
              <a:srgbClr val="BE18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2855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BE185D"/>
                </a:solidFill>
                <a:latin typeface="Aptos"/>
              </a:defRPr>
            </a:pPr>
            <a:r>
              <a:t>OUT OF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5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la pista esce dal perimetro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annotiamo e basta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5" y="2148840"/>
            <a:ext cx="3456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37575" y="2148840"/>
            <a:ext cx="73152" cy="1600200"/>
          </a:xfrm>
          <a:prstGeom prst="rect">
            <a:avLst/>
          </a:prstGeom>
          <a:solidFill>
            <a:srgbClr val="15803D"/>
          </a:solidFill>
          <a:ln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2313432"/>
            <a:ext cx="309067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650" b="1">
                <a:solidFill>
                  <a:srgbClr val="15803D"/>
                </a:solidFill>
                <a:latin typeface="Aptos"/>
              </a:defRPr>
            </a:pPr>
            <a:r>
              <a:t>ENOUGH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2743200"/>
            <a:ext cx="3090672" cy="8869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abbiamo già la prova minima</a:t>
            </a:r>
          </a:p>
          <a:p>
            <a:pPr>
              <a:spcAft>
                <a:spcPts val="400"/>
              </a:spcAft>
              <a:defRPr sz="1250" b="0">
                <a:solidFill>
                  <a:srgbClr val="111827"/>
                </a:solidFill>
                <a:latin typeface="Aptos"/>
              </a:defRPr>
            </a:pPr>
            <a:r>
              <a:t>• passiamo al report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384048"/>
            <a:ext cx="91440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52628"/>
            <a:ext cx="731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086F78"/>
                </a:solidFill>
                <a:latin typeface="Aptos"/>
              </a:defRPr>
            </a:pPr>
            <a:r>
              <a:t>DAY 07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00200" y="384048"/>
            <a:ext cx="96012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91640" y="45262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2563EB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384048"/>
            <a:ext cx="1920240" cy="329184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526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6D28D9"/>
                </a:solidFill>
                <a:latin typeface="Aptos"/>
              </a:defRPr>
            </a:pPr>
            <a:r>
              <a:t>APPROFONDIMENTO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46920" y="384048"/>
            <a:ext cx="1965960" cy="329184"/>
          </a:xfrm>
          <a:prstGeom prst="roundRect">
            <a:avLst/>
          </a:prstGeom>
          <a:solidFill>
            <a:srgbClr val="FFF7ED"/>
          </a:solidFill>
          <a:ln>
            <a:solidFill>
              <a:srgbClr val="FFF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38360" y="452628"/>
            <a:ext cx="1783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050" b="1">
                <a:solidFill>
                  <a:srgbClr val="D97706"/>
                </a:solidFill>
                <a:latin typeface="Aptos"/>
              </a:defRPr>
            </a:pPr>
            <a:r>
              <a:t>APPROFONDIMENTO · SE 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9601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2800" b="1">
                <a:solidFill>
                  <a:srgbClr val="111827"/>
                </a:solidFill>
                <a:latin typeface="Aptos"/>
              </a:defRPr>
            </a:pPr>
            <a:r>
              <a:t>Budget mentale del capstone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572768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350" b="0">
                <a:solidFill>
                  <a:srgbClr val="64748B"/>
                </a:solidFill>
                <a:latin typeface="Aptos"/>
              </a:defRPr>
            </a:pPr>
            <a:r>
              <a:t>Il timebox ci obbliga a scegliere: è parte dell’esercizio.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148840"/>
            <a:ext cx="5417820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04288"/>
            <a:ext cx="52349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Blocco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03620" y="2148840"/>
            <a:ext cx="5417820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5059" y="2304288"/>
            <a:ext cx="52349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defRPr sz="1150" b="1">
                <a:solidFill>
                  <a:srgbClr val="FFFFFF"/>
                </a:solidFill>
                <a:latin typeface="Aptos"/>
              </a:defRPr>
            </a:pPr>
            <a:r>
              <a:t>Domanda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97480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Primi 30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03620" y="2697480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5059" y="2834640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abbiamo scope, asset e priorità chiare?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319272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456432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Blocco centrale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03620" y="3319272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5059" y="3456432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stiamo raccogliendo nuova evidenza o solo rumore?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941064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078224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Ultimi 45 min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3620" y="3941064"/>
            <a:ext cx="5417820" cy="621792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5059" y="4078224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abbiamo già almeno un finding difendibile?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562856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700016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Chiusura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03620" y="4562856"/>
            <a:ext cx="5417820" cy="62179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95059" y="4700016"/>
            <a:ext cx="52349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1140" b="0">
                <a:solidFill>
                  <a:srgbClr val="111827"/>
                </a:solidFill>
                <a:latin typeface="Aptos"/>
              </a:defRPr>
            </a:pPr>
            <a:r>
              <a:t>cosa possiamo sostenere senza aggiungere nulla?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6236208"/>
            <a:ext cx="11018520" cy="10972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630936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defRPr sz="950" b="0">
                <a:solidFill>
                  <a:srgbClr val="64748B"/>
                </a:solidFill>
                <a:latin typeface="Aptos"/>
              </a:defRPr>
            </a:pPr>
            <a:r>
              <a:t>ITS Umbria · Vulnerability Assessment &amp; Penetration Testing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82528" y="6281928"/>
            <a:ext cx="411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defRPr sz="1000" b="1">
                <a:solidFill>
                  <a:srgbClr val="086F78"/>
                </a:solidFill>
                <a:latin typeface="Aptos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